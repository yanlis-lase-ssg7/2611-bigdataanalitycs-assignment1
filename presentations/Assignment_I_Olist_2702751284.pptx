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D"/>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00A3F7-9C9B-4365-BF1C-04E274B9F51D}" type="datetimeFigureOut">
              <a:rPr lang="en-ID" smtClean="0"/>
              <a:t>28/09/2026</a:t>
            </a:fld>
            <a:endParaRPr lang="en-ID"/>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D"/>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D"/>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890F9F-22B3-49BC-BB75-1A03D2176C3A}" type="slidenum">
              <a:rPr lang="en-ID" smtClean="0"/>
              <a:t>‹#›</a:t>
            </a:fld>
            <a:endParaRPr lang="en-ID"/>
          </a:p>
        </p:txBody>
      </p:sp>
    </p:spTree>
    <p:extLst>
      <p:ext uri="{BB962C8B-B14F-4D97-AF65-F5344CB8AC3E}">
        <p14:creationId xmlns:p14="http://schemas.microsoft.com/office/powerpoint/2010/main" val="3318161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Halo, saya Yanlis Alim Sang Putra Lase. Di presentasi ini, saya membahas proyek analitik keterlambatan pengiriman Olist.
Fokusnya adalah memahami masalah bisnis, menyiapkan data yang bisa dipercaya, lalu merancang analisis yang sesuai. Saya juga akan menjelaskan teknologi yang saya gunakan dan hasil pemeriksaan proyek yang sudah saya jalankan.</a:t>
            </a:r>
          </a:p>
          <a:p>
            <a:endParaRPr lang="en-ID"/>
          </a:p>
          <a:p>
            <a:r>
              <a:rPr lang="en-ID"/>
              <a:t>------------------------------</a:t>
            </a:r>
          </a:p>
          <a:p>
            <a:r>
              <a:rPr lang="en-ID"/>
              <a:t>Referensi (tidak perlu dibacakan):</a:t>
            </a:r>
          </a:p>
          <a:p>
            <a:r>
              <a:rPr lang="en-ID"/>
              <a:t>COMP8035041, Assignment I. Dataset Olist 2016–2018.</a:t>
            </a:r>
          </a:p>
          <a:p>
            <a:endParaRPr lang="en-ID"/>
          </a:p>
          <a:p>
            <a:r>
              <a:rPr lang="en-ID"/>
              <a:t>Target waktu: 00:00–00:20</a:t>
            </a:r>
          </a:p>
        </p:txBody>
      </p:sp>
      <p:sp>
        <p:nvSpPr>
          <p:cNvPr id="4" name="Slide Number Placeholder 3"/>
          <p:cNvSpPr>
            <a:spLocks noGrp="1"/>
          </p:cNvSpPr>
          <p:nvPr>
            <p:ph type="sldNum" sz="quarter" idx="5"/>
          </p:nvPr>
        </p:nvSpPr>
        <p:spPr/>
        <p:txBody>
          <a:bodyPr/>
          <a:lstStyle/>
          <a:p>
            <a:fld id="{11890F9F-22B3-49BC-BB75-1A03D2176C3A}" type="slidenum">
              <a:rPr lang="en-ID" smtClean="0"/>
              <a:t>1</a:t>
            </a:fld>
            <a:endParaRPr lang="en-ID"/>
          </a:p>
        </p:txBody>
      </p:sp>
    </p:spTree>
    <p:extLst>
      <p:ext uri="{BB962C8B-B14F-4D97-AF65-F5344CB8AC3E}">
        <p14:creationId xmlns:p14="http://schemas.microsoft.com/office/powerpoint/2010/main" val="31531797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Olist adalah dataset transaksi e-commerce Brasil. Datanya tersebar di sembilan tabel, mulai dari order, customer, seller, sampai item, payment, dan review.
Masalah yang saya angkat adalah keterlambatan pengiriman. Dari 96.470 order yang tanggal labelnya valid, 7.826 terlambat, atau sekitar 8,11 persen.
Saya membandingkan waktu penerimaan aktual dengan waktu estimasi. Rata-rata review kelompok tepat waktu sekitar 4,29, sedangkan kelompok terlambat sekitar 2,57.
Jadi, ada hubungan yang perlu diperhatikan. Namun, angka ini belum membuktikan bahwa keterlambatan adalah satu-satunya penyebab review rendah.
Itulah alasan saya mulai dari baseline dan kualitas data sebelum membahas tindakan operasional.</a:t>
            </a:r>
          </a:p>
          <a:p>
            <a:endParaRPr lang="en-ID"/>
          </a:p>
          <a:p>
            <a:r>
              <a:rPr lang="en-ID"/>
              <a:t>------------------------------</a:t>
            </a:r>
          </a:p>
          <a:p>
            <a:r>
              <a:rPr lang="en-ID"/>
              <a:t>Referensi (tidak perlu dibacakan):</a:t>
            </a:r>
          </a:p>
          <a:p>
            <a:r>
              <a:rPr lang="en-ID"/>
              <a:t>Laporan Bab 1; outputs_ml_graph/feature_preparation_audit.json; notebook 02 untuk review per order.</a:t>
            </a:r>
          </a:p>
          <a:p>
            <a:endParaRPr lang="en-ID"/>
          </a:p>
          <a:p>
            <a:r>
              <a:rPr lang="en-ID"/>
              <a:t>Target waktu: 00:20–01:10</a:t>
            </a:r>
          </a:p>
        </p:txBody>
      </p:sp>
      <p:sp>
        <p:nvSpPr>
          <p:cNvPr id="4" name="Slide Number Placeholder 3"/>
          <p:cNvSpPr>
            <a:spLocks noGrp="1"/>
          </p:cNvSpPr>
          <p:nvPr>
            <p:ph type="sldNum" sz="quarter" idx="5"/>
          </p:nvPr>
        </p:nvSpPr>
        <p:spPr/>
        <p:txBody>
          <a:bodyPr/>
          <a:lstStyle/>
          <a:p>
            <a:fld id="{11890F9F-22B3-49BC-BB75-1A03D2176C3A}" type="slidenum">
              <a:rPr lang="en-ID" smtClean="0"/>
              <a:t>2</a:t>
            </a:fld>
            <a:endParaRPr lang="en-ID"/>
          </a:p>
        </p:txBody>
      </p:sp>
    </p:spTree>
    <p:extLst>
      <p:ext uri="{BB962C8B-B14F-4D97-AF65-F5344CB8AC3E}">
        <p14:creationId xmlns:p14="http://schemas.microsoft.com/office/powerpoint/2010/main" val="15073449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Yang ingin saya selesaikan adalah bagaimana mengubah data transaksi yang terpisah menjadi informasi yang bisa dipakai untuk meninjau risiko keterlambatan. Ada dua tujuan utama: menyiapkan pipeline yang konsisten dan membantu menentukan prioritas investigasi.
Tim Logistics dapat melihat rute yang perlu diperiksa. Merchant Performance dapat meninjau order berisiko setelah approval.
Manajemen dapat memantau hasil agregat. Untuk Assignment I, pekerjaan utamanya adalah rancangan solusi dan persiapan data.
Model dan graf saya gunakan sebagai eksplorasi awal. Jadi, saya belum mengatakan keterlambatan sudah turun atau biaya sudah hemat.
Dampak itu baru bisa diukur setelah ada intervensi.</a:t>
            </a:r>
          </a:p>
          <a:p>
            <a:endParaRPr lang="en-ID"/>
          </a:p>
          <a:p>
            <a:r>
              <a:rPr lang="en-ID"/>
              <a:t>------------------------------</a:t>
            </a:r>
          </a:p>
          <a:p>
            <a:r>
              <a:rPr lang="en-ID"/>
              <a:t>Referensi (tidak perlu dibacakan):</a:t>
            </a:r>
          </a:p>
          <a:p>
            <a:r>
              <a:rPr lang="en-ID"/>
              <a:t>Laporan Bab 1 dan 2; lingkup Assignment I pada instruksi tugas lokal.</a:t>
            </a:r>
          </a:p>
          <a:p>
            <a:endParaRPr lang="en-ID"/>
          </a:p>
          <a:p>
            <a:r>
              <a:rPr lang="en-ID"/>
              <a:t>Target waktu: 01:10–01:55</a:t>
            </a:r>
          </a:p>
        </p:txBody>
      </p:sp>
      <p:sp>
        <p:nvSpPr>
          <p:cNvPr id="4" name="Slide Number Placeholder 3"/>
          <p:cNvSpPr>
            <a:spLocks noGrp="1"/>
          </p:cNvSpPr>
          <p:nvPr>
            <p:ph type="sldNum" sz="quarter" idx="5"/>
          </p:nvPr>
        </p:nvSpPr>
        <p:spPr/>
        <p:txBody>
          <a:bodyPr/>
          <a:lstStyle/>
          <a:p>
            <a:fld id="{11890F9F-22B3-49BC-BB75-1A03D2176C3A}" type="slidenum">
              <a:rPr lang="en-ID" smtClean="0"/>
              <a:t>3</a:t>
            </a:fld>
            <a:endParaRPr lang="en-ID"/>
          </a:p>
        </p:txBody>
      </p:sp>
    </p:spTree>
    <p:extLst>
      <p:ext uri="{BB962C8B-B14F-4D97-AF65-F5344CB8AC3E}">
        <p14:creationId xmlns:p14="http://schemas.microsoft.com/office/powerpoint/2010/main" val="21252881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Masalah ini juga relevan dengan konteks e-commerce yang lebih luas. Dalam survei DHL tahun 2026, dua puluh persen pembeli menyatakan pengiriman lebih cepat dapat mendorong penyelesaian pembelian.
OECD juga membahas peran ulasan dan rating dalam membangun kepercayaan pada platform. Saya memakai sumber ini untuk menjelaskan relevansi masalah, bukan untuk menyimpulkan perilaku pelanggan Olist.
Survei global tahun 2026 berbeda dari transaksi Olist tahun 2016 sampai 2018. Karena itu, keputusan analitik dalam proyek ini tetap berangkat dari baseline Olist yang saya hitung.</a:t>
            </a:r>
          </a:p>
          <a:p>
            <a:endParaRPr lang="en-ID"/>
          </a:p>
          <a:p>
            <a:r>
              <a:rPr lang="en-ID"/>
              <a:t>------------------------------</a:t>
            </a:r>
          </a:p>
          <a:p>
            <a:r>
              <a:rPr lang="en-ID"/>
              <a:t>Referensi (tidak perlu dibacakan):</a:t>
            </a:r>
          </a:p>
          <a:p>
            <a:r>
              <a:rPr lang="en-ID"/>
              <a:t>DHL Group (2026): https://group.dhl.com/en/media-relations/press-releases/2026/dhl-ecommerce-trends-report-2026-old-rules-do-not-apply-in-the-age-of-ai.html
OECD (2019): https://doi.org/10.1787/23561431-en</a:t>
            </a:r>
          </a:p>
          <a:p>
            <a:endParaRPr lang="en-ID"/>
          </a:p>
          <a:p>
            <a:r>
              <a:rPr lang="en-ID"/>
              <a:t>Target waktu: 01:55–02:30</a:t>
            </a:r>
          </a:p>
        </p:txBody>
      </p:sp>
      <p:sp>
        <p:nvSpPr>
          <p:cNvPr id="4" name="Slide Number Placeholder 3"/>
          <p:cNvSpPr>
            <a:spLocks noGrp="1"/>
          </p:cNvSpPr>
          <p:nvPr>
            <p:ph type="sldNum" sz="quarter" idx="5"/>
          </p:nvPr>
        </p:nvSpPr>
        <p:spPr/>
        <p:txBody>
          <a:bodyPr/>
          <a:lstStyle/>
          <a:p>
            <a:fld id="{11890F9F-22B3-49BC-BB75-1A03D2176C3A}" type="slidenum">
              <a:rPr lang="en-ID" smtClean="0"/>
              <a:t>4</a:t>
            </a:fld>
            <a:endParaRPr lang="en-ID"/>
          </a:p>
        </p:txBody>
      </p:sp>
    </p:spTree>
    <p:extLst>
      <p:ext uri="{BB962C8B-B14F-4D97-AF65-F5344CB8AC3E}">
        <p14:creationId xmlns:p14="http://schemas.microsoft.com/office/powerpoint/2010/main" val="25737016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Untuk pengembangannya, saya memakai Python 3.11, VS Code, dan Jupyter Notebook. Python menjadi bahasa utama, VS Code sebagai editor, dan notebook membantu saya menjelaskan proses sekaligus menyimpan output tiap langkah.
Pengolahan tabel memakai PySpark 4.0.4, dengan Java 17 sebagai runtime Spark. Saya memilih Spark untuk belajar dan menyatukan transformasi serta MLlib dalam satu framework.
Dengan data sekitar 120 MiB, pandas sebenarnya masih layak. Jadi, ini bukan klaim bahwa dataset kecil harus memakai cluster.
Parquet dengan Snappy menyimpan tabel bertipe secara lebih ringkas. MLlib menyediakan Random Forest untuk eksplorasi prediksi.
NumPy dan SciPy membantu perhitungan numerik untuk evaluasi. Untuk graf, saya memakai pandas dan NetworkX karena jaringan state masih kecil dan bisa dianalisis dalam memori.
Terakhir, Git dan GitHub menyimpan kode, laporan, serta ringkasan hasil supaya pekerjaan dapat dilanjutkan lintas perangkat. Raw data dan runtime tetap lokal.</a:t>
            </a:r>
          </a:p>
          <a:p>
            <a:endParaRPr lang="en-ID"/>
          </a:p>
          <a:p>
            <a:r>
              <a:rPr lang="en-ID"/>
              <a:t>------------------------------</a:t>
            </a:r>
          </a:p>
          <a:p>
            <a:r>
              <a:rPr lang="en-ID"/>
              <a:t>Referensi (tidak perlu dibacakan):</a:t>
            </a:r>
          </a:p>
          <a:p>
            <a:r>
              <a:rPr lang="en-ID"/>
              <a:t>requirements.txt; notebooks/README.md; docs/runtime-prerequisites.md; laporan bagian 2.4.</a:t>
            </a:r>
          </a:p>
          <a:p>
            <a:endParaRPr lang="en-ID"/>
          </a:p>
          <a:p>
            <a:r>
              <a:rPr lang="en-ID"/>
              <a:t>Target waktu: 02:30–03:40</a:t>
            </a:r>
          </a:p>
        </p:txBody>
      </p:sp>
      <p:sp>
        <p:nvSpPr>
          <p:cNvPr id="4" name="Slide Number Placeholder 3"/>
          <p:cNvSpPr>
            <a:spLocks noGrp="1"/>
          </p:cNvSpPr>
          <p:nvPr>
            <p:ph type="sldNum" sz="quarter" idx="5"/>
          </p:nvPr>
        </p:nvSpPr>
        <p:spPr/>
        <p:txBody>
          <a:bodyPr/>
          <a:lstStyle/>
          <a:p>
            <a:fld id="{11890F9F-22B3-49BC-BB75-1A03D2176C3A}" type="slidenum">
              <a:rPr lang="en-ID" smtClean="0"/>
              <a:t>5</a:t>
            </a:fld>
            <a:endParaRPr lang="en-ID"/>
          </a:p>
        </p:txBody>
      </p:sp>
    </p:spTree>
    <p:extLst>
      <p:ext uri="{BB962C8B-B14F-4D97-AF65-F5344CB8AC3E}">
        <p14:creationId xmlns:p14="http://schemas.microsoft.com/office/powerpoint/2010/main" val="25302656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Pipeline saya terdiri dari tiga notebook yang dijalankan berurutan. Notebook pertama membaca sembilan CSV, memvalidasi data, lalu menulis Parquet.
Notebook kedua menyusun fitur per order dan melakukan eksplorasi model. Detail item dan payment diagregasi lebih dulu supaya join tidak menggandakan nilai.
Notebook ketiga membentuk graf asal seller dan tujuan customer. Untuk fitur, grain atau unit tiap baris adalah satu order karena label delay juga berada pada order.
Parquet sudah diimplementasikan, sedangkan warehouse masih berupa rancangan dimensional. NetworkX juga belum menjadi graph database fisik.
NoSQL dan dashboard masih rencana, dan baru perlu ditambahkan jika kebutuhan pengguna mendukungnya.</a:t>
            </a:r>
          </a:p>
          <a:p>
            <a:endParaRPr lang="en-ID"/>
          </a:p>
          <a:p>
            <a:r>
              <a:rPr lang="en-ID"/>
              <a:t>------------------------------</a:t>
            </a:r>
          </a:p>
          <a:p>
            <a:r>
              <a:rPr lang="en-ID"/>
              <a:t>Referensi (tidak perlu dibacakan):</a:t>
            </a:r>
          </a:p>
          <a:p>
            <a:r>
              <a:rPr lang="en-ID"/>
              <a:t>notebooks/01_Ingestion_and_Parquet_Conversion.ipynb; notebook 02/03; laporan Bab 2 dan 4.</a:t>
            </a:r>
          </a:p>
          <a:p>
            <a:endParaRPr lang="en-ID"/>
          </a:p>
          <a:p>
            <a:r>
              <a:rPr lang="en-ID"/>
              <a:t>Target waktu: 03:40–04:40</a:t>
            </a:r>
          </a:p>
        </p:txBody>
      </p:sp>
      <p:sp>
        <p:nvSpPr>
          <p:cNvPr id="4" name="Slide Number Placeholder 3"/>
          <p:cNvSpPr>
            <a:spLocks noGrp="1"/>
          </p:cNvSpPr>
          <p:nvPr>
            <p:ph type="sldNum" sz="quarter" idx="5"/>
          </p:nvPr>
        </p:nvSpPr>
        <p:spPr/>
        <p:txBody>
          <a:bodyPr/>
          <a:lstStyle/>
          <a:p>
            <a:fld id="{11890F9F-22B3-49BC-BB75-1A03D2176C3A}" type="slidenum">
              <a:rPr lang="en-ID" smtClean="0"/>
              <a:t>6</a:t>
            </a:fld>
            <a:endParaRPr lang="en-ID"/>
          </a:p>
        </p:txBody>
      </p:sp>
    </p:spTree>
    <p:extLst>
      <p:ext uri="{BB962C8B-B14F-4D97-AF65-F5344CB8AC3E}">
        <p14:creationId xmlns:p14="http://schemas.microsoft.com/office/powerpoint/2010/main" val="1356152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Pada bagian ingestion, pemeriksaan demo yang saya jalankan menghasilkan PASS untuk sembilan tabel. Status round-trip pada ringkasan semuanya benar.
Total ukuran CSV sekitar 120,341 MiB, sedangkan Parquet sekitar 54,236 MiB. Jadi, penghematan storage keseluruhannya 54,93 persen.
Ini ukuran penyimpanan, belum bukti proses kueri lebih cepat. Saya tetap mempertahankan raw untuk audit.
Data juga diperiksa dari sisi tipe, ID dan key, jumlah baris, serta profil nilai kosong. Teks review yang kosong dan duplikasi geolocation saya profilkan, bukan langsung hapus dari raw.
Demo ini memeriksa ringkasan hasil tersimpan. Validasi pembacaan dan konversi penuh sudah dilakukan sebelumnya melalui notebook pertama.</a:t>
            </a:r>
          </a:p>
          <a:p>
            <a:endParaRPr lang="en-ID"/>
          </a:p>
          <a:p>
            <a:r>
              <a:rPr lang="en-ID"/>
              <a:t>------------------------------</a:t>
            </a:r>
          </a:p>
          <a:p>
            <a:r>
              <a:rPr lang="en-ID"/>
              <a:t>Referensi (tidak perlu dibacakan):</a:t>
            </a:r>
          </a:p>
          <a:p>
            <a:r>
              <a:rPr lang="en-ID"/>
              <a:t>Hasil demo pengguna, bagian ingestion; outputs_ml_graph/ingestion_summary_report.csv dan ingestion_null_profile.json.</a:t>
            </a:r>
          </a:p>
          <a:p>
            <a:endParaRPr lang="en-ID"/>
          </a:p>
          <a:p>
            <a:r>
              <a:rPr lang="en-ID"/>
              <a:t>Target waktu: 04:40–05:40</a:t>
            </a:r>
          </a:p>
        </p:txBody>
      </p:sp>
      <p:sp>
        <p:nvSpPr>
          <p:cNvPr id="4" name="Slide Number Placeholder 3"/>
          <p:cNvSpPr>
            <a:spLocks noGrp="1"/>
          </p:cNvSpPr>
          <p:nvPr>
            <p:ph type="sldNum" sz="quarter" idx="5"/>
          </p:nvPr>
        </p:nvSpPr>
        <p:spPr/>
        <p:txBody>
          <a:bodyPr/>
          <a:lstStyle/>
          <a:p>
            <a:fld id="{11890F9F-22B3-49BC-BB75-1A03D2176C3A}" type="slidenum">
              <a:rPr lang="en-ID" smtClean="0"/>
              <a:t>7</a:t>
            </a:fld>
            <a:endParaRPr lang="en-ID"/>
          </a:p>
        </p:txBody>
      </p:sp>
    </p:spTree>
    <p:extLst>
      <p:ext uri="{BB962C8B-B14F-4D97-AF65-F5344CB8AC3E}">
        <p14:creationId xmlns:p14="http://schemas.microsoft.com/office/powerpoint/2010/main" val="6291755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Selain proses analitik, saya juga mempertimbangkan tata kelola. Praktik yang sudah berjalan adalah mempertahankan raw untuk audit dan menyimpan ringkasan agregat serta kode di Git.
Dataset raw, credential, runtime, dan output besar tidak masuk repository. Untuk penggunaan operasional, saya merancang akses sesuai peran, retensi, minimisasi data, dan pemeriksaan informasi pribadi pada teks ulasan.
Penting juga untuk tidak menganggap ID berbentuk hash otomatis anonim. Kontrol operasional ini masih perlu diimplementasikan dan diuji.
Jadi, saya membedakan praktik prototipe yang sudah berjalan dengan rancangan perlindungan data untuk tahap berikutnya.</a:t>
            </a:r>
          </a:p>
          <a:p>
            <a:endParaRPr lang="en-ID"/>
          </a:p>
          <a:p>
            <a:r>
              <a:rPr lang="en-ID"/>
              <a:t>------------------------------</a:t>
            </a:r>
          </a:p>
          <a:p>
            <a:r>
              <a:rPr lang="en-ID"/>
              <a:t>Referensi (tidak perlu dibacakan):</a:t>
            </a:r>
          </a:p>
          <a:p>
            <a:r>
              <a:rPr lang="en-ID"/>
              <a:t>Laporan Bab 3; .gitignore. Rujukan hukum lengkap terdapat pada laporan.</a:t>
            </a:r>
          </a:p>
          <a:p>
            <a:endParaRPr lang="en-ID"/>
          </a:p>
          <a:p>
            <a:r>
              <a:rPr lang="en-ID"/>
              <a:t>Target waktu: 05:40–06:20</a:t>
            </a:r>
          </a:p>
        </p:txBody>
      </p:sp>
      <p:sp>
        <p:nvSpPr>
          <p:cNvPr id="4" name="Slide Number Placeholder 3"/>
          <p:cNvSpPr>
            <a:spLocks noGrp="1"/>
          </p:cNvSpPr>
          <p:nvPr>
            <p:ph type="sldNum" sz="quarter" idx="5"/>
          </p:nvPr>
        </p:nvSpPr>
        <p:spPr/>
        <p:txBody>
          <a:bodyPr/>
          <a:lstStyle/>
          <a:p>
            <a:fld id="{11890F9F-22B3-49BC-BB75-1A03D2176C3A}" type="slidenum">
              <a:rPr lang="en-ID" smtClean="0"/>
              <a:t>8</a:t>
            </a:fld>
            <a:endParaRPr lang="en-ID"/>
          </a:p>
        </p:txBody>
      </p:sp>
    </p:spTree>
    <p:extLst>
      <p:ext uri="{BB962C8B-B14F-4D97-AF65-F5344CB8AC3E}">
        <p14:creationId xmlns:p14="http://schemas.microsoft.com/office/powerpoint/2010/main" val="34630552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Kelas terlambat jauh lebih sedikit, sehingga accuracy saja bisa menyesatkan. Saya membandingkan Random Forest tanpa bobot dengan model berbobot kelas.
Kandidat dan ambang dipilih berdasarkan F1 pada validation, lalu dievaluasi pada test. Kandidat tanpa bobot menang, dengan ambang sekitar 0,099536 dan F1 validation sekitar 0,2168.
Pada partisi test yang sama, ambang 0,5 menghasilkan recall nol. Setelah ambang diturunkan, recall menjadi 45,41 persen.
Artinya, model menangkap sekitar empat puluh lima persen kasus terlambat dalam test. Tetapi precision hanya 14,47 persen, dan ada 4.186 false positive.
Jadi, banyak peringatan yang belum tepat. Hasil demo PASS karena pilihan kandidat, jumlah populasi, dan metrik yang dihitung ulang dari confusion matrix konsisten.
Untuk saat ini model cocok sebagai sinyal peninjauan, dan belum cukup untuk keputusan otomatis.</a:t>
            </a:r>
          </a:p>
          <a:p>
            <a:endParaRPr lang="en-ID"/>
          </a:p>
          <a:p>
            <a:r>
              <a:rPr lang="en-ID"/>
              <a:t>------------------------------</a:t>
            </a:r>
          </a:p>
          <a:p>
            <a:r>
              <a:rPr lang="en-ID"/>
              <a:t>Referensi (tidak perlu dibacakan):</a:t>
            </a:r>
          </a:p>
          <a:p>
            <a:r>
              <a:rPr lang="en-ID"/>
              <a:t>Hasil demo pengguna, bagian model; model_evaluation_report.json; model_validation_comparison.csv; model_confusion_matrix.csv.</a:t>
            </a:r>
          </a:p>
          <a:p>
            <a:endParaRPr lang="en-ID"/>
          </a:p>
          <a:p>
            <a:r>
              <a:rPr lang="en-ID"/>
              <a:t>Target waktu: 06:20–07:30</a:t>
            </a:r>
          </a:p>
        </p:txBody>
      </p:sp>
      <p:sp>
        <p:nvSpPr>
          <p:cNvPr id="4" name="Slide Number Placeholder 3"/>
          <p:cNvSpPr>
            <a:spLocks noGrp="1"/>
          </p:cNvSpPr>
          <p:nvPr>
            <p:ph type="sldNum" sz="quarter" idx="5"/>
          </p:nvPr>
        </p:nvSpPr>
        <p:spPr/>
        <p:txBody>
          <a:bodyPr/>
          <a:lstStyle/>
          <a:p>
            <a:fld id="{11890F9F-22B3-49BC-BB75-1A03D2176C3A}" type="slidenum">
              <a:rPr lang="en-ID" smtClean="0"/>
              <a:t>9</a:t>
            </a:fld>
            <a:endParaRPr lang="en-ID"/>
          </a:p>
        </p:txBody>
      </p:sp>
    </p:spTree>
    <p:extLst>
      <p:ext uri="{BB962C8B-B14F-4D97-AF65-F5344CB8AC3E}">
        <p14:creationId xmlns:p14="http://schemas.microsoft.com/office/powerpoint/2010/main" val="5192644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Untuk graf, node mewakili state, sedangkan edge mewakili hubungan asal seller dengan tujuan customer. Hasilnya adalah 27 node dan 409 rute.
Demo yang saya jalankan menghasilkan PASS karena jumlah order pada rute sesuai dengan total populasi graf. Delay nasional tetap 8,11 persen.
Salah satu rute yang perlu diprioritaskan adalah SP ke RJ, dengan 8.158 order dan delay 15,49 persen. Nilainya lebih tinggi dari baseline nasional, sehingga layak diinvestigasi.
Namun, graf ini tidak mencatat perjalanan transit paket. Saya belum bisa memakai hasil ini untuk menentukan lokasi hub atau menyatakan penyebab fisik bottleneck.
Analisis lanjutan memerlukan data operasional pengiriman yang lebih rinci.</a:t>
            </a:r>
          </a:p>
          <a:p>
            <a:endParaRPr lang="en-ID"/>
          </a:p>
          <a:p>
            <a:r>
              <a:rPr lang="en-ID"/>
              <a:t>------------------------------</a:t>
            </a:r>
          </a:p>
          <a:p>
            <a:r>
              <a:rPr lang="en-ID"/>
              <a:t>Referensi (tidak perlu dibacakan):</a:t>
            </a:r>
          </a:p>
          <a:p>
            <a:r>
              <a:rPr lang="en-ID"/>
              <a:t>Hasil demo pengguna, bagian graph; graph_preparation_audit.json; seller_customer_routes_report.csv.</a:t>
            </a:r>
          </a:p>
          <a:p>
            <a:endParaRPr lang="en-ID"/>
          </a:p>
          <a:p>
            <a:r>
              <a:rPr lang="en-ID"/>
              <a:t>Target waktu: 07:30–08:25</a:t>
            </a:r>
          </a:p>
        </p:txBody>
      </p:sp>
      <p:sp>
        <p:nvSpPr>
          <p:cNvPr id="4" name="Slide Number Placeholder 3"/>
          <p:cNvSpPr>
            <a:spLocks noGrp="1"/>
          </p:cNvSpPr>
          <p:nvPr>
            <p:ph type="sldNum" sz="quarter" idx="5"/>
          </p:nvPr>
        </p:nvSpPr>
        <p:spPr/>
        <p:txBody>
          <a:bodyPr/>
          <a:lstStyle/>
          <a:p>
            <a:fld id="{11890F9F-22B3-49BC-BB75-1A03D2176C3A}" type="slidenum">
              <a:rPr lang="en-ID" smtClean="0"/>
              <a:t>10</a:t>
            </a:fld>
            <a:endParaRPr lang="en-ID"/>
          </a:p>
        </p:txBody>
      </p:sp>
    </p:spTree>
    <p:extLst>
      <p:ext uri="{BB962C8B-B14F-4D97-AF65-F5344CB8AC3E}">
        <p14:creationId xmlns:p14="http://schemas.microsoft.com/office/powerpoint/2010/main" val="693358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D"/>
              <a:t>Dari hasil tadi, ketiga bagian pemeriksaan demo sudah berhasil. Ingestion konsisten, pemilihan ambang dan evaluasi model cocok, lalu jumlah populasi graf juga sesuai.
Hasil ini saya tampilkan langsung di PowerPoint sebagai hasil pemeriksaan yang sudah dijalankan, bukan eksekusi live saat presentasi. Kesimpulan proyek ini adalah kita sudah mempunyai baseline, pipeline data bertipe, dan rancangan solusi yang dapat diaudit.
Langkah berikutnya adalah menguji model pada periode waktu berbeda, menghitung biaya intervensi, dan menilai kebutuhan dashboard bersama pengguna. Dengan begitu, analisis bisa berkembang menjadi keputusan operasional yang lebih terukur.
Sekian presentasi saya. Terima kasih.</a:t>
            </a:r>
          </a:p>
          <a:p>
            <a:endParaRPr lang="en-ID"/>
          </a:p>
          <a:p>
            <a:r>
              <a:rPr lang="en-ID"/>
              <a:t>------------------------------</a:t>
            </a:r>
          </a:p>
          <a:p>
            <a:r>
              <a:rPr lang="en-ID"/>
              <a:t>Referensi (tidak perlu dibacakan):</a:t>
            </a:r>
          </a:p>
          <a:p>
            <a:r>
              <a:rPr lang="en-ID"/>
              <a:t>Hasil tiga perintah demo yang dibagikan pengguna; demo_assignment1.py; laporan batas implementasi.</a:t>
            </a:r>
          </a:p>
          <a:p>
            <a:endParaRPr lang="en-ID"/>
          </a:p>
          <a:p>
            <a:r>
              <a:rPr lang="en-ID"/>
              <a:t>Target waktu: 08:25–09:10</a:t>
            </a:r>
          </a:p>
        </p:txBody>
      </p:sp>
      <p:sp>
        <p:nvSpPr>
          <p:cNvPr id="4" name="Slide Number Placeholder 3"/>
          <p:cNvSpPr>
            <a:spLocks noGrp="1"/>
          </p:cNvSpPr>
          <p:nvPr>
            <p:ph type="sldNum" sz="quarter" idx="5"/>
          </p:nvPr>
        </p:nvSpPr>
        <p:spPr/>
        <p:txBody>
          <a:bodyPr/>
          <a:lstStyle/>
          <a:p>
            <a:fld id="{11890F9F-22B3-49BC-BB75-1A03D2176C3A}" type="slidenum">
              <a:rPr lang="en-ID" smtClean="0"/>
              <a:t>11</a:t>
            </a:fld>
            <a:endParaRPr lang="en-ID"/>
          </a:p>
        </p:txBody>
      </p:sp>
    </p:spTree>
    <p:extLst>
      <p:ext uri="{BB962C8B-B14F-4D97-AF65-F5344CB8AC3E}">
        <p14:creationId xmlns:p14="http://schemas.microsoft.com/office/powerpoint/2010/main" val="11797757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835AE-FDCC-E110-795E-2B2E6ED3BAF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D"/>
          </a:p>
        </p:txBody>
      </p:sp>
      <p:sp>
        <p:nvSpPr>
          <p:cNvPr id="3" name="Subtitle 2">
            <a:extLst>
              <a:ext uri="{FF2B5EF4-FFF2-40B4-BE49-F238E27FC236}">
                <a16:creationId xmlns:a16="http://schemas.microsoft.com/office/drawing/2014/main" id="{942161E2-A423-1F9B-BB00-D6F2007521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sp>
        <p:nvSpPr>
          <p:cNvPr id="4" name="Date Placeholder 3">
            <a:extLst>
              <a:ext uri="{FF2B5EF4-FFF2-40B4-BE49-F238E27FC236}">
                <a16:creationId xmlns:a16="http://schemas.microsoft.com/office/drawing/2014/main" id="{2067A864-631B-9478-C4CB-EAA812E748C6}"/>
              </a:ext>
            </a:extLst>
          </p:cNvPr>
          <p:cNvSpPr>
            <a:spLocks noGrp="1"/>
          </p:cNvSpPr>
          <p:nvPr>
            <p:ph type="dt" sz="half" idx="10"/>
          </p:nvPr>
        </p:nvSpPr>
        <p:spPr/>
        <p:txBody>
          <a:bodyPr/>
          <a:lstStyle/>
          <a:p>
            <a:fld id="{478BB0F6-D51F-41BE-8A10-01196C97E34B}" type="datetimeFigureOut">
              <a:rPr lang="en-ID" smtClean="0"/>
              <a:t>28/09/2026</a:t>
            </a:fld>
            <a:endParaRPr lang="en-ID"/>
          </a:p>
        </p:txBody>
      </p:sp>
      <p:sp>
        <p:nvSpPr>
          <p:cNvPr id="5" name="Footer Placeholder 4">
            <a:extLst>
              <a:ext uri="{FF2B5EF4-FFF2-40B4-BE49-F238E27FC236}">
                <a16:creationId xmlns:a16="http://schemas.microsoft.com/office/drawing/2014/main" id="{F5045303-6C9D-1698-1B30-9510BB0F080F}"/>
              </a:ext>
            </a:extLst>
          </p:cNvPr>
          <p:cNvSpPr>
            <a:spLocks noGrp="1"/>
          </p:cNvSpPr>
          <p:nvPr>
            <p:ph type="ftr" sz="quarter" idx="11"/>
          </p:nvPr>
        </p:nvSpPr>
        <p:spPr/>
        <p:txBody>
          <a:bodyPr/>
          <a:lstStyle/>
          <a:p>
            <a:endParaRPr lang="en-ID"/>
          </a:p>
        </p:txBody>
      </p:sp>
      <p:sp>
        <p:nvSpPr>
          <p:cNvPr id="6" name="Slide Number Placeholder 5">
            <a:extLst>
              <a:ext uri="{FF2B5EF4-FFF2-40B4-BE49-F238E27FC236}">
                <a16:creationId xmlns:a16="http://schemas.microsoft.com/office/drawing/2014/main" id="{AC6CDC1E-D4C7-B91E-DE8B-AD6B3DE5AC81}"/>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7214198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1B7B33-9B63-D649-6999-8E0DBD64741A}"/>
              </a:ext>
            </a:extLst>
          </p:cNvPr>
          <p:cNvSpPr>
            <a:spLocks noGrp="1"/>
          </p:cNvSpPr>
          <p:nvPr>
            <p:ph type="title"/>
          </p:nvPr>
        </p:nvSpPr>
        <p:spPr/>
        <p:txBody>
          <a:bodyPr/>
          <a:lstStyle/>
          <a:p>
            <a:r>
              <a:rPr lang="en-US"/>
              <a:t>Click to edit Master title style</a:t>
            </a:r>
            <a:endParaRPr lang="en-ID"/>
          </a:p>
        </p:txBody>
      </p:sp>
      <p:sp>
        <p:nvSpPr>
          <p:cNvPr id="3" name="Content Placeholder 2">
            <a:extLst>
              <a:ext uri="{FF2B5EF4-FFF2-40B4-BE49-F238E27FC236}">
                <a16:creationId xmlns:a16="http://schemas.microsoft.com/office/drawing/2014/main" id="{DFCEDE40-981B-C9E4-A493-6E994D6E031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5B403DA6-FFF6-1819-AA04-5172210C1596}"/>
              </a:ext>
            </a:extLst>
          </p:cNvPr>
          <p:cNvSpPr>
            <a:spLocks noGrp="1"/>
          </p:cNvSpPr>
          <p:nvPr>
            <p:ph type="dt" sz="half" idx="10"/>
          </p:nvPr>
        </p:nvSpPr>
        <p:spPr/>
        <p:txBody>
          <a:bodyPr/>
          <a:lstStyle/>
          <a:p>
            <a:fld id="{478BB0F6-D51F-41BE-8A10-01196C97E34B}" type="datetimeFigureOut">
              <a:rPr lang="en-ID" smtClean="0"/>
              <a:t>28/09/2026</a:t>
            </a:fld>
            <a:endParaRPr lang="en-ID"/>
          </a:p>
        </p:txBody>
      </p:sp>
      <p:sp>
        <p:nvSpPr>
          <p:cNvPr id="5" name="Footer Placeholder 4">
            <a:extLst>
              <a:ext uri="{FF2B5EF4-FFF2-40B4-BE49-F238E27FC236}">
                <a16:creationId xmlns:a16="http://schemas.microsoft.com/office/drawing/2014/main" id="{AA8881DD-E3B7-D694-9AA9-D7DD94DC07FF}"/>
              </a:ext>
            </a:extLst>
          </p:cNvPr>
          <p:cNvSpPr>
            <a:spLocks noGrp="1"/>
          </p:cNvSpPr>
          <p:nvPr>
            <p:ph type="ftr" sz="quarter" idx="11"/>
          </p:nvPr>
        </p:nvSpPr>
        <p:spPr/>
        <p:txBody>
          <a:bodyPr/>
          <a:lstStyle/>
          <a:p>
            <a:endParaRPr lang="en-ID"/>
          </a:p>
        </p:txBody>
      </p:sp>
      <p:sp>
        <p:nvSpPr>
          <p:cNvPr id="6" name="Slide Number Placeholder 5">
            <a:extLst>
              <a:ext uri="{FF2B5EF4-FFF2-40B4-BE49-F238E27FC236}">
                <a16:creationId xmlns:a16="http://schemas.microsoft.com/office/drawing/2014/main" id="{1C3B56E4-B633-CA28-CD62-85F43364504F}"/>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13805319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176C75-C1D2-E38E-95F3-E883C9AF975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D"/>
          </a:p>
        </p:txBody>
      </p:sp>
      <p:sp>
        <p:nvSpPr>
          <p:cNvPr id="3" name="Text Placeholder 2">
            <a:extLst>
              <a:ext uri="{FF2B5EF4-FFF2-40B4-BE49-F238E27FC236}">
                <a16:creationId xmlns:a16="http://schemas.microsoft.com/office/drawing/2014/main" id="{7ABCDAB9-1296-C830-9E15-37CDE8BB098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32F4BBF-3F2B-7AD3-D6B6-1B48BB38016D}"/>
              </a:ext>
            </a:extLst>
          </p:cNvPr>
          <p:cNvSpPr>
            <a:spLocks noGrp="1"/>
          </p:cNvSpPr>
          <p:nvPr>
            <p:ph type="dt" sz="half" idx="10"/>
          </p:nvPr>
        </p:nvSpPr>
        <p:spPr/>
        <p:txBody>
          <a:bodyPr/>
          <a:lstStyle/>
          <a:p>
            <a:fld id="{478BB0F6-D51F-41BE-8A10-01196C97E34B}" type="datetimeFigureOut">
              <a:rPr lang="en-ID" smtClean="0"/>
              <a:t>28/09/2026</a:t>
            </a:fld>
            <a:endParaRPr lang="en-ID"/>
          </a:p>
        </p:txBody>
      </p:sp>
      <p:sp>
        <p:nvSpPr>
          <p:cNvPr id="5" name="Footer Placeholder 4">
            <a:extLst>
              <a:ext uri="{FF2B5EF4-FFF2-40B4-BE49-F238E27FC236}">
                <a16:creationId xmlns:a16="http://schemas.microsoft.com/office/drawing/2014/main" id="{6F3CCAEA-2A76-EF4C-8BC3-F77A06B072A2}"/>
              </a:ext>
            </a:extLst>
          </p:cNvPr>
          <p:cNvSpPr>
            <a:spLocks noGrp="1"/>
          </p:cNvSpPr>
          <p:nvPr>
            <p:ph type="ftr" sz="quarter" idx="11"/>
          </p:nvPr>
        </p:nvSpPr>
        <p:spPr/>
        <p:txBody>
          <a:bodyPr/>
          <a:lstStyle/>
          <a:p>
            <a:endParaRPr lang="en-ID"/>
          </a:p>
        </p:txBody>
      </p:sp>
      <p:sp>
        <p:nvSpPr>
          <p:cNvPr id="6" name="Slide Number Placeholder 5">
            <a:extLst>
              <a:ext uri="{FF2B5EF4-FFF2-40B4-BE49-F238E27FC236}">
                <a16:creationId xmlns:a16="http://schemas.microsoft.com/office/drawing/2014/main" id="{D1C913D9-EFCF-4B6A-CB43-5A1AFFDA3156}"/>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40754573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7C2A25-A98E-CCE0-4598-DB21B669EB51}"/>
              </a:ext>
            </a:extLst>
          </p:cNvPr>
          <p:cNvSpPr>
            <a:spLocks noGrp="1"/>
          </p:cNvSpPr>
          <p:nvPr>
            <p:ph type="title"/>
          </p:nvPr>
        </p:nvSpPr>
        <p:spPr/>
        <p:txBody>
          <a:bodyPr/>
          <a:lstStyle/>
          <a:p>
            <a:r>
              <a:rPr lang="en-US"/>
              <a:t>Click to edit Master title style</a:t>
            </a:r>
            <a:endParaRPr lang="en-ID"/>
          </a:p>
        </p:txBody>
      </p:sp>
      <p:sp>
        <p:nvSpPr>
          <p:cNvPr id="3" name="Content Placeholder 2">
            <a:extLst>
              <a:ext uri="{FF2B5EF4-FFF2-40B4-BE49-F238E27FC236}">
                <a16:creationId xmlns:a16="http://schemas.microsoft.com/office/drawing/2014/main" id="{82E8B1BB-FB99-2B7B-8FA4-CE6E929DC7D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Content Placeholder 3">
            <a:extLst>
              <a:ext uri="{FF2B5EF4-FFF2-40B4-BE49-F238E27FC236}">
                <a16:creationId xmlns:a16="http://schemas.microsoft.com/office/drawing/2014/main" id="{5CA74168-8EE7-F272-4E46-5E796392B53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5" name="Date Placeholder 4">
            <a:extLst>
              <a:ext uri="{FF2B5EF4-FFF2-40B4-BE49-F238E27FC236}">
                <a16:creationId xmlns:a16="http://schemas.microsoft.com/office/drawing/2014/main" id="{40AC5372-8101-F952-3FF1-2C9333C2C9FF}"/>
              </a:ext>
            </a:extLst>
          </p:cNvPr>
          <p:cNvSpPr>
            <a:spLocks noGrp="1"/>
          </p:cNvSpPr>
          <p:nvPr>
            <p:ph type="dt" sz="half" idx="10"/>
          </p:nvPr>
        </p:nvSpPr>
        <p:spPr/>
        <p:txBody>
          <a:bodyPr/>
          <a:lstStyle/>
          <a:p>
            <a:fld id="{478BB0F6-D51F-41BE-8A10-01196C97E34B}" type="datetimeFigureOut">
              <a:rPr lang="en-ID" smtClean="0"/>
              <a:t>28/09/2026</a:t>
            </a:fld>
            <a:endParaRPr lang="en-ID"/>
          </a:p>
        </p:txBody>
      </p:sp>
      <p:sp>
        <p:nvSpPr>
          <p:cNvPr id="6" name="Footer Placeholder 5">
            <a:extLst>
              <a:ext uri="{FF2B5EF4-FFF2-40B4-BE49-F238E27FC236}">
                <a16:creationId xmlns:a16="http://schemas.microsoft.com/office/drawing/2014/main" id="{DC77B63E-6B59-6BBB-CBBD-A70E1BC9D33D}"/>
              </a:ext>
            </a:extLst>
          </p:cNvPr>
          <p:cNvSpPr>
            <a:spLocks noGrp="1"/>
          </p:cNvSpPr>
          <p:nvPr>
            <p:ph type="ftr" sz="quarter" idx="11"/>
          </p:nvPr>
        </p:nvSpPr>
        <p:spPr/>
        <p:txBody>
          <a:bodyPr/>
          <a:lstStyle/>
          <a:p>
            <a:endParaRPr lang="en-ID"/>
          </a:p>
        </p:txBody>
      </p:sp>
      <p:sp>
        <p:nvSpPr>
          <p:cNvPr id="7" name="Slide Number Placeholder 6">
            <a:extLst>
              <a:ext uri="{FF2B5EF4-FFF2-40B4-BE49-F238E27FC236}">
                <a16:creationId xmlns:a16="http://schemas.microsoft.com/office/drawing/2014/main" id="{53764FB9-994E-43EC-E30A-BA2535EC44F5}"/>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1266982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670F0C-8129-8AE1-E2CB-34F603D96A0E}"/>
              </a:ext>
            </a:extLst>
          </p:cNvPr>
          <p:cNvSpPr>
            <a:spLocks noGrp="1"/>
          </p:cNvSpPr>
          <p:nvPr>
            <p:ph type="title"/>
          </p:nvPr>
        </p:nvSpPr>
        <p:spPr>
          <a:xfrm>
            <a:off x="839788" y="365125"/>
            <a:ext cx="10515600" cy="1325563"/>
          </a:xfrm>
        </p:spPr>
        <p:txBody>
          <a:bodyPr/>
          <a:lstStyle/>
          <a:p>
            <a:r>
              <a:rPr lang="en-US"/>
              <a:t>Click to edit Master title style</a:t>
            </a:r>
            <a:endParaRPr lang="en-ID"/>
          </a:p>
        </p:txBody>
      </p:sp>
      <p:sp>
        <p:nvSpPr>
          <p:cNvPr id="3" name="Text Placeholder 2">
            <a:extLst>
              <a:ext uri="{FF2B5EF4-FFF2-40B4-BE49-F238E27FC236}">
                <a16:creationId xmlns:a16="http://schemas.microsoft.com/office/drawing/2014/main" id="{2B233615-D61F-7393-DBD3-0ABF3295B2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408650D-528B-1134-F980-20F27B1022A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5" name="Text Placeholder 4">
            <a:extLst>
              <a:ext uri="{FF2B5EF4-FFF2-40B4-BE49-F238E27FC236}">
                <a16:creationId xmlns:a16="http://schemas.microsoft.com/office/drawing/2014/main" id="{FFA61F3F-E6D8-0EE6-9993-F1B4A7259B0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46734CC-F990-0C75-AD1D-20E2ADEC416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7" name="Date Placeholder 6">
            <a:extLst>
              <a:ext uri="{FF2B5EF4-FFF2-40B4-BE49-F238E27FC236}">
                <a16:creationId xmlns:a16="http://schemas.microsoft.com/office/drawing/2014/main" id="{0B2F8C20-C38D-A9FE-6439-EC547862B3B7}"/>
              </a:ext>
            </a:extLst>
          </p:cNvPr>
          <p:cNvSpPr>
            <a:spLocks noGrp="1"/>
          </p:cNvSpPr>
          <p:nvPr>
            <p:ph type="dt" sz="half" idx="10"/>
          </p:nvPr>
        </p:nvSpPr>
        <p:spPr/>
        <p:txBody>
          <a:bodyPr/>
          <a:lstStyle/>
          <a:p>
            <a:fld id="{478BB0F6-D51F-41BE-8A10-01196C97E34B}" type="datetimeFigureOut">
              <a:rPr lang="en-ID" smtClean="0"/>
              <a:t>28/09/2026</a:t>
            </a:fld>
            <a:endParaRPr lang="en-ID"/>
          </a:p>
        </p:txBody>
      </p:sp>
      <p:sp>
        <p:nvSpPr>
          <p:cNvPr id="8" name="Footer Placeholder 7">
            <a:extLst>
              <a:ext uri="{FF2B5EF4-FFF2-40B4-BE49-F238E27FC236}">
                <a16:creationId xmlns:a16="http://schemas.microsoft.com/office/drawing/2014/main" id="{9CB34732-1260-DFBF-3BFE-782145765782}"/>
              </a:ext>
            </a:extLst>
          </p:cNvPr>
          <p:cNvSpPr>
            <a:spLocks noGrp="1"/>
          </p:cNvSpPr>
          <p:nvPr>
            <p:ph type="ftr" sz="quarter" idx="11"/>
          </p:nvPr>
        </p:nvSpPr>
        <p:spPr/>
        <p:txBody>
          <a:bodyPr/>
          <a:lstStyle/>
          <a:p>
            <a:endParaRPr lang="en-ID"/>
          </a:p>
        </p:txBody>
      </p:sp>
      <p:sp>
        <p:nvSpPr>
          <p:cNvPr id="9" name="Slide Number Placeholder 8">
            <a:extLst>
              <a:ext uri="{FF2B5EF4-FFF2-40B4-BE49-F238E27FC236}">
                <a16:creationId xmlns:a16="http://schemas.microsoft.com/office/drawing/2014/main" id="{6684B939-4511-1F3E-020B-D7F12E3DF97D}"/>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21011659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4D355-3D95-B265-DC03-98964B8396EC}"/>
              </a:ext>
            </a:extLst>
          </p:cNvPr>
          <p:cNvSpPr>
            <a:spLocks noGrp="1"/>
          </p:cNvSpPr>
          <p:nvPr>
            <p:ph type="title"/>
          </p:nvPr>
        </p:nvSpPr>
        <p:spPr/>
        <p:txBody>
          <a:bodyPr/>
          <a:lstStyle/>
          <a:p>
            <a:r>
              <a:rPr lang="en-US"/>
              <a:t>Click to edit Master title style</a:t>
            </a:r>
            <a:endParaRPr lang="en-ID"/>
          </a:p>
        </p:txBody>
      </p:sp>
      <p:sp>
        <p:nvSpPr>
          <p:cNvPr id="3" name="Date Placeholder 2">
            <a:extLst>
              <a:ext uri="{FF2B5EF4-FFF2-40B4-BE49-F238E27FC236}">
                <a16:creationId xmlns:a16="http://schemas.microsoft.com/office/drawing/2014/main" id="{4EAA7B12-CFB8-46F0-C36F-949092D5C767}"/>
              </a:ext>
            </a:extLst>
          </p:cNvPr>
          <p:cNvSpPr>
            <a:spLocks noGrp="1"/>
          </p:cNvSpPr>
          <p:nvPr>
            <p:ph type="dt" sz="half" idx="10"/>
          </p:nvPr>
        </p:nvSpPr>
        <p:spPr/>
        <p:txBody>
          <a:bodyPr/>
          <a:lstStyle/>
          <a:p>
            <a:fld id="{478BB0F6-D51F-41BE-8A10-01196C97E34B}" type="datetimeFigureOut">
              <a:rPr lang="en-ID" smtClean="0"/>
              <a:t>28/09/2026</a:t>
            </a:fld>
            <a:endParaRPr lang="en-ID"/>
          </a:p>
        </p:txBody>
      </p:sp>
      <p:sp>
        <p:nvSpPr>
          <p:cNvPr id="4" name="Footer Placeholder 3">
            <a:extLst>
              <a:ext uri="{FF2B5EF4-FFF2-40B4-BE49-F238E27FC236}">
                <a16:creationId xmlns:a16="http://schemas.microsoft.com/office/drawing/2014/main" id="{BEE6AD3F-373E-E4DA-4FE0-F0AAB7C4D42C}"/>
              </a:ext>
            </a:extLst>
          </p:cNvPr>
          <p:cNvSpPr>
            <a:spLocks noGrp="1"/>
          </p:cNvSpPr>
          <p:nvPr>
            <p:ph type="ftr" sz="quarter" idx="11"/>
          </p:nvPr>
        </p:nvSpPr>
        <p:spPr/>
        <p:txBody>
          <a:bodyPr/>
          <a:lstStyle/>
          <a:p>
            <a:endParaRPr lang="en-ID"/>
          </a:p>
        </p:txBody>
      </p:sp>
      <p:sp>
        <p:nvSpPr>
          <p:cNvPr id="5" name="Slide Number Placeholder 4">
            <a:extLst>
              <a:ext uri="{FF2B5EF4-FFF2-40B4-BE49-F238E27FC236}">
                <a16:creationId xmlns:a16="http://schemas.microsoft.com/office/drawing/2014/main" id="{DA6F2CBA-163E-574F-2A7C-EF0D8FF86557}"/>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20417217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FDE25F-064E-72C8-CDFA-5A91BA27D064}"/>
              </a:ext>
            </a:extLst>
          </p:cNvPr>
          <p:cNvSpPr>
            <a:spLocks noGrp="1"/>
          </p:cNvSpPr>
          <p:nvPr>
            <p:ph type="dt" sz="half" idx="10"/>
          </p:nvPr>
        </p:nvSpPr>
        <p:spPr/>
        <p:txBody>
          <a:bodyPr/>
          <a:lstStyle/>
          <a:p>
            <a:fld id="{478BB0F6-D51F-41BE-8A10-01196C97E34B}" type="datetimeFigureOut">
              <a:rPr lang="en-ID" smtClean="0"/>
              <a:t>28/09/2026</a:t>
            </a:fld>
            <a:endParaRPr lang="en-ID"/>
          </a:p>
        </p:txBody>
      </p:sp>
      <p:sp>
        <p:nvSpPr>
          <p:cNvPr id="3" name="Footer Placeholder 2">
            <a:extLst>
              <a:ext uri="{FF2B5EF4-FFF2-40B4-BE49-F238E27FC236}">
                <a16:creationId xmlns:a16="http://schemas.microsoft.com/office/drawing/2014/main" id="{EC7B5C46-D0E6-C5F5-B83A-1B5375850881}"/>
              </a:ext>
            </a:extLst>
          </p:cNvPr>
          <p:cNvSpPr>
            <a:spLocks noGrp="1"/>
          </p:cNvSpPr>
          <p:nvPr>
            <p:ph type="ftr" sz="quarter" idx="11"/>
          </p:nvPr>
        </p:nvSpPr>
        <p:spPr/>
        <p:txBody>
          <a:bodyPr/>
          <a:lstStyle/>
          <a:p>
            <a:endParaRPr lang="en-ID"/>
          </a:p>
        </p:txBody>
      </p:sp>
      <p:sp>
        <p:nvSpPr>
          <p:cNvPr id="4" name="Slide Number Placeholder 3">
            <a:extLst>
              <a:ext uri="{FF2B5EF4-FFF2-40B4-BE49-F238E27FC236}">
                <a16:creationId xmlns:a16="http://schemas.microsoft.com/office/drawing/2014/main" id="{7FC33FBE-CD2A-CAC3-86F1-1D0F0776347E}"/>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37120608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F6AE7-078B-E9D5-5884-9D15E7D022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D"/>
          </a:p>
        </p:txBody>
      </p:sp>
      <p:sp>
        <p:nvSpPr>
          <p:cNvPr id="3" name="Content Placeholder 2">
            <a:extLst>
              <a:ext uri="{FF2B5EF4-FFF2-40B4-BE49-F238E27FC236}">
                <a16:creationId xmlns:a16="http://schemas.microsoft.com/office/drawing/2014/main" id="{2AA081EE-DA78-20C7-81BD-16F785F49E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Text Placeholder 3">
            <a:extLst>
              <a:ext uri="{FF2B5EF4-FFF2-40B4-BE49-F238E27FC236}">
                <a16:creationId xmlns:a16="http://schemas.microsoft.com/office/drawing/2014/main" id="{AEB26A1D-94CE-D1E4-5E22-26CF82732F0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47B393-7721-5D4E-E5FB-9353DDECEB3A}"/>
              </a:ext>
            </a:extLst>
          </p:cNvPr>
          <p:cNvSpPr>
            <a:spLocks noGrp="1"/>
          </p:cNvSpPr>
          <p:nvPr>
            <p:ph type="dt" sz="half" idx="10"/>
          </p:nvPr>
        </p:nvSpPr>
        <p:spPr/>
        <p:txBody>
          <a:bodyPr/>
          <a:lstStyle/>
          <a:p>
            <a:fld id="{478BB0F6-D51F-41BE-8A10-01196C97E34B}" type="datetimeFigureOut">
              <a:rPr lang="en-ID" smtClean="0"/>
              <a:t>28/09/2026</a:t>
            </a:fld>
            <a:endParaRPr lang="en-ID"/>
          </a:p>
        </p:txBody>
      </p:sp>
      <p:sp>
        <p:nvSpPr>
          <p:cNvPr id="6" name="Footer Placeholder 5">
            <a:extLst>
              <a:ext uri="{FF2B5EF4-FFF2-40B4-BE49-F238E27FC236}">
                <a16:creationId xmlns:a16="http://schemas.microsoft.com/office/drawing/2014/main" id="{F4450758-621D-1BDD-1C21-41CE2A465B9D}"/>
              </a:ext>
            </a:extLst>
          </p:cNvPr>
          <p:cNvSpPr>
            <a:spLocks noGrp="1"/>
          </p:cNvSpPr>
          <p:nvPr>
            <p:ph type="ftr" sz="quarter" idx="11"/>
          </p:nvPr>
        </p:nvSpPr>
        <p:spPr/>
        <p:txBody>
          <a:bodyPr/>
          <a:lstStyle/>
          <a:p>
            <a:endParaRPr lang="en-ID"/>
          </a:p>
        </p:txBody>
      </p:sp>
      <p:sp>
        <p:nvSpPr>
          <p:cNvPr id="7" name="Slide Number Placeholder 6">
            <a:extLst>
              <a:ext uri="{FF2B5EF4-FFF2-40B4-BE49-F238E27FC236}">
                <a16:creationId xmlns:a16="http://schemas.microsoft.com/office/drawing/2014/main" id="{0F745003-BF99-2082-AC19-9D405190964E}"/>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19918426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E4BFEC-8567-C00C-0106-D10768E24C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D"/>
          </a:p>
        </p:txBody>
      </p:sp>
      <p:sp>
        <p:nvSpPr>
          <p:cNvPr id="3" name="Picture Placeholder 2">
            <a:extLst>
              <a:ext uri="{FF2B5EF4-FFF2-40B4-BE49-F238E27FC236}">
                <a16:creationId xmlns:a16="http://schemas.microsoft.com/office/drawing/2014/main" id="{8A5EE4D2-0DBC-42EF-B207-44178BF675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D"/>
          </a:p>
        </p:txBody>
      </p:sp>
      <p:sp>
        <p:nvSpPr>
          <p:cNvPr id="4" name="Text Placeholder 3">
            <a:extLst>
              <a:ext uri="{FF2B5EF4-FFF2-40B4-BE49-F238E27FC236}">
                <a16:creationId xmlns:a16="http://schemas.microsoft.com/office/drawing/2014/main" id="{E932F354-5B42-5354-9BB3-BF506542AD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3C44D4-054C-04A2-849C-C6DF11667DCA}"/>
              </a:ext>
            </a:extLst>
          </p:cNvPr>
          <p:cNvSpPr>
            <a:spLocks noGrp="1"/>
          </p:cNvSpPr>
          <p:nvPr>
            <p:ph type="dt" sz="half" idx="10"/>
          </p:nvPr>
        </p:nvSpPr>
        <p:spPr/>
        <p:txBody>
          <a:bodyPr/>
          <a:lstStyle/>
          <a:p>
            <a:fld id="{478BB0F6-D51F-41BE-8A10-01196C97E34B}" type="datetimeFigureOut">
              <a:rPr lang="en-ID" smtClean="0"/>
              <a:t>28/09/2026</a:t>
            </a:fld>
            <a:endParaRPr lang="en-ID"/>
          </a:p>
        </p:txBody>
      </p:sp>
      <p:sp>
        <p:nvSpPr>
          <p:cNvPr id="6" name="Footer Placeholder 5">
            <a:extLst>
              <a:ext uri="{FF2B5EF4-FFF2-40B4-BE49-F238E27FC236}">
                <a16:creationId xmlns:a16="http://schemas.microsoft.com/office/drawing/2014/main" id="{EFA765F2-815F-FA9C-BACC-F10FD3A599E2}"/>
              </a:ext>
            </a:extLst>
          </p:cNvPr>
          <p:cNvSpPr>
            <a:spLocks noGrp="1"/>
          </p:cNvSpPr>
          <p:nvPr>
            <p:ph type="ftr" sz="quarter" idx="11"/>
          </p:nvPr>
        </p:nvSpPr>
        <p:spPr/>
        <p:txBody>
          <a:bodyPr/>
          <a:lstStyle/>
          <a:p>
            <a:endParaRPr lang="en-ID"/>
          </a:p>
        </p:txBody>
      </p:sp>
      <p:sp>
        <p:nvSpPr>
          <p:cNvPr id="7" name="Slide Number Placeholder 6">
            <a:extLst>
              <a:ext uri="{FF2B5EF4-FFF2-40B4-BE49-F238E27FC236}">
                <a16:creationId xmlns:a16="http://schemas.microsoft.com/office/drawing/2014/main" id="{DE3EF46D-FA9C-E439-53F3-8331736D3B36}"/>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18882960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6B37B5-BB60-664D-29B5-2D3399D66BD8}"/>
              </a:ext>
            </a:extLst>
          </p:cNvPr>
          <p:cNvSpPr>
            <a:spLocks noGrp="1"/>
          </p:cNvSpPr>
          <p:nvPr>
            <p:ph type="title"/>
          </p:nvPr>
        </p:nvSpPr>
        <p:spPr/>
        <p:txBody>
          <a:bodyPr/>
          <a:lstStyle/>
          <a:p>
            <a:r>
              <a:rPr lang="en-US"/>
              <a:t>Click to edit Master title style</a:t>
            </a:r>
            <a:endParaRPr lang="en-ID"/>
          </a:p>
        </p:txBody>
      </p:sp>
      <p:sp>
        <p:nvSpPr>
          <p:cNvPr id="3" name="Vertical Text Placeholder 2">
            <a:extLst>
              <a:ext uri="{FF2B5EF4-FFF2-40B4-BE49-F238E27FC236}">
                <a16:creationId xmlns:a16="http://schemas.microsoft.com/office/drawing/2014/main" id="{96845D71-6152-EE48-C4D7-58AC3613306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813A45B4-245F-49D2-B1C4-E782FFD0E521}"/>
              </a:ext>
            </a:extLst>
          </p:cNvPr>
          <p:cNvSpPr>
            <a:spLocks noGrp="1"/>
          </p:cNvSpPr>
          <p:nvPr>
            <p:ph type="dt" sz="half" idx="10"/>
          </p:nvPr>
        </p:nvSpPr>
        <p:spPr/>
        <p:txBody>
          <a:bodyPr/>
          <a:lstStyle/>
          <a:p>
            <a:fld id="{478BB0F6-D51F-41BE-8A10-01196C97E34B}" type="datetimeFigureOut">
              <a:rPr lang="en-ID" smtClean="0"/>
              <a:t>28/09/2026</a:t>
            </a:fld>
            <a:endParaRPr lang="en-ID"/>
          </a:p>
        </p:txBody>
      </p:sp>
      <p:sp>
        <p:nvSpPr>
          <p:cNvPr id="5" name="Footer Placeholder 4">
            <a:extLst>
              <a:ext uri="{FF2B5EF4-FFF2-40B4-BE49-F238E27FC236}">
                <a16:creationId xmlns:a16="http://schemas.microsoft.com/office/drawing/2014/main" id="{AA35A338-23DD-F7B1-C69B-05BC9743BD56}"/>
              </a:ext>
            </a:extLst>
          </p:cNvPr>
          <p:cNvSpPr>
            <a:spLocks noGrp="1"/>
          </p:cNvSpPr>
          <p:nvPr>
            <p:ph type="ftr" sz="quarter" idx="11"/>
          </p:nvPr>
        </p:nvSpPr>
        <p:spPr/>
        <p:txBody>
          <a:bodyPr/>
          <a:lstStyle/>
          <a:p>
            <a:endParaRPr lang="en-ID"/>
          </a:p>
        </p:txBody>
      </p:sp>
      <p:sp>
        <p:nvSpPr>
          <p:cNvPr id="6" name="Slide Number Placeholder 5">
            <a:extLst>
              <a:ext uri="{FF2B5EF4-FFF2-40B4-BE49-F238E27FC236}">
                <a16:creationId xmlns:a16="http://schemas.microsoft.com/office/drawing/2014/main" id="{B097BBCD-23D3-CF1D-B05E-52A0968B4C2B}"/>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6283008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F0FB2F-912F-CC6C-6A62-55319D2687E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D"/>
          </a:p>
        </p:txBody>
      </p:sp>
      <p:sp>
        <p:nvSpPr>
          <p:cNvPr id="3" name="Vertical Text Placeholder 2">
            <a:extLst>
              <a:ext uri="{FF2B5EF4-FFF2-40B4-BE49-F238E27FC236}">
                <a16:creationId xmlns:a16="http://schemas.microsoft.com/office/drawing/2014/main" id="{49E3FB00-51B7-FDFF-C3DD-36D5E0A1229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937FB020-6136-D002-C9E5-42E8738B9E21}"/>
              </a:ext>
            </a:extLst>
          </p:cNvPr>
          <p:cNvSpPr>
            <a:spLocks noGrp="1"/>
          </p:cNvSpPr>
          <p:nvPr>
            <p:ph type="dt" sz="half" idx="10"/>
          </p:nvPr>
        </p:nvSpPr>
        <p:spPr/>
        <p:txBody>
          <a:bodyPr/>
          <a:lstStyle/>
          <a:p>
            <a:fld id="{478BB0F6-D51F-41BE-8A10-01196C97E34B}" type="datetimeFigureOut">
              <a:rPr lang="en-ID" smtClean="0"/>
              <a:t>28/09/2026</a:t>
            </a:fld>
            <a:endParaRPr lang="en-ID"/>
          </a:p>
        </p:txBody>
      </p:sp>
      <p:sp>
        <p:nvSpPr>
          <p:cNvPr id="5" name="Footer Placeholder 4">
            <a:extLst>
              <a:ext uri="{FF2B5EF4-FFF2-40B4-BE49-F238E27FC236}">
                <a16:creationId xmlns:a16="http://schemas.microsoft.com/office/drawing/2014/main" id="{BC8830F7-58B3-0B90-4AE4-AFC31761FEA4}"/>
              </a:ext>
            </a:extLst>
          </p:cNvPr>
          <p:cNvSpPr>
            <a:spLocks noGrp="1"/>
          </p:cNvSpPr>
          <p:nvPr>
            <p:ph type="ftr" sz="quarter" idx="11"/>
          </p:nvPr>
        </p:nvSpPr>
        <p:spPr/>
        <p:txBody>
          <a:bodyPr/>
          <a:lstStyle/>
          <a:p>
            <a:endParaRPr lang="en-ID"/>
          </a:p>
        </p:txBody>
      </p:sp>
      <p:sp>
        <p:nvSpPr>
          <p:cNvPr id="6" name="Slide Number Placeholder 5">
            <a:extLst>
              <a:ext uri="{FF2B5EF4-FFF2-40B4-BE49-F238E27FC236}">
                <a16:creationId xmlns:a16="http://schemas.microsoft.com/office/drawing/2014/main" id="{71D214F7-57D9-B786-B2E6-7B3015606841}"/>
              </a:ext>
            </a:extLst>
          </p:cNvPr>
          <p:cNvSpPr>
            <a:spLocks noGrp="1"/>
          </p:cNvSpPr>
          <p:nvPr>
            <p:ph type="sldNum" sz="quarter" idx="12"/>
          </p:nvPr>
        </p:nvSpPr>
        <p:spPr/>
        <p:txBody>
          <a:bodyPr/>
          <a:lstStyle/>
          <a:p>
            <a:fld id="{422B7D8C-842F-4215-80E7-35CA3AFEFC77}" type="slidenum">
              <a:rPr lang="en-ID" smtClean="0"/>
              <a:t>‹#›</a:t>
            </a:fld>
            <a:endParaRPr lang="en-ID"/>
          </a:p>
        </p:txBody>
      </p:sp>
    </p:spTree>
    <p:extLst>
      <p:ext uri="{BB962C8B-B14F-4D97-AF65-F5344CB8AC3E}">
        <p14:creationId xmlns:p14="http://schemas.microsoft.com/office/powerpoint/2010/main" val="2162671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E7955C2-0124-C853-A515-E55BFF07E9C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D"/>
          </a:p>
        </p:txBody>
      </p:sp>
      <p:sp>
        <p:nvSpPr>
          <p:cNvPr id="3" name="Text Placeholder 2">
            <a:extLst>
              <a:ext uri="{FF2B5EF4-FFF2-40B4-BE49-F238E27FC236}">
                <a16:creationId xmlns:a16="http://schemas.microsoft.com/office/drawing/2014/main" id="{0F2ED048-78C0-E1F4-B6B1-9E22F84E589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3DF82F83-7DC3-0B4A-C52E-E91E0BC3C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78BB0F6-D51F-41BE-8A10-01196C97E34B}" type="datetimeFigureOut">
              <a:rPr lang="en-ID" smtClean="0"/>
              <a:t>28/09/2026</a:t>
            </a:fld>
            <a:endParaRPr lang="en-ID"/>
          </a:p>
        </p:txBody>
      </p:sp>
      <p:sp>
        <p:nvSpPr>
          <p:cNvPr id="5" name="Footer Placeholder 4">
            <a:extLst>
              <a:ext uri="{FF2B5EF4-FFF2-40B4-BE49-F238E27FC236}">
                <a16:creationId xmlns:a16="http://schemas.microsoft.com/office/drawing/2014/main" id="{2CB9C03A-6964-E5F6-97C5-92E42A96A68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D"/>
          </a:p>
        </p:txBody>
      </p:sp>
      <p:sp>
        <p:nvSpPr>
          <p:cNvPr id="6" name="Slide Number Placeholder 5">
            <a:extLst>
              <a:ext uri="{FF2B5EF4-FFF2-40B4-BE49-F238E27FC236}">
                <a16:creationId xmlns:a16="http://schemas.microsoft.com/office/drawing/2014/main" id="{F8FC8094-5796-5533-D60D-EECF6CC2D96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22B7D8C-842F-4215-80E7-35CA3AFEFC77}" type="slidenum">
              <a:rPr lang="en-ID" smtClean="0"/>
              <a:t>‹#›</a:t>
            </a:fld>
            <a:endParaRPr lang="en-ID"/>
          </a:p>
        </p:txBody>
      </p:sp>
    </p:spTree>
    <p:extLst>
      <p:ext uri="{BB962C8B-B14F-4D97-AF65-F5344CB8AC3E}">
        <p14:creationId xmlns:p14="http://schemas.microsoft.com/office/powerpoint/2010/main" val="36368289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62338"/>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6B2E970-DC9A-CD84-D931-8CBC12CED9DD}"/>
              </a:ext>
            </a:extLst>
          </p:cNvPr>
          <p:cNvSpPr txBox="1"/>
          <p:nvPr/>
        </p:nvSpPr>
        <p:spPr>
          <a:xfrm>
            <a:off x="736600" y="1574800"/>
            <a:ext cx="10718800" cy="276999"/>
          </a:xfrm>
          <a:prstGeom prst="rect">
            <a:avLst/>
          </a:prstGeom>
          <a:noFill/>
        </p:spPr>
        <p:txBody>
          <a:bodyPr vert="horz" wrap="square" lIns="0" tIns="0" rIns="0" bIns="0" rtlCol="0">
            <a:noAutofit/>
          </a:bodyPr>
          <a:lstStyle/>
          <a:p>
            <a:pPr>
              <a:spcAft>
                <a:spcPts val="700"/>
              </a:spcAft>
            </a:pPr>
            <a:r>
              <a:rPr lang="en-ID" sz="4600" b="1">
                <a:solidFill>
                  <a:srgbClr val="FFFFFF"/>
                </a:solidFill>
                <a:latin typeface="Aptos" panose="020B0004020202020204" pitchFamily="34" charset="0"/>
              </a:rPr>
              <a:t>Analitik keterlambatan</a:t>
            </a:r>
          </a:p>
          <a:p>
            <a:pPr>
              <a:spcAft>
                <a:spcPts val="700"/>
              </a:spcAft>
            </a:pPr>
            <a:r>
              <a:rPr lang="en-ID" sz="4600" b="1">
                <a:solidFill>
                  <a:srgbClr val="FFFFFF"/>
                </a:solidFill>
                <a:latin typeface="Aptos" panose="020B0004020202020204" pitchFamily="34" charset="0"/>
              </a:rPr>
              <a:t>pengiriman Olist</a:t>
            </a:r>
          </a:p>
        </p:txBody>
      </p:sp>
      <p:sp>
        <p:nvSpPr>
          <p:cNvPr id="3" name="TextBox 2">
            <a:extLst>
              <a:ext uri="{FF2B5EF4-FFF2-40B4-BE49-F238E27FC236}">
                <a16:creationId xmlns:a16="http://schemas.microsoft.com/office/drawing/2014/main" id="{0FB6BD76-C9D8-11FD-9D78-5F6E41FB09F8}"/>
              </a:ext>
            </a:extLst>
          </p:cNvPr>
          <p:cNvSpPr txBox="1"/>
          <p:nvPr/>
        </p:nvSpPr>
        <p:spPr>
          <a:xfrm>
            <a:off x="762000" y="3911600"/>
            <a:ext cx="10414000" cy="276999"/>
          </a:xfrm>
          <a:prstGeom prst="rect">
            <a:avLst/>
          </a:prstGeom>
          <a:noFill/>
        </p:spPr>
        <p:txBody>
          <a:bodyPr vert="horz" wrap="square" lIns="0" tIns="0" rIns="0" bIns="0" rtlCol="0">
            <a:noAutofit/>
          </a:bodyPr>
          <a:lstStyle/>
          <a:p>
            <a:pPr>
              <a:spcAft>
                <a:spcPts val="700"/>
              </a:spcAft>
            </a:pPr>
            <a:r>
              <a:rPr lang="it-IT" sz="2400">
                <a:solidFill>
                  <a:srgbClr val="B8E5DD"/>
                </a:solidFill>
                <a:latin typeface="Aptos" panose="020B0004020202020204" pitchFamily="34" charset="0"/>
              </a:rPr>
              <a:t>Rancangan solusi dan persiapan data</a:t>
            </a:r>
            <a:endParaRPr lang="en-ID" sz="2400">
              <a:solidFill>
                <a:srgbClr val="B8E5DD"/>
              </a:solidFill>
              <a:latin typeface="Aptos" panose="020B0004020202020204" pitchFamily="34" charset="0"/>
            </a:endParaRPr>
          </a:p>
        </p:txBody>
      </p:sp>
      <p:sp>
        <p:nvSpPr>
          <p:cNvPr id="4" name="TextBox 3">
            <a:extLst>
              <a:ext uri="{FF2B5EF4-FFF2-40B4-BE49-F238E27FC236}">
                <a16:creationId xmlns:a16="http://schemas.microsoft.com/office/drawing/2014/main" id="{E5432571-8DF5-F999-08BF-39701BDB9A55}"/>
              </a:ext>
            </a:extLst>
          </p:cNvPr>
          <p:cNvSpPr txBox="1"/>
          <p:nvPr/>
        </p:nvSpPr>
        <p:spPr>
          <a:xfrm>
            <a:off x="762000" y="4953000"/>
            <a:ext cx="10414000" cy="276999"/>
          </a:xfrm>
          <a:prstGeom prst="rect">
            <a:avLst/>
          </a:prstGeom>
          <a:noFill/>
        </p:spPr>
        <p:txBody>
          <a:bodyPr vert="horz" wrap="square" lIns="0" tIns="0" rIns="0" bIns="0" rtlCol="0">
            <a:noAutofit/>
          </a:bodyPr>
          <a:lstStyle/>
          <a:p>
            <a:pPr>
              <a:spcAft>
                <a:spcPts val="700"/>
              </a:spcAft>
            </a:pPr>
            <a:r>
              <a:rPr lang="en-ID" sz="2000">
                <a:solidFill>
                  <a:srgbClr val="FFFFFF"/>
                </a:solidFill>
                <a:latin typeface="Aptos" panose="020B0004020202020204" pitchFamily="34" charset="0"/>
              </a:rPr>
              <a:t>Yanlis Alim Sang Putra Lase</a:t>
            </a:r>
          </a:p>
          <a:p>
            <a:pPr>
              <a:spcAft>
                <a:spcPts val="700"/>
              </a:spcAft>
            </a:pPr>
            <a:r>
              <a:rPr lang="en-ID" sz="2000">
                <a:solidFill>
                  <a:srgbClr val="FFFFFF"/>
                </a:solidFill>
                <a:latin typeface="Aptos" panose="020B0004020202020204" pitchFamily="34" charset="0"/>
              </a:rPr>
              <a:t>2702751284</a:t>
            </a:r>
          </a:p>
        </p:txBody>
      </p:sp>
      <p:sp>
        <p:nvSpPr>
          <p:cNvPr id="5" name="TextBox 4">
            <a:extLst>
              <a:ext uri="{FF2B5EF4-FFF2-40B4-BE49-F238E27FC236}">
                <a16:creationId xmlns:a16="http://schemas.microsoft.com/office/drawing/2014/main" id="{E2B679EA-9D02-94CC-2D59-803D2F620D99}"/>
              </a:ext>
            </a:extLst>
          </p:cNvPr>
          <p:cNvSpPr txBox="1"/>
          <p:nvPr/>
        </p:nvSpPr>
        <p:spPr>
          <a:xfrm>
            <a:off x="609600" y="6337300"/>
            <a:ext cx="10033000" cy="276999"/>
          </a:xfrm>
          <a:prstGeom prst="rect">
            <a:avLst/>
          </a:prstGeom>
          <a:noFill/>
        </p:spPr>
        <p:txBody>
          <a:bodyPr vert="horz" wrap="square" lIns="0" tIns="0" rIns="0" bIns="0" rtlCol="0">
            <a:noAutofit/>
          </a:bodyPr>
          <a:lstStyle/>
          <a:p>
            <a:pPr>
              <a:spcAft>
                <a:spcPts val="700"/>
              </a:spcAft>
            </a:pPr>
            <a:r>
              <a:rPr lang="en-ID" sz="1100">
                <a:solidFill>
                  <a:srgbClr val="BEC9D6"/>
                </a:solidFill>
                <a:latin typeface="Aptos" panose="020B0004020202020204" pitchFamily="34" charset="0"/>
              </a:rPr>
              <a:t>COMP8035041   Assignment I</a:t>
            </a:r>
          </a:p>
        </p:txBody>
      </p:sp>
      <p:sp>
        <p:nvSpPr>
          <p:cNvPr id="6" name="TextBox 5">
            <a:extLst>
              <a:ext uri="{FF2B5EF4-FFF2-40B4-BE49-F238E27FC236}">
                <a16:creationId xmlns:a16="http://schemas.microsoft.com/office/drawing/2014/main" id="{4A4074A6-82EA-2D60-6790-42695CA04B5B}"/>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BEC9D6"/>
                </a:solidFill>
                <a:latin typeface="Aptos" panose="020B0004020202020204" pitchFamily="34" charset="0"/>
              </a:rPr>
              <a:t>01 / 11</a:t>
            </a:r>
          </a:p>
        </p:txBody>
      </p:sp>
    </p:spTree>
    <p:extLst>
      <p:ext uri="{BB962C8B-B14F-4D97-AF65-F5344CB8AC3E}">
        <p14:creationId xmlns:p14="http://schemas.microsoft.com/office/powerpoint/2010/main" val="22643891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A65B32-7483-5895-CB5E-B7FE235DD7DB}"/>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en-ID" sz="3200" b="1">
                <a:solidFill>
                  <a:srgbClr val="162338"/>
                </a:solidFill>
                <a:latin typeface="Aptos" panose="020B0004020202020204" pitchFamily="34" charset="0"/>
              </a:rPr>
              <a:t>Latar belakang masalah</a:t>
            </a:r>
          </a:p>
        </p:txBody>
      </p:sp>
      <p:sp>
        <p:nvSpPr>
          <p:cNvPr id="3" name="TextBox 2">
            <a:extLst>
              <a:ext uri="{FF2B5EF4-FFF2-40B4-BE49-F238E27FC236}">
                <a16:creationId xmlns:a16="http://schemas.microsoft.com/office/drawing/2014/main" id="{1BAF0E78-4B99-1882-B2EC-5F06D4BA785F}"/>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Laporan Bab 1, audit label dan notebook 02. Review hanya pada order dengan review.</a:t>
            </a:r>
          </a:p>
        </p:txBody>
      </p:sp>
      <p:sp>
        <p:nvSpPr>
          <p:cNvPr id="4" name="TextBox 3">
            <a:extLst>
              <a:ext uri="{FF2B5EF4-FFF2-40B4-BE49-F238E27FC236}">
                <a16:creationId xmlns:a16="http://schemas.microsoft.com/office/drawing/2014/main" id="{30A386E3-6745-90C8-231C-92DFBC9F0DAB}"/>
              </a:ext>
            </a:extLst>
          </p:cNvPr>
          <p:cNvSpPr txBox="1"/>
          <p:nvPr/>
        </p:nvSpPr>
        <p:spPr>
          <a:xfrm>
            <a:off x="609600" y="1625600"/>
            <a:ext cx="4191000" cy="276999"/>
          </a:xfrm>
          <a:prstGeom prst="rect">
            <a:avLst/>
          </a:prstGeom>
          <a:noFill/>
        </p:spPr>
        <p:txBody>
          <a:bodyPr vert="horz" wrap="square" lIns="0" tIns="0" rIns="0" bIns="0" rtlCol="0">
            <a:noAutofit/>
          </a:bodyPr>
          <a:lstStyle/>
          <a:p>
            <a:pPr>
              <a:spcAft>
                <a:spcPts val="700"/>
              </a:spcAft>
            </a:pPr>
            <a:r>
              <a:rPr lang="en-ID" sz="6000" b="1">
                <a:solidFill>
                  <a:srgbClr val="007084"/>
                </a:solidFill>
                <a:latin typeface="Aptos" panose="020B0004020202020204" pitchFamily="34" charset="0"/>
              </a:rPr>
              <a:t>8,11%</a:t>
            </a:r>
          </a:p>
        </p:txBody>
      </p:sp>
      <p:sp>
        <p:nvSpPr>
          <p:cNvPr id="5" name="TextBox 4">
            <a:extLst>
              <a:ext uri="{FF2B5EF4-FFF2-40B4-BE49-F238E27FC236}">
                <a16:creationId xmlns:a16="http://schemas.microsoft.com/office/drawing/2014/main" id="{AF76D2F3-68C7-5286-4332-77B57F865210}"/>
              </a:ext>
            </a:extLst>
          </p:cNvPr>
          <p:cNvSpPr txBox="1"/>
          <p:nvPr/>
        </p:nvSpPr>
        <p:spPr>
          <a:xfrm>
            <a:off x="609600" y="3022600"/>
            <a:ext cx="4445000" cy="276999"/>
          </a:xfrm>
          <a:prstGeom prst="rect">
            <a:avLst/>
          </a:prstGeom>
          <a:noFill/>
        </p:spPr>
        <p:txBody>
          <a:bodyPr vert="horz" wrap="square" lIns="0" tIns="0" rIns="0" bIns="0" rtlCol="0">
            <a:noAutofit/>
          </a:bodyPr>
          <a:lstStyle/>
          <a:p>
            <a:pPr>
              <a:spcAft>
                <a:spcPts val="700"/>
              </a:spcAft>
            </a:pPr>
            <a:r>
              <a:rPr lang="en-ID" sz="2300">
                <a:solidFill>
                  <a:srgbClr val="162338"/>
                </a:solidFill>
                <a:latin typeface="Aptos" panose="020B0004020202020204" pitchFamily="34" charset="0"/>
              </a:rPr>
              <a:t>7.826 dari 96.470 order</a:t>
            </a:r>
          </a:p>
          <a:p>
            <a:pPr>
              <a:spcAft>
                <a:spcPts val="700"/>
              </a:spcAft>
            </a:pPr>
            <a:r>
              <a:rPr lang="en-ID" sz="2300">
                <a:solidFill>
                  <a:srgbClr val="162338"/>
                </a:solidFill>
                <a:latin typeface="Aptos" panose="020B0004020202020204" pitchFamily="34" charset="0"/>
              </a:rPr>
              <a:t>terlambat terhadap estimasi</a:t>
            </a:r>
          </a:p>
        </p:txBody>
      </p:sp>
      <p:sp>
        <p:nvSpPr>
          <p:cNvPr id="6" name="TextBox 5">
            <a:extLst>
              <a:ext uri="{FF2B5EF4-FFF2-40B4-BE49-F238E27FC236}">
                <a16:creationId xmlns:a16="http://schemas.microsoft.com/office/drawing/2014/main" id="{DA80B2DB-4C6A-FEDB-8D89-14D54DAE8D14}"/>
              </a:ext>
            </a:extLst>
          </p:cNvPr>
          <p:cNvSpPr txBox="1"/>
          <p:nvPr/>
        </p:nvSpPr>
        <p:spPr>
          <a:xfrm>
            <a:off x="5778500" y="1841500"/>
            <a:ext cx="5778500" cy="276999"/>
          </a:xfrm>
          <a:prstGeom prst="rect">
            <a:avLst/>
          </a:prstGeom>
          <a:noFill/>
        </p:spPr>
        <p:txBody>
          <a:bodyPr vert="horz" wrap="square" lIns="0" tIns="0" rIns="0" bIns="0" rtlCol="0">
            <a:noAutofit/>
          </a:bodyPr>
          <a:lstStyle/>
          <a:p>
            <a:pPr>
              <a:spcAft>
                <a:spcPts val="700"/>
              </a:spcAft>
            </a:pPr>
            <a:r>
              <a:rPr lang="en-US" sz="2900">
                <a:solidFill>
                  <a:srgbClr val="162338"/>
                </a:solidFill>
                <a:latin typeface="Aptos" panose="020B0004020202020204" pitchFamily="34" charset="0"/>
              </a:rPr>
              <a:t>Review tepat waktu: 4,2943</a:t>
            </a:r>
          </a:p>
          <a:p>
            <a:pPr>
              <a:spcAft>
                <a:spcPts val="700"/>
              </a:spcAft>
            </a:pPr>
            <a:r>
              <a:rPr lang="en-US" sz="2900">
                <a:solidFill>
                  <a:srgbClr val="162338"/>
                </a:solidFill>
                <a:latin typeface="Aptos" panose="020B0004020202020204" pitchFamily="34" charset="0"/>
              </a:rPr>
              <a:t>Review terlambat: 2,5665</a:t>
            </a:r>
            <a:endParaRPr lang="en-ID" sz="2900">
              <a:solidFill>
                <a:srgbClr val="162338"/>
              </a:solidFill>
              <a:latin typeface="Aptos" panose="020B0004020202020204" pitchFamily="34" charset="0"/>
            </a:endParaRPr>
          </a:p>
        </p:txBody>
      </p:sp>
      <p:sp>
        <p:nvSpPr>
          <p:cNvPr id="7" name="TextBox 6">
            <a:extLst>
              <a:ext uri="{FF2B5EF4-FFF2-40B4-BE49-F238E27FC236}">
                <a16:creationId xmlns:a16="http://schemas.microsoft.com/office/drawing/2014/main" id="{57246EEA-1124-057B-2AC8-6B77067AD8A8}"/>
              </a:ext>
            </a:extLst>
          </p:cNvPr>
          <p:cNvSpPr txBox="1"/>
          <p:nvPr/>
        </p:nvSpPr>
        <p:spPr>
          <a:xfrm>
            <a:off x="609600" y="4445000"/>
            <a:ext cx="10972800" cy="276999"/>
          </a:xfrm>
          <a:prstGeom prst="rect">
            <a:avLst/>
          </a:prstGeom>
          <a:noFill/>
        </p:spPr>
        <p:txBody>
          <a:bodyPr vert="horz" wrap="square" lIns="0" tIns="0" rIns="0" bIns="0" rtlCol="0">
            <a:noAutofit/>
          </a:bodyPr>
          <a:lstStyle/>
          <a:p>
            <a:pPr>
              <a:spcAft>
                <a:spcPts val="700"/>
              </a:spcAft>
            </a:pPr>
            <a:r>
              <a:rPr lang="en-ID" sz="2500" b="1">
                <a:solidFill>
                  <a:srgbClr val="162338"/>
                </a:solidFill>
                <a:latin typeface="Aptos" panose="020B0004020202020204" pitchFamily="34" charset="0"/>
              </a:rPr>
              <a:t>Sembilan tabel transaksi Olist, periode 2016–2018</a:t>
            </a:r>
          </a:p>
        </p:txBody>
      </p:sp>
      <p:sp>
        <p:nvSpPr>
          <p:cNvPr id="8" name="TextBox 7">
            <a:extLst>
              <a:ext uri="{FF2B5EF4-FFF2-40B4-BE49-F238E27FC236}">
                <a16:creationId xmlns:a16="http://schemas.microsoft.com/office/drawing/2014/main" id="{B3A098E9-F66E-127E-7D08-B8B53C67C145}"/>
              </a:ext>
            </a:extLst>
          </p:cNvPr>
          <p:cNvSpPr txBox="1"/>
          <p:nvPr/>
        </p:nvSpPr>
        <p:spPr>
          <a:xfrm>
            <a:off x="609600" y="5664200"/>
            <a:ext cx="10972800" cy="276999"/>
          </a:xfrm>
          <a:prstGeom prst="rect">
            <a:avLst/>
          </a:prstGeom>
          <a:noFill/>
        </p:spPr>
        <p:txBody>
          <a:bodyPr vert="horz" wrap="square" lIns="0" tIns="0" rIns="0" bIns="0" rtlCol="0">
            <a:noAutofit/>
          </a:bodyPr>
          <a:lstStyle/>
          <a:p>
            <a:pPr>
              <a:spcAft>
                <a:spcPts val="700"/>
              </a:spcAft>
            </a:pPr>
            <a:r>
              <a:rPr lang="sv-SE" sz="1700">
                <a:solidFill>
                  <a:srgbClr val="162338"/>
                </a:solidFill>
                <a:latin typeface="Aptos" panose="020B0004020202020204" pitchFamily="34" charset="0"/>
              </a:rPr>
              <a:t>Review hanya pada order dengan review. Hubungan ini merupakan asosiasi.</a:t>
            </a:r>
            <a:endParaRPr lang="en-ID" sz="1700">
              <a:solidFill>
                <a:srgbClr val="162338"/>
              </a:solidFill>
              <a:latin typeface="Aptos" panose="020B0004020202020204" pitchFamily="34" charset="0"/>
            </a:endParaRPr>
          </a:p>
        </p:txBody>
      </p:sp>
      <p:sp>
        <p:nvSpPr>
          <p:cNvPr id="9" name="TextBox 8">
            <a:extLst>
              <a:ext uri="{FF2B5EF4-FFF2-40B4-BE49-F238E27FC236}">
                <a16:creationId xmlns:a16="http://schemas.microsoft.com/office/drawing/2014/main" id="{1B0A10F3-3F09-F166-D94E-3DE704A703CE}"/>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02 / 11</a:t>
            </a:r>
          </a:p>
        </p:txBody>
      </p:sp>
    </p:spTree>
    <p:extLst>
      <p:ext uri="{BB962C8B-B14F-4D97-AF65-F5344CB8AC3E}">
        <p14:creationId xmlns:p14="http://schemas.microsoft.com/office/powerpoint/2010/main" val="2363310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73AE179-2B31-05F5-87C8-C83B17ABB71F}"/>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es-ES" sz="3200" b="1">
                <a:solidFill>
                  <a:srgbClr val="162338"/>
                </a:solidFill>
                <a:latin typeface="Aptos" panose="020B0004020202020204" pitchFamily="34" charset="0"/>
              </a:rPr>
              <a:t>Tujuan proyek dan pengguna hasil</a:t>
            </a:r>
            <a:endParaRPr lang="en-ID" sz="3200" b="1">
              <a:solidFill>
                <a:srgbClr val="162338"/>
              </a:solidFill>
              <a:latin typeface="Aptos" panose="020B0004020202020204" pitchFamily="34" charset="0"/>
            </a:endParaRPr>
          </a:p>
        </p:txBody>
      </p:sp>
      <p:sp>
        <p:nvSpPr>
          <p:cNvPr id="3" name="TextBox 2">
            <a:extLst>
              <a:ext uri="{FF2B5EF4-FFF2-40B4-BE49-F238E27FC236}">
                <a16:creationId xmlns:a16="http://schemas.microsoft.com/office/drawing/2014/main" id="{1AC9A71B-D3B0-7B3D-628D-76CECD9C61DE}"/>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Lingkup Assignment I: masalah bisnis, rancangan solusi dan persiapan data.</a:t>
            </a:r>
          </a:p>
        </p:txBody>
      </p:sp>
      <p:sp>
        <p:nvSpPr>
          <p:cNvPr id="4" name="TextBox 3">
            <a:extLst>
              <a:ext uri="{FF2B5EF4-FFF2-40B4-BE49-F238E27FC236}">
                <a16:creationId xmlns:a16="http://schemas.microsoft.com/office/drawing/2014/main" id="{755DA2F5-2712-D079-1868-C2BF3F10744F}"/>
              </a:ext>
            </a:extLst>
          </p:cNvPr>
          <p:cNvSpPr txBox="1"/>
          <p:nvPr/>
        </p:nvSpPr>
        <p:spPr>
          <a:xfrm>
            <a:off x="609600" y="1574800"/>
            <a:ext cx="10972800" cy="276999"/>
          </a:xfrm>
          <a:prstGeom prst="rect">
            <a:avLst/>
          </a:prstGeom>
          <a:noFill/>
        </p:spPr>
        <p:txBody>
          <a:bodyPr vert="horz" wrap="square" lIns="0" tIns="0" rIns="0" bIns="0" rtlCol="0">
            <a:noAutofit/>
          </a:bodyPr>
          <a:lstStyle/>
          <a:p>
            <a:pPr>
              <a:spcAft>
                <a:spcPts val="700"/>
              </a:spcAft>
            </a:pPr>
            <a:r>
              <a:rPr lang="en-ID" sz="2700" b="1">
                <a:solidFill>
                  <a:srgbClr val="162338"/>
                </a:solidFill>
                <a:latin typeface="Aptos" panose="020B0004020202020204" pitchFamily="34" charset="0"/>
              </a:rPr>
              <a:t>Data yang konsisten untuk meninjau risiko keterlambatan</a:t>
            </a:r>
          </a:p>
        </p:txBody>
      </p:sp>
      <p:sp>
        <p:nvSpPr>
          <p:cNvPr id="5" name="TextBox 4">
            <a:extLst>
              <a:ext uri="{FF2B5EF4-FFF2-40B4-BE49-F238E27FC236}">
                <a16:creationId xmlns:a16="http://schemas.microsoft.com/office/drawing/2014/main" id="{EB32A14E-A91D-749F-B756-49E5F4121046}"/>
              </a:ext>
            </a:extLst>
          </p:cNvPr>
          <p:cNvSpPr txBox="1"/>
          <p:nvPr/>
        </p:nvSpPr>
        <p:spPr>
          <a:xfrm>
            <a:off x="609600" y="5664200"/>
            <a:ext cx="10972800" cy="276999"/>
          </a:xfrm>
          <a:prstGeom prst="rect">
            <a:avLst/>
          </a:prstGeom>
          <a:noFill/>
        </p:spPr>
        <p:txBody>
          <a:bodyPr vert="horz" wrap="square" lIns="0" tIns="0" rIns="0" bIns="0" rtlCol="0">
            <a:noAutofit/>
          </a:bodyPr>
          <a:lstStyle/>
          <a:p>
            <a:pPr>
              <a:spcAft>
                <a:spcPts val="700"/>
              </a:spcAft>
            </a:pPr>
            <a:r>
              <a:rPr lang="en-ID">
                <a:solidFill>
                  <a:srgbClr val="162338"/>
                </a:solidFill>
                <a:latin typeface="Aptos" panose="020B0004020202020204" pitchFamily="34" charset="0"/>
              </a:rPr>
              <a:t>Target tahap ini: rancangan solusi dan persiapan data yang dapat diaudit.</a:t>
            </a:r>
          </a:p>
        </p:txBody>
      </p:sp>
      <p:graphicFrame>
        <p:nvGraphicFramePr>
          <p:cNvPr id="6" name="Table 5">
            <a:extLst>
              <a:ext uri="{FF2B5EF4-FFF2-40B4-BE49-F238E27FC236}">
                <a16:creationId xmlns:a16="http://schemas.microsoft.com/office/drawing/2014/main" id="{520A76D8-FA4A-AB5E-D523-CF3C857C6780}"/>
              </a:ext>
            </a:extLst>
          </p:cNvPr>
          <p:cNvGraphicFramePr>
            <a:graphicFrameLocks noGrp="1"/>
          </p:cNvGraphicFramePr>
          <p:nvPr>
            <p:extLst>
              <p:ext uri="{D42A27DB-BD31-4B8C-83A1-F6EECF244321}">
                <p14:modId xmlns:p14="http://schemas.microsoft.com/office/powerpoint/2010/main" val="3580002100"/>
              </p:ext>
            </p:extLst>
          </p:nvPr>
        </p:nvGraphicFramePr>
        <p:xfrm>
          <a:off x="609600" y="2743200"/>
          <a:ext cx="10972800" cy="2603500"/>
        </p:xfrm>
        <a:graphic>
          <a:graphicData uri="http://schemas.openxmlformats.org/drawingml/2006/table">
            <a:tbl>
              <a:tblPr firstRow="1" bandRow="1">
                <a:tableStyleId>{5C22544A-7EE6-4342-B048-85BDC9FD1C3A}</a:tableStyleId>
              </a:tblPr>
              <a:tblGrid>
                <a:gridCol w="3810000">
                  <a:extLst>
                    <a:ext uri="{9D8B030D-6E8A-4147-A177-3AD203B41FA5}">
                      <a16:colId xmlns:a16="http://schemas.microsoft.com/office/drawing/2014/main" val="3060921329"/>
                    </a:ext>
                  </a:extLst>
                </a:gridCol>
                <a:gridCol w="7162800">
                  <a:extLst>
                    <a:ext uri="{9D8B030D-6E8A-4147-A177-3AD203B41FA5}">
                      <a16:colId xmlns:a16="http://schemas.microsoft.com/office/drawing/2014/main" val="2605042157"/>
                    </a:ext>
                  </a:extLst>
                </a:gridCol>
              </a:tblGrid>
              <a:tr h="650875">
                <a:tc>
                  <a:txBody>
                    <a:bodyPr/>
                    <a:lstStyle/>
                    <a:p>
                      <a:r>
                        <a:rPr lang="en-ID" sz="2000" b="1">
                          <a:solidFill>
                            <a:srgbClr val="FFFFFF"/>
                          </a:solidFill>
                          <a:latin typeface="Aptos" panose="020B0004020202020204" pitchFamily="34" charset="0"/>
                        </a:rPr>
                        <a:t>Pengguna</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000" b="1">
                          <a:solidFill>
                            <a:srgbClr val="FFFFFF"/>
                          </a:solidFill>
                          <a:latin typeface="Aptos" panose="020B0004020202020204" pitchFamily="34" charset="0"/>
                        </a:rPr>
                        <a:t>Keputusan yang didukung</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1825489910"/>
                  </a:ext>
                </a:extLst>
              </a:tr>
              <a:tr h="650875">
                <a:tc>
                  <a:txBody>
                    <a:bodyPr/>
                    <a:lstStyle/>
                    <a:p>
                      <a:r>
                        <a:rPr lang="en-ID" sz="2000" b="0">
                          <a:solidFill>
                            <a:srgbClr val="162338"/>
                          </a:solidFill>
                          <a:latin typeface="Aptos" panose="020B0004020202020204" pitchFamily="34" charset="0"/>
                        </a:rPr>
                        <a:t>Logistics</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Prioritas investigasi rute</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867931712"/>
                  </a:ext>
                </a:extLst>
              </a:tr>
              <a:tr h="650875">
                <a:tc>
                  <a:txBody>
                    <a:bodyPr/>
                    <a:lstStyle/>
                    <a:p>
                      <a:r>
                        <a:rPr lang="en-ID" sz="2000" b="0">
                          <a:solidFill>
                            <a:srgbClr val="162338"/>
                          </a:solidFill>
                          <a:latin typeface="Aptos" panose="020B0004020202020204" pitchFamily="34" charset="0"/>
                        </a:rPr>
                        <a:t>Merchant Performance</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Peninjauan risiko order setelah approval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1469068655"/>
                  </a:ext>
                </a:extLst>
              </a:tr>
              <a:tr h="650875">
                <a:tc>
                  <a:txBody>
                    <a:bodyPr/>
                    <a:lstStyle/>
                    <a:p>
                      <a:r>
                        <a:rPr lang="en-ID" sz="2000" b="0">
                          <a:solidFill>
                            <a:srgbClr val="162338"/>
                          </a:solidFill>
                          <a:latin typeface="Aptos" panose="020B0004020202020204" pitchFamily="34" charset="0"/>
                        </a:rPr>
                        <a:t>Executive Management</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Pemantauan performa agregat</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1698320966"/>
                  </a:ext>
                </a:extLst>
              </a:tr>
            </a:tbl>
          </a:graphicData>
        </a:graphic>
      </p:graphicFrame>
      <p:sp>
        <p:nvSpPr>
          <p:cNvPr id="7" name="TextBox 6">
            <a:extLst>
              <a:ext uri="{FF2B5EF4-FFF2-40B4-BE49-F238E27FC236}">
                <a16:creationId xmlns:a16="http://schemas.microsoft.com/office/drawing/2014/main" id="{03AE7231-C6F5-7EDF-BAF1-F8DCF96301F4}"/>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03 / 11</a:t>
            </a:r>
          </a:p>
        </p:txBody>
      </p:sp>
    </p:spTree>
    <p:extLst>
      <p:ext uri="{BB962C8B-B14F-4D97-AF65-F5344CB8AC3E}">
        <p14:creationId xmlns:p14="http://schemas.microsoft.com/office/powerpoint/2010/main" val="24407926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0BE8BF8-AB8B-B29A-62D0-A03E8F23D3B8}"/>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en-ID" sz="3200" b="1">
                <a:solidFill>
                  <a:srgbClr val="162338"/>
                </a:solidFill>
                <a:latin typeface="Aptos" panose="020B0004020202020204" pitchFamily="34" charset="0"/>
              </a:rPr>
              <a:t>Konteks pasar dan urgensi bisnis</a:t>
            </a:r>
          </a:p>
        </p:txBody>
      </p:sp>
      <p:sp>
        <p:nvSpPr>
          <p:cNvPr id="3" name="TextBox 2">
            <a:extLst>
              <a:ext uri="{FF2B5EF4-FFF2-40B4-BE49-F238E27FC236}">
                <a16:creationId xmlns:a16="http://schemas.microsoft.com/office/drawing/2014/main" id="{AB1E2BA5-6541-ECA2-FB5E-251194E9F8F1}"/>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Sumber: DHL Group (2026), OECD (2019). Tautan lengkap di speaker notes.</a:t>
            </a:r>
          </a:p>
        </p:txBody>
      </p:sp>
      <p:sp>
        <p:nvSpPr>
          <p:cNvPr id="4" name="TextBox 3">
            <a:extLst>
              <a:ext uri="{FF2B5EF4-FFF2-40B4-BE49-F238E27FC236}">
                <a16:creationId xmlns:a16="http://schemas.microsoft.com/office/drawing/2014/main" id="{E811CA9E-AF66-21C1-E088-228C58FB849D}"/>
              </a:ext>
            </a:extLst>
          </p:cNvPr>
          <p:cNvSpPr txBox="1"/>
          <p:nvPr/>
        </p:nvSpPr>
        <p:spPr>
          <a:xfrm>
            <a:off x="609600" y="1587500"/>
            <a:ext cx="4191000" cy="276999"/>
          </a:xfrm>
          <a:prstGeom prst="rect">
            <a:avLst/>
          </a:prstGeom>
          <a:noFill/>
        </p:spPr>
        <p:txBody>
          <a:bodyPr vert="horz" wrap="square" lIns="0" tIns="0" rIns="0" bIns="0" rtlCol="0">
            <a:noAutofit/>
          </a:bodyPr>
          <a:lstStyle/>
          <a:p>
            <a:pPr>
              <a:spcAft>
                <a:spcPts val="700"/>
              </a:spcAft>
            </a:pPr>
            <a:r>
              <a:rPr lang="en-ID" sz="6400" b="1">
                <a:solidFill>
                  <a:srgbClr val="007084"/>
                </a:solidFill>
                <a:latin typeface="Aptos" panose="020B0004020202020204" pitchFamily="34" charset="0"/>
              </a:rPr>
              <a:t>20%</a:t>
            </a:r>
          </a:p>
        </p:txBody>
      </p:sp>
      <p:sp>
        <p:nvSpPr>
          <p:cNvPr id="5" name="TextBox 4">
            <a:extLst>
              <a:ext uri="{FF2B5EF4-FFF2-40B4-BE49-F238E27FC236}">
                <a16:creationId xmlns:a16="http://schemas.microsoft.com/office/drawing/2014/main" id="{4C45FCD7-B953-8D07-4ABD-2E53F5F2B396}"/>
              </a:ext>
            </a:extLst>
          </p:cNvPr>
          <p:cNvSpPr txBox="1"/>
          <p:nvPr/>
        </p:nvSpPr>
        <p:spPr>
          <a:xfrm>
            <a:off x="609600" y="3149600"/>
            <a:ext cx="5080000" cy="276999"/>
          </a:xfrm>
          <a:prstGeom prst="rect">
            <a:avLst/>
          </a:prstGeom>
          <a:noFill/>
        </p:spPr>
        <p:txBody>
          <a:bodyPr vert="horz" wrap="square" lIns="0" tIns="0" rIns="0" bIns="0" rtlCol="0">
            <a:noAutofit/>
          </a:bodyPr>
          <a:lstStyle/>
          <a:p>
            <a:pPr>
              <a:spcAft>
                <a:spcPts val="700"/>
              </a:spcAft>
            </a:pPr>
            <a:r>
              <a:rPr lang="en-ID" sz="2500">
                <a:solidFill>
                  <a:srgbClr val="162338"/>
                </a:solidFill>
                <a:latin typeface="Aptos" panose="020B0004020202020204" pitchFamily="34" charset="0"/>
              </a:rPr>
              <a:t>Preferensi pengiriman lebih cepat</a:t>
            </a:r>
          </a:p>
          <a:p>
            <a:pPr>
              <a:spcAft>
                <a:spcPts val="700"/>
              </a:spcAft>
            </a:pPr>
            <a:r>
              <a:rPr lang="en-ID" sz="2500">
                <a:solidFill>
                  <a:srgbClr val="162338"/>
                </a:solidFill>
                <a:latin typeface="Aptos" panose="020B0004020202020204" pitchFamily="34" charset="0"/>
              </a:rPr>
              <a:t>dalam survei DHL 2026</a:t>
            </a:r>
          </a:p>
        </p:txBody>
      </p:sp>
      <p:sp>
        <p:nvSpPr>
          <p:cNvPr id="6" name="TextBox 5">
            <a:extLst>
              <a:ext uri="{FF2B5EF4-FFF2-40B4-BE49-F238E27FC236}">
                <a16:creationId xmlns:a16="http://schemas.microsoft.com/office/drawing/2014/main" id="{B3DDF9BF-F83F-6181-FEB3-55D1EDB90550}"/>
              </a:ext>
            </a:extLst>
          </p:cNvPr>
          <p:cNvSpPr txBox="1"/>
          <p:nvPr/>
        </p:nvSpPr>
        <p:spPr>
          <a:xfrm>
            <a:off x="5969000" y="1739900"/>
            <a:ext cx="5588000" cy="276999"/>
          </a:xfrm>
          <a:prstGeom prst="rect">
            <a:avLst/>
          </a:prstGeom>
          <a:noFill/>
        </p:spPr>
        <p:txBody>
          <a:bodyPr vert="horz" wrap="square" lIns="0" tIns="0" rIns="0" bIns="0" rtlCol="0">
            <a:noAutofit/>
          </a:bodyPr>
          <a:lstStyle/>
          <a:p>
            <a:pPr>
              <a:spcAft>
                <a:spcPts val="700"/>
              </a:spcAft>
            </a:pPr>
            <a:r>
              <a:rPr lang="en-ID" sz="2700" b="1">
                <a:solidFill>
                  <a:srgbClr val="162338"/>
                </a:solidFill>
                <a:latin typeface="Aptos" panose="020B0004020202020204" pitchFamily="34" charset="0"/>
              </a:rPr>
              <a:t>Kepercayaan pada platform</a:t>
            </a:r>
          </a:p>
        </p:txBody>
      </p:sp>
      <p:sp>
        <p:nvSpPr>
          <p:cNvPr id="7" name="TextBox 6">
            <a:extLst>
              <a:ext uri="{FF2B5EF4-FFF2-40B4-BE49-F238E27FC236}">
                <a16:creationId xmlns:a16="http://schemas.microsoft.com/office/drawing/2014/main" id="{6CE5E7DC-E105-A3EF-77BB-AF5103B5A644}"/>
              </a:ext>
            </a:extLst>
          </p:cNvPr>
          <p:cNvSpPr txBox="1"/>
          <p:nvPr/>
        </p:nvSpPr>
        <p:spPr>
          <a:xfrm>
            <a:off x="5969000" y="2895600"/>
            <a:ext cx="5588000" cy="276999"/>
          </a:xfrm>
          <a:prstGeom prst="rect">
            <a:avLst/>
          </a:prstGeom>
          <a:noFill/>
        </p:spPr>
        <p:txBody>
          <a:bodyPr vert="horz" wrap="square" lIns="0" tIns="0" rIns="0" bIns="0" rtlCol="0">
            <a:noAutofit/>
          </a:bodyPr>
          <a:lstStyle/>
          <a:p>
            <a:pPr>
              <a:spcAft>
                <a:spcPts val="700"/>
              </a:spcAft>
            </a:pPr>
            <a:r>
              <a:rPr lang="en-ID" sz="2600">
                <a:solidFill>
                  <a:srgbClr val="162338"/>
                </a:solidFill>
                <a:latin typeface="Aptos" panose="020B0004020202020204" pitchFamily="34" charset="0"/>
              </a:rPr>
              <a:t>OECD menjelaskan peran</a:t>
            </a:r>
          </a:p>
          <a:p>
            <a:pPr>
              <a:spcAft>
                <a:spcPts val="700"/>
              </a:spcAft>
            </a:pPr>
            <a:r>
              <a:rPr lang="en-ID" sz="2600">
                <a:solidFill>
                  <a:srgbClr val="162338"/>
                </a:solidFill>
                <a:latin typeface="Aptos" panose="020B0004020202020204" pitchFamily="34" charset="0"/>
              </a:rPr>
              <a:t>ulasan dan rating.</a:t>
            </a:r>
          </a:p>
        </p:txBody>
      </p:sp>
      <p:sp>
        <p:nvSpPr>
          <p:cNvPr id="8" name="TextBox 7">
            <a:extLst>
              <a:ext uri="{FF2B5EF4-FFF2-40B4-BE49-F238E27FC236}">
                <a16:creationId xmlns:a16="http://schemas.microsoft.com/office/drawing/2014/main" id="{7F24667D-BFA4-42EF-36BC-9D8EF180E42D}"/>
              </a:ext>
            </a:extLst>
          </p:cNvPr>
          <p:cNvSpPr txBox="1"/>
          <p:nvPr/>
        </p:nvSpPr>
        <p:spPr>
          <a:xfrm>
            <a:off x="609600" y="5676900"/>
            <a:ext cx="10972800" cy="276999"/>
          </a:xfrm>
          <a:prstGeom prst="rect">
            <a:avLst/>
          </a:prstGeom>
          <a:noFill/>
        </p:spPr>
        <p:txBody>
          <a:bodyPr vert="horz" wrap="square" lIns="0" tIns="0" rIns="0" bIns="0" rtlCol="0">
            <a:noAutofit/>
          </a:bodyPr>
          <a:lstStyle/>
          <a:p>
            <a:pPr>
              <a:spcAft>
                <a:spcPts val="700"/>
              </a:spcAft>
            </a:pPr>
            <a:r>
              <a:rPr lang="en-ID" sz="2000">
                <a:solidFill>
                  <a:srgbClr val="162338"/>
                </a:solidFill>
                <a:latin typeface="Aptos" panose="020B0004020202020204" pitchFamily="34" charset="0"/>
              </a:rPr>
              <a:t>Konteks global berbeda dari data Olist 2016–2018.</a:t>
            </a:r>
          </a:p>
        </p:txBody>
      </p:sp>
      <p:sp>
        <p:nvSpPr>
          <p:cNvPr id="9" name="TextBox 8">
            <a:extLst>
              <a:ext uri="{FF2B5EF4-FFF2-40B4-BE49-F238E27FC236}">
                <a16:creationId xmlns:a16="http://schemas.microsoft.com/office/drawing/2014/main" id="{9B13268F-12D0-3394-B3BF-A67B0748274F}"/>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04 / 11</a:t>
            </a:r>
          </a:p>
        </p:txBody>
      </p:sp>
    </p:spTree>
    <p:extLst>
      <p:ext uri="{BB962C8B-B14F-4D97-AF65-F5344CB8AC3E}">
        <p14:creationId xmlns:p14="http://schemas.microsoft.com/office/powerpoint/2010/main" val="4740380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D9A79A-EC2F-CB1B-4AD8-D7136C2167CF}"/>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sv-SE" sz="3200" b="1">
                <a:solidFill>
                  <a:srgbClr val="162338"/>
                </a:solidFill>
                <a:latin typeface="Aptos" panose="020B0004020202020204" pitchFamily="34" charset="0"/>
              </a:rPr>
              <a:t>Tech stack dan alasan pemilihan</a:t>
            </a:r>
            <a:endParaRPr lang="en-ID" sz="3200" b="1">
              <a:solidFill>
                <a:srgbClr val="162338"/>
              </a:solidFill>
              <a:latin typeface="Aptos" panose="020B0004020202020204" pitchFamily="34" charset="0"/>
            </a:endParaRPr>
          </a:p>
        </p:txBody>
      </p:sp>
      <p:sp>
        <p:nvSpPr>
          <p:cNvPr id="3" name="TextBox 2">
            <a:extLst>
              <a:ext uri="{FF2B5EF4-FFF2-40B4-BE49-F238E27FC236}">
                <a16:creationId xmlns:a16="http://schemas.microsoft.com/office/drawing/2014/main" id="{0D7F5126-2C02-1F31-9914-8E8396232CBC}"/>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Sumber: requirements.txt, panduan notebook dan laporan bagian 2.4.</a:t>
            </a:r>
          </a:p>
        </p:txBody>
      </p:sp>
      <p:sp>
        <p:nvSpPr>
          <p:cNvPr id="4" name="TextBox 3">
            <a:extLst>
              <a:ext uri="{FF2B5EF4-FFF2-40B4-BE49-F238E27FC236}">
                <a16:creationId xmlns:a16="http://schemas.microsoft.com/office/drawing/2014/main" id="{B6C3B870-D1F4-3399-D638-1F0E7785BA30}"/>
              </a:ext>
            </a:extLst>
          </p:cNvPr>
          <p:cNvSpPr txBox="1"/>
          <p:nvPr/>
        </p:nvSpPr>
        <p:spPr>
          <a:xfrm>
            <a:off x="609600" y="6007100"/>
            <a:ext cx="10972800" cy="276999"/>
          </a:xfrm>
          <a:prstGeom prst="rect">
            <a:avLst/>
          </a:prstGeom>
          <a:noFill/>
        </p:spPr>
        <p:txBody>
          <a:bodyPr vert="horz" wrap="square" lIns="0" tIns="0" rIns="0" bIns="0" rtlCol="0">
            <a:noAutofit/>
          </a:bodyPr>
          <a:lstStyle/>
          <a:p>
            <a:pPr>
              <a:spcAft>
                <a:spcPts val="700"/>
              </a:spcAft>
            </a:pPr>
            <a:r>
              <a:rPr lang="en-ID" sz="1700">
                <a:solidFill>
                  <a:srgbClr val="162338"/>
                </a:solidFill>
                <a:latin typeface="Aptos" panose="020B0004020202020204" pitchFamily="34" charset="0"/>
              </a:rPr>
              <a:t>Spark local[4]: satu mesin. Kapasitas cluster belum diuji.</a:t>
            </a:r>
          </a:p>
        </p:txBody>
      </p:sp>
      <p:graphicFrame>
        <p:nvGraphicFramePr>
          <p:cNvPr id="5" name="Table 4">
            <a:extLst>
              <a:ext uri="{FF2B5EF4-FFF2-40B4-BE49-F238E27FC236}">
                <a16:creationId xmlns:a16="http://schemas.microsoft.com/office/drawing/2014/main" id="{390EE1FE-C3F2-6234-20CB-1E2F3029009C}"/>
              </a:ext>
            </a:extLst>
          </p:cNvPr>
          <p:cNvGraphicFramePr>
            <a:graphicFrameLocks noGrp="1"/>
          </p:cNvGraphicFramePr>
          <p:nvPr>
            <p:extLst>
              <p:ext uri="{D42A27DB-BD31-4B8C-83A1-F6EECF244321}">
                <p14:modId xmlns:p14="http://schemas.microsoft.com/office/powerpoint/2010/main" val="2232039345"/>
              </p:ext>
            </p:extLst>
          </p:nvPr>
        </p:nvGraphicFramePr>
        <p:xfrm>
          <a:off x="609600" y="1498600"/>
          <a:ext cx="10972800" cy="4038600"/>
        </p:xfrm>
        <a:graphic>
          <a:graphicData uri="http://schemas.openxmlformats.org/drawingml/2006/table">
            <a:tbl>
              <a:tblPr firstRow="1" bandRow="1">
                <a:tableStyleId>{5C22544A-7EE6-4342-B048-85BDC9FD1C3A}</a:tableStyleId>
              </a:tblPr>
              <a:tblGrid>
                <a:gridCol w="2895600">
                  <a:extLst>
                    <a:ext uri="{9D8B030D-6E8A-4147-A177-3AD203B41FA5}">
                      <a16:colId xmlns:a16="http://schemas.microsoft.com/office/drawing/2014/main" val="1103382542"/>
                    </a:ext>
                  </a:extLst>
                </a:gridCol>
                <a:gridCol w="3302000">
                  <a:extLst>
                    <a:ext uri="{9D8B030D-6E8A-4147-A177-3AD203B41FA5}">
                      <a16:colId xmlns:a16="http://schemas.microsoft.com/office/drawing/2014/main" val="4267655143"/>
                    </a:ext>
                  </a:extLst>
                </a:gridCol>
                <a:gridCol w="4775200">
                  <a:extLst>
                    <a:ext uri="{9D8B030D-6E8A-4147-A177-3AD203B41FA5}">
                      <a16:colId xmlns:a16="http://schemas.microsoft.com/office/drawing/2014/main" val="2058478837"/>
                    </a:ext>
                  </a:extLst>
                </a:gridCol>
              </a:tblGrid>
              <a:tr h="576943">
                <a:tc>
                  <a:txBody>
                    <a:bodyPr/>
                    <a:lstStyle/>
                    <a:p>
                      <a:r>
                        <a:rPr lang="en-ID" sz="1700" b="1">
                          <a:solidFill>
                            <a:srgbClr val="FFFFFF"/>
                          </a:solidFill>
                          <a:latin typeface="Aptos" panose="020B0004020202020204" pitchFamily="34" charset="0"/>
                        </a:rPr>
                        <a:t>Teknologi</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1700" b="1">
                          <a:solidFill>
                            <a:srgbClr val="FFFFFF"/>
                          </a:solidFill>
                          <a:latin typeface="Aptos" panose="020B0004020202020204" pitchFamily="34" charset="0"/>
                        </a:rPr>
                        <a:t>Peran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1700" b="1">
                          <a:solidFill>
                            <a:srgbClr val="FFFFFF"/>
                          </a:solidFill>
                          <a:latin typeface="Aptos" panose="020B0004020202020204" pitchFamily="34" charset="0"/>
                        </a:rPr>
                        <a:t>Alasan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3851635838"/>
                  </a:ext>
                </a:extLst>
              </a:tr>
              <a:tr h="576943">
                <a:tc>
                  <a:txBody>
                    <a:bodyPr/>
                    <a:lstStyle/>
                    <a:p>
                      <a:r>
                        <a:rPr lang="nl-NL" sz="1700" b="0">
                          <a:solidFill>
                            <a:srgbClr val="162338"/>
                          </a:solidFill>
                          <a:latin typeface="Aptos" panose="020B0004020202020204" pitchFamily="34" charset="0"/>
                        </a:rPr>
                        <a:t>Python 3.11, VS Code
dan Jupyter</a:t>
                      </a:r>
                      <a:endParaRPr lang="en-ID" sz="1700" b="0">
                        <a:solidFill>
                          <a:srgbClr val="162338"/>
                        </a:solidFill>
                        <a:latin typeface="Aptos" panose="020B0004020202020204" pitchFamily="34" charset="0"/>
                      </a:endParaRP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Kode dan notebook</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Pengembangan dan output per sel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3309911641"/>
                  </a:ext>
                </a:extLst>
              </a:tr>
              <a:tr h="576943">
                <a:tc>
                  <a:txBody>
                    <a:bodyPr/>
                    <a:lstStyle/>
                    <a:p>
                      <a:r>
                        <a:rPr lang="nl-NL" sz="1700" b="0">
                          <a:solidFill>
                            <a:srgbClr val="162338"/>
                          </a:solidFill>
                          <a:latin typeface="Aptos" panose="020B0004020202020204" pitchFamily="34" charset="0"/>
                        </a:rPr>
                        <a:t>PySpark 4.0.4
dan Java 17</a:t>
                      </a:r>
                      <a:endParaRPr lang="en-ID" sz="1700" b="0">
                        <a:solidFill>
                          <a:srgbClr val="162338"/>
                        </a:solidFill>
                        <a:latin typeface="Aptos" panose="020B0004020202020204" pitchFamily="34" charset="0"/>
                      </a:endParaRP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Transformasi tabel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Integrasi DataFrame dan MLlib</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2292406950"/>
                  </a:ext>
                </a:extLst>
              </a:tr>
              <a:tr h="576943">
                <a:tc>
                  <a:txBody>
                    <a:bodyPr/>
                    <a:lstStyle/>
                    <a:p>
                      <a:r>
                        <a:rPr lang="en-ID" sz="1700" b="0">
                          <a:solidFill>
                            <a:srgbClr val="162338"/>
                          </a:solidFill>
                          <a:latin typeface="Aptos" panose="020B0004020202020204" pitchFamily="34" charset="0"/>
                        </a:rPr>
                        <a:t>Parquet + Snappy</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Penyimpanan bertipe</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Format columnar dan kompresi</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2322838619"/>
                  </a:ext>
                </a:extLst>
              </a:tr>
              <a:tr h="576943">
                <a:tc>
                  <a:txBody>
                    <a:bodyPr/>
                    <a:lstStyle/>
                    <a:p>
                      <a:r>
                        <a:rPr lang="en-ID" sz="1700" b="0">
                          <a:solidFill>
                            <a:srgbClr val="162338"/>
                          </a:solidFill>
                          <a:latin typeface="Aptos" panose="020B0004020202020204" pitchFamily="34" charset="0"/>
                        </a:rPr>
                        <a:t>MLlib Random Forest</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Eksplorasi risiko delay</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Model klasifikasi dalam Spark</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4057789871"/>
                  </a:ext>
                </a:extLst>
              </a:tr>
              <a:tr h="576943">
                <a:tc>
                  <a:txBody>
                    <a:bodyPr/>
                    <a:lstStyle/>
                    <a:p>
                      <a:r>
                        <a:rPr lang="en-ID" sz="1700" b="0">
                          <a:solidFill>
                            <a:srgbClr val="162338"/>
                          </a:solidFill>
                          <a:latin typeface="Aptos" panose="020B0004020202020204" pitchFamily="34" charset="0"/>
                        </a:rPr>
                        <a:t>pandas + NetworkX</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Analisis jaringan state</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Graf kecil dalam memori</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1677890336"/>
                  </a:ext>
                </a:extLst>
              </a:tr>
              <a:tr h="576943">
                <a:tc>
                  <a:txBody>
                    <a:bodyPr/>
                    <a:lstStyle/>
                    <a:p>
                      <a:r>
                        <a:rPr lang="en-ID" sz="1700" b="0">
                          <a:solidFill>
                            <a:srgbClr val="162338"/>
                          </a:solidFill>
                          <a:latin typeface="Aptos" panose="020B0004020202020204" pitchFamily="34" charset="0"/>
                        </a:rPr>
                        <a:t>Git + GitHub</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Versi dan dokumentasi</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700" b="0">
                          <a:solidFill>
                            <a:srgbClr val="162338"/>
                          </a:solidFill>
                          <a:latin typeface="Aptos" panose="020B0004020202020204" pitchFamily="34" charset="0"/>
                        </a:rPr>
                        <a:t>Kelanjutan kerja lintas perangkat</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98421551"/>
                  </a:ext>
                </a:extLst>
              </a:tr>
            </a:tbl>
          </a:graphicData>
        </a:graphic>
      </p:graphicFrame>
      <p:sp>
        <p:nvSpPr>
          <p:cNvPr id="6" name="TextBox 5">
            <a:extLst>
              <a:ext uri="{FF2B5EF4-FFF2-40B4-BE49-F238E27FC236}">
                <a16:creationId xmlns:a16="http://schemas.microsoft.com/office/drawing/2014/main" id="{E02C3BFC-35F9-6A8E-AD3E-3B62699E25C3}"/>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05 / 11</a:t>
            </a:r>
          </a:p>
        </p:txBody>
      </p:sp>
    </p:spTree>
    <p:extLst>
      <p:ext uri="{BB962C8B-B14F-4D97-AF65-F5344CB8AC3E}">
        <p14:creationId xmlns:p14="http://schemas.microsoft.com/office/powerpoint/2010/main" val="3324402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6AA33E-D173-7688-630B-70C85358A0B7}"/>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es-ES" sz="3200" b="1">
                <a:solidFill>
                  <a:srgbClr val="162338"/>
                </a:solidFill>
                <a:latin typeface="Aptos" panose="020B0004020202020204" pitchFamily="34" charset="0"/>
              </a:rPr>
              <a:t>Alur pipeline dan batas implementasi</a:t>
            </a:r>
            <a:endParaRPr lang="en-ID" sz="3200" b="1">
              <a:solidFill>
                <a:srgbClr val="162338"/>
              </a:solidFill>
              <a:latin typeface="Aptos" panose="020B0004020202020204" pitchFamily="34" charset="0"/>
            </a:endParaRPr>
          </a:p>
        </p:txBody>
      </p:sp>
      <p:sp>
        <p:nvSpPr>
          <p:cNvPr id="3" name="TextBox 2">
            <a:extLst>
              <a:ext uri="{FF2B5EF4-FFF2-40B4-BE49-F238E27FC236}">
                <a16:creationId xmlns:a16="http://schemas.microsoft.com/office/drawing/2014/main" id="{7229F94E-4F12-79A9-0FFF-6F7337EB79D5}"/>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Sumber: notebook 01–03 dan laporan Bab 2/4. Seluruh proses berjalan lokal.</a:t>
            </a:r>
          </a:p>
        </p:txBody>
      </p:sp>
      <p:sp>
        <p:nvSpPr>
          <p:cNvPr id="4" name="TextBox 3">
            <a:extLst>
              <a:ext uri="{FF2B5EF4-FFF2-40B4-BE49-F238E27FC236}">
                <a16:creationId xmlns:a16="http://schemas.microsoft.com/office/drawing/2014/main" id="{71EDFEC2-5977-794E-FF83-16B4DF27E5C9}"/>
              </a:ext>
            </a:extLst>
          </p:cNvPr>
          <p:cNvSpPr txBox="1"/>
          <p:nvPr/>
        </p:nvSpPr>
        <p:spPr>
          <a:xfrm>
            <a:off x="609600" y="5562600"/>
            <a:ext cx="10972800" cy="276999"/>
          </a:xfrm>
          <a:prstGeom prst="rect">
            <a:avLst/>
          </a:prstGeom>
          <a:noFill/>
        </p:spPr>
        <p:txBody>
          <a:bodyPr vert="horz" wrap="square" lIns="0" tIns="0" rIns="0" bIns="0" rtlCol="0">
            <a:noAutofit/>
          </a:bodyPr>
          <a:lstStyle/>
          <a:p>
            <a:pPr>
              <a:spcAft>
                <a:spcPts val="700"/>
              </a:spcAft>
            </a:pPr>
            <a:r>
              <a:rPr lang="en-US" sz="2100">
                <a:solidFill>
                  <a:srgbClr val="162338"/>
                </a:solidFill>
                <a:latin typeface="Aptos" panose="020B0004020202020204" pitchFamily="34" charset="0"/>
              </a:rPr>
              <a:t>Fitur: satu baris per order. Item/payment diagregasi sebelum join.</a:t>
            </a:r>
            <a:endParaRPr lang="en-ID" sz="2100">
              <a:solidFill>
                <a:srgbClr val="162338"/>
              </a:solidFill>
              <a:latin typeface="Aptos" panose="020B0004020202020204" pitchFamily="34" charset="0"/>
            </a:endParaRPr>
          </a:p>
        </p:txBody>
      </p:sp>
      <p:graphicFrame>
        <p:nvGraphicFramePr>
          <p:cNvPr id="5" name="Table 4">
            <a:extLst>
              <a:ext uri="{FF2B5EF4-FFF2-40B4-BE49-F238E27FC236}">
                <a16:creationId xmlns:a16="http://schemas.microsoft.com/office/drawing/2014/main" id="{E0EEDB2C-BC58-585F-004F-3AE997A805FE}"/>
              </a:ext>
            </a:extLst>
          </p:cNvPr>
          <p:cNvGraphicFramePr>
            <a:graphicFrameLocks noGrp="1"/>
          </p:cNvGraphicFramePr>
          <p:nvPr>
            <p:extLst>
              <p:ext uri="{D42A27DB-BD31-4B8C-83A1-F6EECF244321}">
                <p14:modId xmlns:p14="http://schemas.microsoft.com/office/powerpoint/2010/main" val="3973035977"/>
              </p:ext>
            </p:extLst>
          </p:nvPr>
        </p:nvGraphicFramePr>
        <p:xfrm>
          <a:off x="609600" y="1612900"/>
          <a:ext cx="10972800" cy="3619500"/>
        </p:xfrm>
        <a:graphic>
          <a:graphicData uri="http://schemas.openxmlformats.org/drawingml/2006/table">
            <a:tbl>
              <a:tblPr firstRow="1" bandRow="1">
                <a:tableStyleId>{5C22544A-7EE6-4342-B048-85BDC9FD1C3A}</a:tableStyleId>
              </a:tblPr>
              <a:tblGrid>
                <a:gridCol w="3302000">
                  <a:extLst>
                    <a:ext uri="{9D8B030D-6E8A-4147-A177-3AD203B41FA5}">
                      <a16:colId xmlns:a16="http://schemas.microsoft.com/office/drawing/2014/main" val="1713389200"/>
                    </a:ext>
                  </a:extLst>
                </a:gridCol>
                <a:gridCol w="7670800">
                  <a:extLst>
                    <a:ext uri="{9D8B030D-6E8A-4147-A177-3AD203B41FA5}">
                      <a16:colId xmlns:a16="http://schemas.microsoft.com/office/drawing/2014/main" val="694802021"/>
                    </a:ext>
                  </a:extLst>
                </a:gridCol>
              </a:tblGrid>
              <a:tr h="723900">
                <a:tc>
                  <a:txBody>
                    <a:bodyPr/>
                    <a:lstStyle/>
                    <a:p>
                      <a:r>
                        <a:rPr lang="en-ID" sz="2000" b="1">
                          <a:solidFill>
                            <a:srgbClr val="FFFFFF"/>
                          </a:solidFill>
                          <a:latin typeface="Aptos" panose="020B0004020202020204" pitchFamily="34" charset="0"/>
                        </a:rPr>
                        <a:t>Tahap</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000" b="1">
                          <a:solidFill>
                            <a:srgbClr val="FFFFFF"/>
                          </a:solidFill>
                          <a:latin typeface="Aptos" panose="020B0004020202020204" pitchFamily="34" charset="0"/>
                        </a:rPr>
                        <a:t>Proses dan hasil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1630946547"/>
                  </a:ext>
                </a:extLst>
              </a:tr>
              <a:tr h="723900">
                <a:tc>
                  <a:txBody>
                    <a:bodyPr/>
                    <a:lstStyle/>
                    <a:p>
                      <a:r>
                        <a:rPr lang="en-ID" sz="2000" b="0">
                          <a:solidFill>
                            <a:srgbClr val="162338"/>
                          </a:solidFill>
                          <a:latin typeface="Aptos" panose="020B0004020202020204" pitchFamily="34" charset="0"/>
                        </a:rPr>
                        <a:t>01. Ingestion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pt-BR" sz="2000" b="0">
                          <a:solidFill>
                            <a:srgbClr val="162338"/>
                          </a:solidFill>
                          <a:latin typeface="Aptos" panose="020B0004020202020204" pitchFamily="34" charset="0"/>
                        </a:rPr>
                        <a:t>CSV raw, validasi, Parquet Snappy</a:t>
                      </a:r>
                      <a:endParaRPr lang="en-ID" sz="2000" b="0">
                        <a:solidFill>
                          <a:srgbClr val="162338"/>
                        </a:solidFill>
                        <a:latin typeface="Aptos" panose="020B0004020202020204" pitchFamily="34" charset="0"/>
                      </a:endParaRP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2130999147"/>
                  </a:ext>
                </a:extLst>
              </a:tr>
              <a:tr h="723900">
                <a:tc>
                  <a:txBody>
                    <a:bodyPr/>
                    <a:lstStyle/>
                    <a:p>
                      <a:r>
                        <a:rPr lang="en-ID" sz="2000" b="0">
                          <a:solidFill>
                            <a:srgbClr val="162338"/>
                          </a:solidFill>
                          <a:latin typeface="Aptos" panose="020B0004020202020204" pitchFamily="34" charset="0"/>
                        </a:rPr>
                        <a:t>02. Fitur dan ML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Fitur per order, split, evaluasi model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78259379"/>
                  </a:ext>
                </a:extLst>
              </a:tr>
              <a:tr h="723900">
                <a:tc>
                  <a:txBody>
                    <a:bodyPr/>
                    <a:lstStyle/>
                    <a:p>
                      <a:r>
                        <a:rPr lang="en-ID" sz="2000" b="0">
                          <a:solidFill>
                            <a:srgbClr val="162338"/>
                          </a:solidFill>
                          <a:latin typeface="Aptos" panose="020B0004020202020204" pitchFamily="34" charset="0"/>
                        </a:rPr>
                        <a:t>03. Graf</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Jaringan state asal seller dan tujuan customer</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2998742159"/>
                  </a:ext>
                </a:extLst>
              </a:tr>
              <a:tr h="723900">
                <a:tc>
                  <a:txBody>
                    <a:bodyPr/>
                    <a:lstStyle/>
                    <a:p>
                      <a:r>
                        <a:rPr lang="en-ID" sz="2000" b="0">
                          <a:solidFill>
                            <a:srgbClr val="162338"/>
                          </a:solidFill>
                          <a:latin typeface="Aptos" panose="020B0004020202020204" pitchFamily="34" charset="0"/>
                        </a:rPr>
                        <a:t>Rancangan lanjutan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Warehouse konseptual; NoSQL/database graf/dashboard masih rencana</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9514758"/>
                  </a:ext>
                </a:extLst>
              </a:tr>
            </a:tbl>
          </a:graphicData>
        </a:graphic>
      </p:graphicFrame>
      <p:sp>
        <p:nvSpPr>
          <p:cNvPr id="6" name="TextBox 5">
            <a:extLst>
              <a:ext uri="{FF2B5EF4-FFF2-40B4-BE49-F238E27FC236}">
                <a16:creationId xmlns:a16="http://schemas.microsoft.com/office/drawing/2014/main" id="{D7510C63-B259-F3EA-DA99-ABF6F548AD05}"/>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06 / 11</a:t>
            </a:r>
          </a:p>
        </p:txBody>
      </p:sp>
    </p:spTree>
    <p:extLst>
      <p:ext uri="{BB962C8B-B14F-4D97-AF65-F5344CB8AC3E}">
        <p14:creationId xmlns:p14="http://schemas.microsoft.com/office/powerpoint/2010/main" val="21505099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06EC3D4-8F36-716D-AF0E-843980D9FDCD}"/>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pt-BR" sz="3200" b="1">
                <a:solidFill>
                  <a:srgbClr val="162338"/>
                </a:solidFill>
                <a:latin typeface="Aptos" panose="020B0004020202020204" pitchFamily="34" charset="0"/>
              </a:rPr>
              <a:t>Hasil ingestion dan kualitas data</a:t>
            </a:r>
            <a:endParaRPr lang="en-ID" sz="3200" b="1">
              <a:solidFill>
                <a:srgbClr val="162338"/>
              </a:solidFill>
              <a:latin typeface="Aptos" panose="020B0004020202020204" pitchFamily="34" charset="0"/>
            </a:endParaRPr>
          </a:p>
        </p:txBody>
      </p:sp>
      <p:sp>
        <p:nvSpPr>
          <p:cNvPr id="3" name="TextBox 2">
            <a:extLst>
              <a:ext uri="{FF2B5EF4-FFF2-40B4-BE49-F238E27FC236}">
                <a16:creationId xmlns:a16="http://schemas.microsoft.com/office/drawing/2014/main" id="{5460633C-3E99-BD5E-9BBA-35CE772B555E}"/>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Hasil demo ingestion yang telah dijalankan. Sumber: laporan ringkasan ingestion.</a:t>
            </a:r>
          </a:p>
        </p:txBody>
      </p:sp>
      <p:sp>
        <p:nvSpPr>
          <p:cNvPr id="4" name="TextBox 3">
            <a:extLst>
              <a:ext uri="{FF2B5EF4-FFF2-40B4-BE49-F238E27FC236}">
                <a16:creationId xmlns:a16="http://schemas.microsoft.com/office/drawing/2014/main" id="{B578D888-7767-7A9D-DA24-71987164808C}"/>
              </a:ext>
            </a:extLst>
          </p:cNvPr>
          <p:cNvSpPr txBox="1"/>
          <p:nvPr/>
        </p:nvSpPr>
        <p:spPr>
          <a:xfrm>
            <a:off x="609600" y="1612900"/>
            <a:ext cx="10972800" cy="276999"/>
          </a:xfrm>
          <a:prstGeom prst="rect">
            <a:avLst/>
          </a:prstGeom>
          <a:noFill/>
        </p:spPr>
        <p:txBody>
          <a:bodyPr vert="horz" wrap="square" lIns="0" tIns="0" rIns="0" bIns="0" rtlCol="0">
            <a:noAutofit/>
          </a:bodyPr>
          <a:lstStyle/>
          <a:p>
            <a:pPr>
              <a:spcAft>
                <a:spcPts val="700"/>
              </a:spcAft>
            </a:pPr>
            <a:r>
              <a:rPr lang="en-US" sz="2700" b="1">
                <a:solidFill>
                  <a:srgbClr val="007084"/>
                </a:solidFill>
                <a:latin typeface="Aptos" panose="020B0004020202020204" pitchFamily="34" charset="0"/>
              </a:rPr>
              <a:t>PASS: 9 tabel, status round-trip tersimpan semuanya True</a:t>
            </a:r>
            <a:endParaRPr lang="en-ID" sz="2700" b="1">
              <a:solidFill>
                <a:srgbClr val="007084"/>
              </a:solidFill>
              <a:latin typeface="Aptos" panose="020B0004020202020204" pitchFamily="34" charset="0"/>
            </a:endParaRPr>
          </a:p>
        </p:txBody>
      </p:sp>
      <p:sp>
        <p:nvSpPr>
          <p:cNvPr id="5" name="TextBox 4">
            <a:extLst>
              <a:ext uri="{FF2B5EF4-FFF2-40B4-BE49-F238E27FC236}">
                <a16:creationId xmlns:a16="http://schemas.microsoft.com/office/drawing/2014/main" id="{C362ADC0-6E61-0EBD-CF3E-AE22CF917877}"/>
              </a:ext>
            </a:extLst>
          </p:cNvPr>
          <p:cNvSpPr txBox="1"/>
          <p:nvPr/>
        </p:nvSpPr>
        <p:spPr>
          <a:xfrm>
            <a:off x="609600" y="4445000"/>
            <a:ext cx="10972800" cy="276999"/>
          </a:xfrm>
          <a:prstGeom prst="rect">
            <a:avLst/>
          </a:prstGeom>
          <a:noFill/>
        </p:spPr>
        <p:txBody>
          <a:bodyPr vert="horz" wrap="square" lIns="0" tIns="0" rIns="0" bIns="0" rtlCol="0">
            <a:noAutofit/>
          </a:bodyPr>
          <a:lstStyle/>
          <a:p>
            <a:pPr>
              <a:spcAft>
                <a:spcPts val="700"/>
              </a:spcAft>
            </a:pPr>
            <a:r>
              <a:rPr lang="en-ID" sz="2400">
                <a:solidFill>
                  <a:srgbClr val="162338"/>
                </a:solidFill>
                <a:latin typeface="Aptos" panose="020B0004020202020204" pitchFamily="34" charset="0"/>
              </a:rPr>
              <a:t>Raw tetap utuh. Validasi tipe, ID/key, jumlah baris dan null profile.</a:t>
            </a:r>
          </a:p>
        </p:txBody>
      </p:sp>
      <p:sp>
        <p:nvSpPr>
          <p:cNvPr id="6" name="TextBox 5">
            <a:extLst>
              <a:ext uri="{FF2B5EF4-FFF2-40B4-BE49-F238E27FC236}">
                <a16:creationId xmlns:a16="http://schemas.microsoft.com/office/drawing/2014/main" id="{316B5D75-FD12-1BBF-234E-B2A121E5942B}"/>
              </a:ext>
            </a:extLst>
          </p:cNvPr>
          <p:cNvSpPr txBox="1"/>
          <p:nvPr/>
        </p:nvSpPr>
        <p:spPr>
          <a:xfrm>
            <a:off x="609600" y="5651500"/>
            <a:ext cx="10972800" cy="276999"/>
          </a:xfrm>
          <a:prstGeom prst="rect">
            <a:avLst/>
          </a:prstGeom>
          <a:noFill/>
        </p:spPr>
        <p:txBody>
          <a:bodyPr vert="horz" wrap="square" lIns="0" tIns="0" rIns="0" bIns="0" rtlCol="0">
            <a:noAutofit/>
          </a:bodyPr>
          <a:lstStyle/>
          <a:p>
            <a:pPr>
              <a:spcAft>
                <a:spcPts val="700"/>
              </a:spcAft>
            </a:pPr>
            <a:r>
              <a:rPr lang="en-ID" sz="1700">
                <a:solidFill>
                  <a:srgbClr val="162338"/>
                </a:solidFill>
                <a:latin typeface="Aptos" panose="020B0004020202020204" pitchFamily="34" charset="0"/>
              </a:rPr>
              <a:t>Pemeriksaan hasil tersimpan. Penghematan storage bukan benchmark kecepatan kueri.</a:t>
            </a:r>
          </a:p>
        </p:txBody>
      </p:sp>
      <p:graphicFrame>
        <p:nvGraphicFramePr>
          <p:cNvPr id="7" name="Table 6">
            <a:extLst>
              <a:ext uri="{FF2B5EF4-FFF2-40B4-BE49-F238E27FC236}">
                <a16:creationId xmlns:a16="http://schemas.microsoft.com/office/drawing/2014/main" id="{342397A9-077A-6FAF-8A68-C28E2B31C9E7}"/>
              </a:ext>
            </a:extLst>
          </p:cNvPr>
          <p:cNvGraphicFramePr>
            <a:graphicFrameLocks noGrp="1"/>
          </p:cNvGraphicFramePr>
          <p:nvPr>
            <p:extLst>
              <p:ext uri="{D42A27DB-BD31-4B8C-83A1-F6EECF244321}">
                <p14:modId xmlns:p14="http://schemas.microsoft.com/office/powerpoint/2010/main" val="953201166"/>
              </p:ext>
            </p:extLst>
          </p:nvPr>
        </p:nvGraphicFramePr>
        <p:xfrm>
          <a:off x="609600" y="2730500"/>
          <a:ext cx="10972800" cy="1397000"/>
        </p:xfrm>
        <a:graphic>
          <a:graphicData uri="http://schemas.openxmlformats.org/drawingml/2006/table">
            <a:tbl>
              <a:tblPr firstRow="1" bandRow="1">
                <a:tableStyleId>{5C22544A-7EE6-4342-B048-85BDC9FD1C3A}</a:tableStyleId>
              </a:tblPr>
              <a:tblGrid>
                <a:gridCol w="3657600">
                  <a:extLst>
                    <a:ext uri="{9D8B030D-6E8A-4147-A177-3AD203B41FA5}">
                      <a16:colId xmlns:a16="http://schemas.microsoft.com/office/drawing/2014/main" val="285685517"/>
                    </a:ext>
                  </a:extLst>
                </a:gridCol>
                <a:gridCol w="3657600">
                  <a:extLst>
                    <a:ext uri="{9D8B030D-6E8A-4147-A177-3AD203B41FA5}">
                      <a16:colId xmlns:a16="http://schemas.microsoft.com/office/drawing/2014/main" val="2733991194"/>
                    </a:ext>
                  </a:extLst>
                </a:gridCol>
                <a:gridCol w="3657600">
                  <a:extLst>
                    <a:ext uri="{9D8B030D-6E8A-4147-A177-3AD203B41FA5}">
                      <a16:colId xmlns:a16="http://schemas.microsoft.com/office/drawing/2014/main" val="3883804450"/>
                    </a:ext>
                  </a:extLst>
                </a:gridCol>
              </a:tblGrid>
              <a:tr h="698500">
                <a:tc>
                  <a:txBody>
                    <a:bodyPr/>
                    <a:lstStyle/>
                    <a:p>
                      <a:r>
                        <a:rPr lang="en-ID" sz="2300" b="1">
                          <a:solidFill>
                            <a:srgbClr val="FFFFFF"/>
                          </a:solidFill>
                          <a:latin typeface="Aptos" panose="020B0004020202020204" pitchFamily="34" charset="0"/>
                        </a:rPr>
                        <a:t>CSV</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300" b="1">
                          <a:solidFill>
                            <a:srgbClr val="FFFFFF"/>
                          </a:solidFill>
                          <a:latin typeface="Aptos" panose="020B0004020202020204" pitchFamily="34" charset="0"/>
                        </a:rPr>
                        <a:t>Parquet</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300" b="1">
                          <a:solidFill>
                            <a:srgbClr val="FFFFFF"/>
                          </a:solidFill>
                          <a:latin typeface="Aptos" panose="020B0004020202020204" pitchFamily="34" charset="0"/>
                        </a:rPr>
                        <a:t>Penghematan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1120859887"/>
                  </a:ext>
                </a:extLst>
              </a:tr>
              <a:tr h="698500">
                <a:tc>
                  <a:txBody>
                    <a:bodyPr/>
                    <a:lstStyle/>
                    <a:p>
                      <a:r>
                        <a:rPr lang="en-ID" sz="2300" b="0">
                          <a:solidFill>
                            <a:srgbClr val="162338"/>
                          </a:solidFill>
                          <a:latin typeface="Aptos" panose="020B0004020202020204" pitchFamily="34" charset="0"/>
                        </a:rPr>
                        <a:t>120,341 MiB</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300" b="0">
                          <a:solidFill>
                            <a:srgbClr val="162338"/>
                          </a:solidFill>
                          <a:latin typeface="Aptos" panose="020B0004020202020204" pitchFamily="34" charset="0"/>
                        </a:rPr>
                        <a:t>54,236 MiB</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300" b="0">
                          <a:solidFill>
                            <a:srgbClr val="162338"/>
                          </a:solidFill>
                          <a:latin typeface="Aptos" panose="020B0004020202020204" pitchFamily="34" charset="0"/>
                        </a:rPr>
                        <a:t>54,93%</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3451549855"/>
                  </a:ext>
                </a:extLst>
              </a:tr>
            </a:tbl>
          </a:graphicData>
        </a:graphic>
      </p:graphicFrame>
      <p:sp>
        <p:nvSpPr>
          <p:cNvPr id="8" name="TextBox 7">
            <a:extLst>
              <a:ext uri="{FF2B5EF4-FFF2-40B4-BE49-F238E27FC236}">
                <a16:creationId xmlns:a16="http://schemas.microsoft.com/office/drawing/2014/main" id="{457E8E42-42CC-4F3D-3AEC-826BD79C8F19}"/>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07 / 11</a:t>
            </a:r>
          </a:p>
        </p:txBody>
      </p:sp>
    </p:spTree>
    <p:extLst>
      <p:ext uri="{BB962C8B-B14F-4D97-AF65-F5344CB8AC3E}">
        <p14:creationId xmlns:p14="http://schemas.microsoft.com/office/powerpoint/2010/main" val="35026566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DA8648D-7F5B-2C05-F6FF-BE88F5499DA8}"/>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it-IT" sz="3200" b="1">
                <a:solidFill>
                  <a:srgbClr val="162338"/>
                </a:solidFill>
                <a:latin typeface="Aptos" panose="020B0004020202020204" pitchFamily="34" charset="0"/>
              </a:rPr>
              <a:t>Tata kelola dan perlindungan data</a:t>
            </a:r>
            <a:endParaRPr lang="en-ID" sz="3200" b="1">
              <a:solidFill>
                <a:srgbClr val="162338"/>
              </a:solidFill>
              <a:latin typeface="Aptos" panose="020B0004020202020204" pitchFamily="34" charset="0"/>
            </a:endParaRPr>
          </a:p>
        </p:txBody>
      </p:sp>
      <p:sp>
        <p:nvSpPr>
          <p:cNvPr id="3" name="TextBox 2">
            <a:extLst>
              <a:ext uri="{FF2B5EF4-FFF2-40B4-BE49-F238E27FC236}">
                <a16:creationId xmlns:a16="http://schemas.microsoft.com/office/drawing/2014/main" id="{8695B37A-B84A-9D71-0D3D-772C450A471F}"/>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Sumber: laporan Bab 3 dan .gitignore. Kontrol rancangan perlu diuji.</a:t>
            </a:r>
          </a:p>
        </p:txBody>
      </p:sp>
      <p:sp>
        <p:nvSpPr>
          <p:cNvPr id="4" name="TextBox 3">
            <a:extLst>
              <a:ext uri="{FF2B5EF4-FFF2-40B4-BE49-F238E27FC236}">
                <a16:creationId xmlns:a16="http://schemas.microsoft.com/office/drawing/2014/main" id="{484A8772-DD4F-1BB1-1CD3-86D07C7DBC91}"/>
              </a:ext>
            </a:extLst>
          </p:cNvPr>
          <p:cNvSpPr txBox="1"/>
          <p:nvPr/>
        </p:nvSpPr>
        <p:spPr>
          <a:xfrm>
            <a:off x="609600" y="5562600"/>
            <a:ext cx="10972800" cy="276999"/>
          </a:xfrm>
          <a:prstGeom prst="rect">
            <a:avLst/>
          </a:prstGeom>
          <a:noFill/>
        </p:spPr>
        <p:txBody>
          <a:bodyPr vert="horz" wrap="square" lIns="0" tIns="0" rIns="0" bIns="0" rtlCol="0">
            <a:noAutofit/>
          </a:bodyPr>
          <a:lstStyle/>
          <a:p>
            <a:pPr>
              <a:spcAft>
                <a:spcPts val="700"/>
              </a:spcAft>
            </a:pPr>
            <a:r>
              <a:rPr lang="en-ID" sz="2400" b="1">
                <a:solidFill>
                  <a:srgbClr val="162338"/>
                </a:solidFill>
                <a:latin typeface="Aptos" panose="020B0004020202020204" pitchFamily="34" charset="0"/>
              </a:rPr>
              <a:t>ID berbentuk hash tidak otomatis menjamin anonimitas.</a:t>
            </a:r>
          </a:p>
        </p:txBody>
      </p:sp>
      <p:graphicFrame>
        <p:nvGraphicFramePr>
          <p:cNvPr id="5" name="Table 4">
            <a:extLst>
              <a:ext uri="{FF2B5EF4-FFF2-40B4-BE49-F238E27FC236}">
                <a16:creationId xmlns:a16="http://schemas.microsoft.com/office/drawing/2014/main" id="{4983522E-51B4-8B31-441F-DB3E99672D32}"/>
              </a:ext>
            </a:extLst>
          </p:cNvPr>
          <p:cNvGraphicFramePr>
            <a:graphicFrameLocks noGrp="1"/>
          </p:cNvGraphicFramePr>
          <p:nvPr>
            <p:extLst>
              <p:ext uri="{D42A27DB-BD31-4B8C-83A1-F6EECF244321}">
                <p14:modId xmlns:p14="http://schemas.microsoft.com/office/powerpoint/2010/main" val="2459423226"/>
              </p:ext>
            </p:extLst>
          </p:nvPr>
        </p:nvGraphicFramePr>
        <p:xfrm>
          <a:off x="609600" y="1612900"/>
          <a:ext cx="10972800" cy="3517900"/>
        </p:xfrm>
        <a:graphic>
          <a:graphicData uri="http://schemas.openxmlformats.org/drawingml/2006/table">
            <a:tbl>
              <a:tblPr firstRow="1" bandRow="1">
                <a:tableStyleId>{5C22544A-7EE6-4342-B048-85BDC9FD1C3A}</a:tableStyleId>
              </a:tblPr>
              <a:tblGrid>
                <a:gridCol w="5486400">
                  <a:extLst>
                    <a:ext uri="{9D8B030D-6E8A-4147-A177-3AD203B41FA5}">
                      <a16:colId xmlns:a16="http://schemas.microsoft.com/office/drawing/2014/main" val="1145444512"/>
                    </a:ext>
                  </a:extLst>
                </a:gridCol>
                <a:gridCol w="5486400">
                  <a:extLst>
                    <a:ext uri="{9D8B030D-6E8A-4147-A177-3AD203B41FA5}">
                      <a16:colId xmlns:a16="http://schemas.microsoft.com/office/drawing/2014/main" val="202946243"/>
                    </a:ext>
                  </a:extLst>
                </a:gridCol>
              </a:tblGrid>
              <a:tr h="879475">
                <a:tc>
                  <a:txBody>
                    <a:bodyPr/>
                    <a:lstStyle/>
                    <a:p>
                      <a:r>
                        <a:rPr lang="en-ID" sz="2100" b="1">
                          <a:solidFill>
                            <a:srgbClr val="FFFFFF"/>
                          </a:solidFill>
                          <a:latin typeface="Aptos" panose="020B0004020202020204" pitchFamily="34" charset="0"/>
                        </a:rPr>
                        <a:t>Praktik prototipe</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100" b="1">
                          <a:solidFill>
                            <a:srgbClr val="FFFFFF"/>
                          </a:solidFill>
                          <a:latin typeface="Aptos" panose="020B0004020202020204" pitchFamily="34" charset="0"/>
                        </a:rPr>
                        <a:t>Kontrol rancangan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523782761"/>
                  </a:ext>
                </a:extLst>
              </a:tr>
              <a:tr h="879475">
                <a:tc>
                  <a:txBody>
                    <a:bodyPr/>
                    <a:lstStyle/>
                    <a:p>
                      <a:r>
                        <a:rPr lang="en-ID" sz="2100" b="0">
                          <a:solidFill>
                            <a:srgbClr val="162338"/>
                          </a:solidFill>
                          <a:latin typeface="Aptos" panose="020B0004020202020204" pitchFamily="34" charset="0"/>
                        </a:rPr>
                        <a:t>Raw dan audit dipertahankan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100" b="0">
                          <a:solidFill>
                            <a:srgbClr val="162338"/>
                          </a:solidFill>
                          <a:latin typeface="Aptos" panose="020B0004020202020204" pitchFamily="34" charset="0"/>
                        </a:rPr>
                        <a:t>Akses sesuai peran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2647224708"/>
                  </a:ext>
                </a:extLst>
              </a:tr>
              <a:tr h="879475">
                <a:tc>
                  <a:txBody>
                    <a:bodyPr/>
                    <a:lstStyle/>
                    <a:p>
                      <a:r>
                        <a:rPr lang="en-ID" sz="2100" b="0">
                          <a:solidFill>
                            <a:srgbClr val="162338"/>
                          </a:solidFill>
                          <a:latin typeface="Aptos" panose="020B0004020202020204" pitchFamily="34" charset="0"/>
                        </a:rPr>
                        <a:t>Kode dan ringkasan agregat di Git</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100" b="0">
                          <a:solidFill>
                            <a:srgbClr val="162338"/>
                          </a:solidFill>
                          <a:latin typeface="Aptos" panose="020B0004020202020204" pitchFamily="34" charset="0"/>
                        </a:rPr>
                        <a:t>Retensi dan minimisasi data</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1259141080"/>
                  </a:ext>
                </a:extLst>
              </a:tr>
              <a:tr h="879475">
                <a:tc>
                  <a:txBody>
                    <a:bodyPr/>
                    <a:lstStyle/>
                    <a:p>
                      <a:r>
                        <a:rPr lang="en-ID" sz="2100" b="0">
                          <a:solidFill>
                            <a:srgbClr val="162338"/>
                          </a:solidFill>
                          <a:latin typeface="Aptos" panose="020B0004020202020204" pitchFamily="34" charset="0"/>
                        </a:rPr>
                        <a:t>Raw, credential, runtime dikecualikan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it-IT" sz="2100" b="0">
                          <a:solidFill>
                            <a:srgbClr val="162338"/>
                          </a:solidFill>
                          <a:latin typeface="Aptos" panose="020B0004020202020204" pitchFamily="34" charset="0"/>
                        </a:rPr>
                        <a:t>Pemeriksaan data pribadi pada teks</a:t>
                      </a:r>
                      <a:endParaRPr lang="en-ID" sz="2100" b="0">
                        <a:solidFill>
                          <a:srgbClr val="162338"/>
                        </a:solidFill>
                        <a:latin typeface="Aptos" panose="020B0004020202020204" pitchFamily="34" charset="0"/>
                      </a:endParaRP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56121780"/>
                  </a:ext>
                </a:extLst>
              </a:tr>
            </a:tbl>
          </a:graphicData>
        </a:graphic>
      </p:graphicFrame>
      <p:sp>
        <p:nvSpPr>
          <p:cNvPr id="6" name="TextBox 5">
            <a:extLst>
              <a:ext uri="{FF2B5EF4-FFF2-40B4-BE49-F238E27FC236}">
                <a16:creationId xmlns:a16="http://schemas.microsoft.com/office/drawing/2014/main" id="{7305FDCA-349B-0C24-367C-586951541648}"/>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08 / 11</a:t>
            </a:r>
          </a:p>
        </p:txBody>
      </p:sp>
    </p:spTree>
    <p:extLst>
      <p:ext uri="{BB962C8B-B14F-4D97-AF65-F5344CB8AC3E}">
        <p14:creationId xmlns:p14="http://schemas.microsoft.com/office/powerpoint/2010/main" val="19735632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0B06373-3EFD-87DA-DE7B-DA857DB09C7B}"/>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es-ES" sz="3200" b="1">
                <a:solidFill>
                  <a:srgbClr val="162338"/>
                </a:solidFill>
                <a:latin typeface="Aptos" panose="020B0004020202020204" pitchFamily="34" charset="0"/>
              </a:rPr>
              <a:t>Hasil model dan pemilihan ambang</a:t>
            </a:r>
            <a:endParaRPr lang="en-ID" sz="3200" b="1">
              <a:solidFill>
                <a:srgbClr val="162338"/>
              </a:solidFill>
              <a:latin typeface="Aptos" panose="020B0004020202020204" pitchFamily="34" charset="0"/>
            </a:endParaRPr>
          </a:p>
        </p:txBody>
      </p:sp>
      <p:sp>
        <p:nvSpPr>
          <p:cNvPr id="3" name="TextBox 2">
            <a:extLst>
              <a:ext uri="{FF2B5EF4-FFF2-40B4-BE49-F238E27FC236}">
                <a16:creationId xmlns:a16="http://schemas.microsoft.com/office/drawing/2014/main" id="{24858669-D3D0-EEA3-236E-8D43D953BBD5}"/>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Hasil demo model yang telah dijalankan. Sumber: evaluation/comparison/confusion reports.</a:t>
            </a:r>
          </a:p>
        </p:txBody>
      </p:sp>
      <p:sp>
        <p:nvSpPr>
          <p:cNvPr id="4" name="TextBox 3">
            <a:extLst>
              <a:ext uri="{FF2B5EF4-FFF2-40B4-BE49-F238E27FC236}">
                <a16:creationId xmlns:a16="http://schemas.microsoft.com/office/drawing/2014/main" id="{9B875562-437D-0499-0C6E-524D2FE9E072}"/>
              </a:ext>
            </a:extLst>
          </p:cNvPr>
          <p:cNvSpPr txBox="1"/>
          <p:nvPr/>
        </p:nvSpPr>
        <p:spPr>
          <a:xfrm>
            <a:off x="609600" y="1587500"/>
            <a:ext cx="10972800" cy="276999"/>
          </a:xfrm>
          <a:prstGeom prst="rect">
            <a:avLst/>
          </a:prstGeom>
          <a:noFill/>
        </p:spPr>
        <p:txBody>
          <a:bodyPr vert="horz" wrap="square" lIns="0" tIns="0" rIns="0" bIns="0" rtlCol="0">
            <a:noAutofit/>
          </a:bodyPr>
          <a:lstStyle/>
          <a:p>
            <a:pPr>
              <a:spcAft>
                <a:spcPts val="700"/>
              </a:spcAft>
            </a:pPr>
            <a:r>
              <a:rPr lang="en-ID" sz="2500" b="1">
                <a:solidFill>
                  <a:srgbClr val="007084"/>
                </a:solidFill>
                <a:latin typeface="Aptos" panose="020B0004020202020204" pitchFamily="34" charset="0"/>
              </a:rPr>
              <a:t>PASS: kandidat, populasi dan metrik test konsisten</a:t>
            </a:r>
          </a:p>
        </p:txBody>
      </p:sp>
      <p:sp>
        <p:nvSpPr>
          <p:cNvPr id="5" name="TextBox 4">
            <a:extLst>
              <a:ext uri="{FF2B5EF4-FFF2-40B4-BE49-F238E27FC236}">
                <a16:creationId xmlns:a16="http://schemas.microsoft.com/office/drawing/2014/main" id="{4897AE86-5181-366F-FCBF-26BA32A09AE2}"/>
              </a:ext>
            </a:extLst>
          </p:cNvPr>
          <p:cNvSpPr txBox="1"/>
          <p:nvPr/>
        </p:nvSpPr>
        <p:spPr>
          <a:xfrm>
            <a:off x="609600" y="5054600"/>
            <a:ext cx="10972800" cy="276999"/>
          </a:xfrm>
          <a:prstGeom prst="rect">
            <a:avLst/>
          </a:prstGeom>
          <a:noFill/>
        </p:spPr>
        <p:txBody>
          <a:bodyPr vert="horz" wrap="square" lIns="0" tIns="0" rIns="0" bIns="0" rtlCol="0">
            <a:noAutofit/>
          </a:bodyPr>
          <a:lstStyle/>
          <a:p>
            <a:pPr>
              <a:spcAft>
                <a:spcPts val="700"/>
              </a:spcAft>
            </a:pPr>
            <a:r>
              <a:rPr lang="sv-SE" sz="2100">
                <a:solidFill>
                  <a:srgbClr val="162338"/>
                </a:solidFill>
                <a:latin typeface="Aptos" panose="020B0004020202020204" pitchFamily="34" charset="0"/>
              </a:rPr>
              <a:t>RF tanpa bobot, ambang 0,099536. Validation F1: 0,2168.</a:t>
            </a:r>
            <a:endParaRPr lang="en-ID" sz="2100">
              <a:solidFill>
                <a:srgbClr val="162338"/>
              </a:solidFill>
              <a:latin typeface="Aptos" panose="020B0004020202020204" pitchFamily="34" charset="0"/>
            </a:endParaRPr>
          </a:p>
        </p:txBody>
      </p:sp>
      <p:sp>
        <p:nvSpPr>
          <p:cNvPr id="6" name="TextBox 5">
            <a:extLst>
              <a:ext uri="{FF2B5EF4-FFF2-40B4-BE49-F238E27FC236}">
                <a16:creationId xmlns:a16="http://schemas.microsoft.com/office/drawing/2014/main" id="{C8A600A6-724A-8A4E-DD2E-5F20FC24A6F2}"/>
              </a:ext>
            </a:extLst>
          </p:cNvPr>
          <p:cNvSpPr txBox="1"/>
          <p:nvPr/>
        </p:nvSpPr>
        <p:spPr>
          <a:xfrm>
            <a:off x="609600" y="5765800"/>
            <a:ext cx="10972800" cy="276999"/>
          </a:xfrm>
          <a:prstGeom prst="rect">
            <a:avLst/>
          </a:prstGeom>
          <a:noFill/>
        </p:spPr>
        <p:txBody>
          <a:bodyPr vert="horz" wrap="square" lIns="0" tIns="0" rIns="0" bIns="0" rtlCol="0">
            <a:noAutofit/>
          </a:bodyPr>
          <a:lstStyle/>
          <a:p>
            <a:pPr>
              <a:spcAft>
                <a:spcPts val="700"/>
              </a:spcAft>
            </a:pPr>
            <a:r>
              <a:rPr lang="en-ID" sz="2000">
                <a:solidFill>
                  <a:srgbClr val="162338"/>
                </a:solidFill>
                <a:latin typeface="Aptos" panose="020B0004020202020204" pitchFamily="34" charset="0"/>
              </a:rPr>
              <a:t>Precision terbatas. Model menjadi sinyal peninjauan.</a:t>
            </a:r>
          </a:p>
        </p:txBody>
      </p:sp>
      <p:graphicFrame>
        <p:nvGraphicFramePr>
          <p:cNvPr id="7" name="Table 6">
            <a:extLst>
              <a:ext uri="{FF2B5EF4-FFF2-40B4-BE49-F238E27FC236}">
                <a16:creationId xmlns:a16="http://schemas.microsoft.com/office/drawing/2014/main" id="{71D4A156-7ED4-DC24-C2F0-91A66F6AE67B}"/>
              </a:ext>
            </a:extLst>
          </p:cNvPr>
          <p:cNvGraphicFramePr>
            <a:graphicFrameLocks noGrp="1"/>
          </p:cNvGraphicFramePr>
          <p:nvPr>
            <p:extLst>
              <p:ext uri="{D42A27DB-BD31-4B8C-83A1-F6EECF244321}">
                <p14:modId xmlns:p14="http://schemas.microsoft.com/office/powerpoint/2010/main" val="464215110"/>
              </p:ext>
            </p:extLst>
          </p:nvPr>
        </p:nvGraphicFramePr>
        <p:xfrm>
          <a:off x="609600" y="2438400"/>
          <a:ext cx="10972800" cy="2324100"/>
        </p:xfrm>
        <a:graphic>
          <a:graphicData uri="http://schemas.openxmlformats.org/drawingml/2006/table">
            <a:tbl>
              <a:tblPr firstRow="1" bandRow="1">
                <a:tableStyleId>{5C22544A-7EE6-4342-B048-85BDC9FD1C3A}</a:tableStyleId>
              </a:tblPr>
              <a:tblGrid>
                <a:gridCol w="5080000">
                  <a:extLst>
                    <a:ext uri="{9D8B030D-6E8A-4147-A177-3AD203B41FA5}">
                      <a16:colId xmlns:a16="http://schemas.microsoft.com/office/drawing/2014/main" val="771932087"/>
                    </a:ext>
                  </a:extLst>
                </a:gridCol>
                <a:gridCol w="2946400">
                  <a:extLst>
                    <a:ext uri="{9D8B030D-6E8A-4147-A177-3AD203B41FA5}">
                      <a16:colId xmlns:a16="http://schemas.microsoft.com/office/drawing/2014/main" val="2169441725"/>
                    </a:ext>
                  </a:extLst>
                </a:gridCol>
                <a:gridCol w="2946400">
                  <a:extLst>
                    <a:ext uri="{9D8B030D-6E8A-4147-A177-3AD203B41FA5}">
                      <a16:colId xmlns:a16="http://schemas.microsoft.com/office/drawing/2014/main" val="4118800717"/>
                    </a:ext>
                  </a:extLst>
                </a:gridCol>
              </a:tblGrid>
              <a:tr h="581025">
                <a:tc>
                  <a:txBody>
                    <a:bodyPr/>
                    <a:lstStyle/>
                    <a:p>
                      <a:r>
                        <a:rPr lang="en-ID" sz="2000" b="1">
                          <a:solidFill>
                            <a:srgbClr val="FFFFFF"/>
                          </a:solidFill>
                          <a:latin typeface="Aptos" panose="020B0004020202020204" pitchFamily="34" charset="0"/>
                        </a:rPr>
                        <a:t>Metrik test</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000" b="1">
                          <a:solidFill>
                            <a:srgbClr val="FFFFFF"/>
                          </a:solidFill>
                          <a:latin typeface="Aptos" panose="020B0004020202020204" pitchFamily="34" charset="0"/>
                        </a:rPr>
                        <a:t>Ambang 0,5</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000" b="1">
                          <a:solidFill>
                            <a:srgbClr val="FFFFFF"/>
                          </a:solidFill>
                          <a:latin typeface="Aptos" panose="020B0004020202020204" pitchFamily="34" charset="0"/>
                        </a:rPr>
                        <a:t>Ambang pilihan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1562879944"/>
                  </a:ext>
                </a:extLst>
              </a:tr>
              <a:tr h="581025">
                <a:tc>
                  <a:txBody>
                    <a:bodyPr/>
                    <a:lstStyle/>
                    <a:p>
                      <a:r>
                        <a:rPr lang="en-ID" sz="2000" b="0">
                          <a:solidFill>
                            <a:srgbClr val="162338"/>
                          </a:solidFill>
                          <a:latin typeface="Aptos" panose="020B0004020202020204" pitchFamily="34" charset="0"/>
                        </a:rPr>
                        <a:t>Recall delay</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0,00%</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45,41%</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2651981594"/>
                  </a:ext>
                </a:extLst>
              </a:tr>
              <a:tr h="581025">
                <a:tc>
                  <a:txBody>
                    <a:bodyPr/>
                    <a:lstStyle/>
                    <a:p>
                      <a:r>
                        <a:rPr lang="en-ID" sz="2000" b="0">
                          <a:solidFill>
                            <a:srgbClr val="162338"/>
                          </a:solidFill>
                          <a:latin typeface="Aptos" panose="020B0004020202020204" pitchFamily="34" charset="0"/>
                        </a:rPr>
                        <a:t>Precision delay</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0,00%</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14,47%</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3799866154"/>
                  </a:ext>
                </a:extLst>
              </a:tr>
              <a:tr h="581025">
                <a:tc>
                  <a:txBody>
                    <a:bodyPr/>
                    <a:lstStyle/>
                    <a:p>
                      <a:r>
                        <a:rPr lang="en-ID" sz="2000" b="0">
                          <a:solidFill>
                            <a:srgbClr val="162338"/>
                          </a:solidFill>
                          <a:latin typeface="Aptos" panose="020B0004020202020204" pitchFamily="34" charset="0"/>
                        </a:rPr>
                        <a:t>False positive</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0</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000" b="0">
                          <a:solidFill>
                            <a:srgbClr val="162338"/>
                          </a:solidFill>
                          <a:latin typeface="Aptos" panose="020B0004020202020204" pitchFamily="34" charset="0"/>
                        </a:rPr>
                        <a:t>4.186</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822315915"/>
                  </a:ext>
                </a:extLst>
              </a:tr>
            </a:tbl>
          </a:graphicData>
        </a:graphic>
      </p:graphicFrame>
      <p:sp>
        <p:nvSpPr>
          <p:cNvPr id="8" name="TextBox 7">
            <a:extLst>
              <a:ext uri="{FF2B5EF4-FFF2-40B4-BE49-F238E27FC236}">
                <a16:creationId xmlns:a16="http://schemas.microsoft.com/office/drawing/2014/main" id="{EA8B2693-7440-FC68-B4B8-808A6CF93D1D}"/>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09 / 11</a:t>
            </a:r>
          </a:p>
        </p:txBody>
      </p:sp>
    </p:spTree>
    <p:extLst>
      <p:ext uri="{BB962C8B-B14F-4D97-AF65-F5344CB8AC3E}">
        <p14:creationId xmlns:p14="http://schemas.microsoft.com/office/powerpoint/2010/main" val="30592280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9F0FC35-A3E3-D633-4E87-AA6B80D2DF76}"/>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en-ID" sz="3200" b="1">
                <a:solidFill>
                  <a:srgbClr val="162338"/>
                </a:solidFill>
                <a:latin typeface="Aptos" panose="020B0004020202020204" pitchFamily="34" charset="0"/>
              </a:rPr>
              <a:t>Hasil graf dan prioritas rute</a:t>
            </a:r>
          </a:p>
        </p:txBody>
      </p:sp>
      <p:sp>
        <p:nvSpPr>
          <p:cNvPr id="3" name="TextBox 2">
            <a:extLst>
              <a:ext uri="{FF2B5EF4-FFF2-40B4-BE49-F238E27FC236}">
                <a16:creationId xmlns:a16="http://schemas.microsoft.com/office/drawing/2014/main" id="{4D47F7DD-46BF-8F85-B0BC-74571B01D5D4}"/>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Hasil demo graf yang telah dijalankan. Sumber: audit graf dan laporan rute.</a:t>
            </a:r>
          </a:p>
        </p:txBody>
      </p:sp>
      <p:sp>
        <p:nvSpPr>
          <p:cNvPr id="4" name="TextBox 3">
            <a:extLst>
              <a:ext uri="{FF2B5EF4-FFF2-40B4-BE49-F238E27FC236}">
                <a16:creationId xmlns:a16="http://schemas.microsoft.com/office/drawing/2014/main" id="{48E9B64F-9902-F6AE-C04E-FDE5A9F93908}"/>
              </a:ext>
            </a:extLst>
          </p:cNvPr>
          <p:cNvSpPr txBox="1"/>
          <p:nvPr/>
        </p:nvSpPr>
        <p:spPr>
          <a:xfrm>
            <a:off x="609600" y="1574800"/>
            <a:ext cx="10972800" cy="276999"/>
          </a:xfrm>
          <a:prstGeom prst="rect">
            <a:avLst/>
          </a:prstGeom>
          <a:noFill/>
        </p:spPr>
        <p:txBody>
          <a:bodyPr vert="horz" wrap="square" lIns="0" tIns="0" rIns="0" bIns="0" rtlCol="0">
            <a:noAutofit/>
          </a:bodyPr>
          <a:lstStyle/>
          <a:p>
            <a:pPr>
              <a:spcAft>
                <a:spcPts val="700"/>
              </a:spcAft>
            </a:pPr>
            <a:r>
              <a:rPr lang="en-ID" sz="2700" b="1">
                <a:solidFill>
                  <a:srgbClr val="007084"/>
                </a:solidFill>
                <a:latin typeface="Aptos" panose="020B0004020202020204" pitchFamily="34" charset="0"/>
              </a:rPr>
              <a:t>PASS: 27 node dan 409 rute, jumlah populasi konsisten</a:t>
            </a:r>
          </a:p>
        </p:txBody>
      </p:sp>
      <p:sp>
        <p:nvSpPr>
          <p:cNvPr id="5" name="TextBox 4">
            <a:extLst>
              <a:ext uri="{FF2B5EF4-FFF2-40B4-BE49-F238E27FC236}">
                <a16:creationId xmlns:a16="http://schemas.microsoft.com/office/drawing/2014/main" id="{983C25A4-3A32-6CCA-8A94-66257C00D34E}"/>
              </a:ext>
            </a:extLst>
          </p:cNvPr>
          <p:cNvSpPr txBox="1"/>
          <p:nvPr/>
        </p:nvSpPr>
        <p:spPr>
          <a:xfrm>
            <a:off x="609600" y="5524500"/>
            <a:ext cx="10972800" cy="276999"/>
          </a:xfrm>
          <a:prstGeom prst="rect">
            <a:avLst/>
          </a:prstGeom>
          <a:noFill/>
        </p:spPr>
        <p:txBody>
          <a:bodyPr vert="horz" wrap="square" lIns="0" tIns="0" rIns="0" bIns="0" rtlCol="0">
            <a:noAutofit/>
          </a:bodyPr>
          <a:lstStyle/>
          <a:p>
            <a:pPr>
              <a:spcAft>
                <a:spcPts val="700"/>
              </a:spcAft>
            </a:pPr>
            <a:r>
              <a:rPr lang="en-ID" sz="2100">
                <a:solidFill>
                  <a:srgbClr val="162338"/>
                </a:solidFill>
                <a:latin typeface="Aptos" panose="020B0004020202020204" pitchFamily="34" charset="0"/>
              </a:rPr>
              <a:t>Graf menggambarkan asal–tujuan, belum mencatat transit atau lokasi hub.</a:t>
            </a:r>
          </a:p>
        </p:txBody>
      </p:sp>
      <p:graphicFrame>
        <p:nvGraphicFramePr>
          <p:cNvPr id="6" name="Table 5">
            <a:extLst>
              <a:ext uri="{FF2B5EF4-FFF2-40B4-BE49-F238E27FC236}">
                <a16:creationId xmlns:a16="http://schemas.microsoft.com/office/drawing/2014/main" id="{1BCA83C1-097D-017F-A9EA-0202D59D9132}"/>
              </a:ext>
            </a:extLst>
          </p:cNvPr>
          <p:cNvGraphicFramePr>
            <a:graphicFrameLocks noGrp="1"/>
          </p:cNvGraphicFramePr>
          <p:nvPr>
            <p:extLst>
              <p:ext uri="{D42A27DB-BD31-4B8C-83A1-F6EECF244321}">
                <p14:modId xmlns:p14="http://schemas.microsoft.com/office/powerpoint/2010/main" val="241607346"/>
              </p:ext>
            </p:extLst>
          </p:nvPr>
        </p:nvGraphicFramePr>
        <p:xfrm>
          <a:off x="609600" y="2882900"/>
          <a:ext cx="10972800" cy="2146300"/>
        </p:xfrm>
        <a:graphic>
          <a:graphicData uri="http://schemas.openxmlformats.org/drawingml/2006/table">
            <a:tbl>
              <a:tblPr firstRow="1" bandRow="1">
                <a:tableStyleId>{5C22544A-7EE6-4342-B048-85BDC9FD1C3A}</a:tableStyleId>
              </a:tblPr>
              <a:tblGrid>
                <a:gridCol w="5207000">
                  <a:extLst>
                    <a:ext uri="{9D8B030D-6E8A-4147-A177-3AD203B41FA5}">
                      <a16:colId xmlns:a16="http://schemas.microsoft.com/office/drawing/2014/main" val="3674778831"/>
                    </a:ext>
                  </a:extLst>
                </a:gridCol>
                <a:gridCol w="2870200">
                  <a:extLst>
                    <a:ext uri="{9D8B030D-6E8A-4147-A177-3AD203B41FA5}">
                      <a16:colId xmlns:a16="http://schemas.microsoft.com/office/drawing/2014/main" val="1390265409"/>
                    </a:ext>
                  </a:extLst>
                </a:gridCol>
                <a:gridCol w="2895600">
                  <a:extLst>
                    <a:ext uri="{9D8B030D-6E8A-4147-A177-3AD203B41FA5}">
                      <a16:colId xmlns:a16="http://schemas.microsoft.com/office/drawing/2014/main" val="3462929697"/>
                    </a:ext>
                  </a:extLst>
                </a:gridCol>
              </a:tblGrid>
              <a:tr h="715433">
                <a:tc>
                  <a:txBody>
                    <a:bodyPr/>
                    <a:lstStyle/>
                    <a:p>
                      <a:r>
                        <a:rPr lang="en-ID" sz="2400" b="1">
                          <a:solidFill>
                            <a:srgbClr val="FFFFFF"/>
                          </a:solidFill>
                          <a:latin typeface="Aptos" panose="020B0004020202020204" pitchFamily="34" charset="0"/>
                        </a:rPr>
                        <a:t>Populasi / rute</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400" b="1">
                          <a:solidFill>
                            <a:srgbClr val="FFFFFF"/>
                          </a:solidFill>
                          <a:latin typeface="Aptos" panose="020B0004020202020204" pitchFamily="34" charset="0"/>
                        </a:rPr>
                        <a:t>Order</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2400" b="1">
                          <a:solidFill>
                            <a:srgbClr val="FFFFFF"/>
                          </a:solidFill>
                          <a:latin typeface="Aptos" panose="020B0004020202020204" pitchFamily="34" charset="0"/>
                        </a:rPr>
                        <a:t>Delay</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3303600691"/>
                  </a:ext>
                </a:extLst>
              </a:tr>
              <a:tr h="715433">
                <a:tc>
                  <a:txBody>
                    <a:bodyPr/>
                    <a:lstStyle/>
                    <a:p>
                      <a:r>
                        <a:rPr lang="en-ID" sz="2400" b="0">
                          <a:solidFill>
                            <a:srgbClr val="162338"/>
                          </a:solidFill>
                          <a:latin typeface="Aptos" panose="020B0004020202020204" pitchFamily="34" charset="0"/>
                        </a:rPr>
                        <a:t>Nasional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400" b="0">
                          <a:solidFill>
                            <a:srgbClr val="162338"/>
                          </a:solidFill>
                          <a:latin typeface="Aptos" panose="020B0004020202020204" pitchFamily="34" charset="0"/>
                        </a:rPr>
                        <a:t>96.470</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400" b="0">
                          <a:solidFill>
                            <a:srgbClr val="162338"/>
                          </a:solidFill>
                          <a:latin typeface="Aptos" panose="020B0004020202020204" pitchFamily="34" charset="0"/>
                        </a:rPr>
                        <a:t>8,11%</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1734257616"/>
                  </a:ext>
                </a:extLst>
              </a:tr>
              <a:tr h="715433">
                <a:tc>
                  <a:txBody>
                    <a:bodyPr/>
                    <a:lstStyle/>
                    <a:p>
                      <a:r>
                        <a:rPr lang="en-ID" sz="2400" b="0">
                          <a:solidFill>
                            <a:srgbClr val="162338"/>
                          </a:solidFill>
                          <a:latin typeface="Aptos" panose="020B0004020202020204" pitchFamily="34" charset="0"/>
                        </a:rPr>
                        <a:t>SP–RJ</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400" b="0">
                          <a:solidFill>
                            <a:srgbClr val="162338"/>
                          </a:solidFill>
                          <a:latin typeface="Aptos" panose="020B0004020202020204" pitchFamily="34" charset="0"/>
                        </a:rPr>
                        <a:t>8.158</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2400" b="0">
                          <a:solidFill>
                            <a:srgbClr val="162338"/>
                          </a:solidFill>
                          <a:latin typeface="Aptos" panose="020B0004020202020204" pitchFamily="34" charset="0"/>
                        </a:rPr>
                        <a:t>15,49%</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616802314"/>
                  </a:ext>
                </a:extLst>
              </a:tr>
            </a:tbl>
          </a:graphicData>
        </a:graphic>
      </p:graphicFrame>
      <p:sp>
        <p:nvSpPr>
          <p:cNvPr id="7" name="TextBox 6">
            <a:extLst>
              <a:ext uri="{FF2B5EF4-FFF2-40B4-BE49-F238E27FC236}">
                <a16:creationId xmlns:a16="http://schemas.microsoft.com/office/drawing/2014/main" id="{5838E6E0-6044-177D-D924-685F5341086E}"/>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10 / 11</a:t>
            </a:r>
          </a:p>
        </p:txBody>
      </p:sp>
    </p:spTree>
    <p:extLst>
      <p:ext uri="{BB962C8B-B14F-4D97-AF65-F5344CB8AC3E}">
        <p14:creationId xmlns:p14="http://schemas.microsoft.com/office/powerpoint/2010/main" val="42933275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FF6422B-0E9F-6B9C-77DC-CE65EE38341A}"/>
              </a:ext>
            </a:extLst>
          </p:cNvPr>
          <p:cNvSpPr txBox="1"/>
          <p:nvPr/>
        </p:nvSpPr>
        <p:spPr>
          <a:xfrm>
            <a:off x="609600" y="444500"/>
            <a:ext cx="10972800" cy="276999"/>
          </a:xfrm>
          <a:prstGeom prst="rect">
            <a:avLst/>
          </a:prstGeom>
          <a:noFill/>
        </p:spPr>
        <p:txBody>
          <a:bodyPr vert="horz" wrap="square" lIns="0" tIns="0" rIns="0" bIns="0" rtlCol="0">
            <a:noAutofit/>
          </a:bodyPr>
          <a:lstStyle/>
          <a:p>
            <a:pPr>
              <a:spcAft>
                <a:spcPts val="700"/>
              </a:spcAft>
            </a:pPr>
            <a:r>
              <a:rPr lang="en-ID" sz="3200" b="1">
                <a:solidFill>
                  <a:srgbClr val="162338"/>
                </a:solidFill>
                <a:latin typeface="Aptos" panose="020B0004020202020204" pitchFamily="34" charset="0"/>
              </a:rPr>
              <a:t>Ringkasan validasi dan langkah berikutnya</a:t>
            </a:r>
          </a:p>
        </p:txBody>
      </p:sp>
      <p:sp>
        <p:nvSpPr>
          <p:cNvPr id="3" name="TextBox 2">
            <a:extLst>
              <a:ext uri="{FF2B5EF4-FFF2-40B4-BE49-F238E27FC236}">
                <a16:creationId xmlns:a16="http://schemas.microsoft.com/office/drawing/2014/main" id="{2C03C8C6-1F47-DAE4-7FB9-24FAFB5259EA}"/>
              </a:ext>
            </a:extLst>
          </p:cNvPr>
          <p:cNvSpPr txBox="1"/>
          <p:nvPr/>
        </p:nvSpPr>
        <p:spPr>
          <a:xfrm>
            <a:off x="609600" y="6337300"/>
            <a:ext cx="10160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Pemeriksaan atas hasil tersimpan, bukan eksekusi live pada saat presentasi.</a:t>
            </a:r>
          </a:p>
        </p:txBody>
      </p:sp>
      <p:sp>
        <p:nvSpPr>
          <p:cNvPr id="4" name="TextBox 3">
            <a:extLst>
              <a:ext uri="{FF2B5EF4-FFF2-40B4-BE49-F238E27FC236}">
                <a16:creationId xmlns:a16="http://schemas.microsoft.com/office/drawing/2014/main" id="{9C9E9609-55AC-EA23-0307-C36409142606}"/>
              </a:ext>
            </a:extLst>
          </p:cNvPr>
          <p:cNvSpPr txBox="1"/>
          <p:nvPr/>
        </p:nvSpPr>
        <p:spPr>
          <a:xfrm>
            <a:off x="609600" y="1574800"/>
            <a:ext cx="10972800" cy="276999"/>
          </a:xfrm>
          <a:prstGeom prst="rect">
            <a:avLst/>
          </a:prstGeom>
          <a:noFill/>
        </p:spPr>
        <p:txBody>
          <a:bodyPr vert="horz" wrap="square" lIns="0" tIns="0" rIns="0" bIns="0" rtlCol="0">
            <a:noAutofit/>
          </a:bodyPr>
          <a:lstStyle/>
          <a:p>
            <a:pPr>
              <a:spcAft>
                <a:spcPts val="700"/>
              </a:spcAft>
            </a:pPr>
            <a:r>
              <a:rPr lang="en-ID" sz="2600" b="1">
                <a:solidFill>
                  <a:srgbClr val="162338"/>
                </a:solidFill>
                <a:latin typeface="Aptos" panose="020B0004020202020204" pitchFamily="34" charset="0"/>
              </a:rPr>
              <a:t>Hasil pemeriksaan yang sudah dijalankan</a:t>
            </a:r>
          </a:p>
        </p:txBody>
      </p:sp>
      <p:sp>
        <p:nvSpPr>
          <p:cNvPr id="5" name="TextBox 4">
            <a:extLst>
              <a:ext uri="{FF2B5EF4-FFF2-40B4-BE49-F238E27FC236}">
                <a16:creationId xmlns:a16="http://schemas.microsoft.com/office/drawing/2014/main" id="{4449CC73-0BB9-B99C-269E-57A34E8019CC}"/>
              </a:ext>
            </a:extLst>
          </p:cNvPr>
          <p:cNvSpPr txBox="1"/>
          <p:nvPr/>
        </p:nvSpPr>
        <p:spPr>
          <a:xfrm>
            <a:off x="609600" y="5219700"/>
            <a:ext cx="10972800" cy="276999"/>
          </a:xfrm>
          <a:prstGeom prst="rect">
            <a:avLst/>
          </a:prstGeom>
          <a:noFill/>
        </p:spPr>
        <p:txBody>
          <a:bodyPr vert="horz" wrap="square" lIns="0" tIns="0" rIns="0" bIns="0" rtlCol="0">
            <a:noAutofit/>
          </a:bodyPr>
          <a:lstStyle/>
          <a:p>
            <a:pPr>
              <a:spcAft>
                <a:spcPts val="700"/>
              </a:spcAft>
            </a:pPr>
            <a:r>
              <a:rPr lang="en-ID" sz="2400">
                <a:solidFill>
                  <a:srgbClr val="162338"/>
                </a:solidFill>
                <a:latin typeface="Aptos" panose="020B0004020202020204" pitchFamily="34" charset="0"/>
              </a:rPr>
              <a:t>Berikutnya: validasi temporal, biaya intervensi, dan kebutuhan dashboard.</a:t>
            </a:r>
          </a:p>
        </p:txBody>
      </p:sp>
      <p:graphicFrame>
        <p:nvGraphicFramePr>
          <p:cNvPr id="6" name="Table 5">
            <a:extLst>
              <a:ext uri="{FF2B5EF4-FFF2-40B4-BE49-F238E27FC236}">
                <a16:creationId xmlns:a16="http://schemas.microsoft.com/office/drawing/2014/main" id="{0309FC1D-6DEF-C882-A2C1-78792AB8CD01}"/>
              </a:ext>
            </a:extLst>
          </p:cNvPr>
          <p:cNvGraphicFramePr>
            <a:graphicFrameLocks noGrp="1"/>
          </p:cNvGraphicFramePr>
          <p:nvPr>
            <p:extLst>
              <p:ext uri="{D42A27DB-BD31-4B8C-83A1-F6EECF244321}">
                <p14:modId xmlns:p14="http://schemas.microsoft.com/office/powerpoint/2010/main" val="677128963"/>
              </p:ext>
            </p:extLst>
          </p:nvPr>
        </p:nvGraphicFramePr>
        <p:xfrm>
          <a:off x="609600" y="2552700"/>
          <a:ext cx="10972800" cy="2298700"/>
        </p:xfrm>
        <a:graphic>
          <a:graphicData uri="http://schemas.openxmlformats.org/drawingml/2006/table">
            <a:tbl>
              <a:tblPr firstRow="1" bandRow="1">
                <a:tableStyleId>{5C22544A-7EE6-4342-B048-85BDC9FD1C3A}</a:tableStyleId>
              </a:tblPr>
              <a:tblGrid>
                <a:gridCol w="2857500">
                  <a:extLst>
                    <a:ext uri="{9D8B030D-6E8A-4147-A177-3AD203B41FA5}">
                      <a16:colId xmlns:a16="http://schemas.microsoft.com/office/drawing/2014/main" val="3246972954"/>
                    </a:ext>
                  </a:extLst>
                </a:gridCol>
                <a:gridCol w="1714500">
                  <a:extLst>
                    <a:ext uri="{9D8B030D-6E8A-4147-A177-3AD203B41FA5}">
                      <a16:colId xmlns:a16="http://schemas.microsoft.com/office/drawing/2014/main" val="3354547185"/>
                    </a:ext>
                  </a:extLst>
                </a:gridCol>
                <a:gridCol w="6400800">
                  <a:extLst>
                    <a:ext uri="{9D8B030D-6E8A-4147-A177-3AD203B41FA5}">
                      <a16:colId xmlns:a16="http://schemas.microsoft.com/office/drawing/2014/main" val="3385650864"/>
                    </a:ext>
                  </a:extLst>
                </a:gridCol>
              </a:tblGrid>
              <a:tr h="574675">
                <a:tc>
                  <a:txBody>
                    <a:bodyPr/>
                    <a:lstStyle/>
                    <a:p>
                      <a:r>
                        <a:rPr lang="en-ID" sz="1900" b="1">
                          <a:solidFill>
                            <a:srgbClr val="FFFFFF"/>
                          </a:solidFill>
                          <a:latin typeface="Aptos" panose="020B0004020202020204" pitchFamily="34" charset="0"/>
                        </a:rPr>
                        <a:t>Pemeriksaan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1900" b="1">
                          <a:solidFill>
                            <a:srgbClr val="FFFFFF"/>
                          </a:solidFill>
                          <a:latin typeface="Aptos" panose="020B0004020202020204" pitchFamily="34" charset="0"/>
                        </a:rPr>
                        <a:t>Status</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tc>
                  <a:txBody>
                    <a:bodyPr/>
                    <a:lstStyle/>
                    <a:p>
                      <a:r>
                        <a:rPr lang="en-ID" sz="1900" b="1">
                          <a:solidFill>
                            <a:srgbClr val="FFFFFF"/>
                          </a:solidFill>
                          <a:latin typeface="Aptos" panose="020B0004020202020204" pitchFamily="34" charset="0"/>
                        </a:rPr>
                        <a:t>Makna</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162338"/>
                    </a:solidFill>
                  </a:tcPr>
                </a:tc>
                <a:extLst>
                  <a:ext uri="{0D108BD9-81ED-4DB2-BD59-A6C34878D82A}">
                    <a16:rowId xmlns:a16="http://schemas.microsoft.com/office/drawing/2014/main" val="2609712774"/>
                  </a:ext>
                </a:extLst>
              </a:tr>
              <a:tr h="574675">
                <a:tc>
                  <a:txBody>
                    <a:bodyPr/>
                    <a:lstStyle/>
                    <a:p>
                      <a:r>
                        <a:rPr lang="en-ID" sz="1900" b="0">
                          <a:solidFill>
                            <a:srgbClr val="162338"/>
                          </a:solidFill>
                          <a:latin typeface="Aptos" panose="020B0004020202020204" pitchFamily="34" charset="0"/>
                        </a:rPr>
                        <a:t>Ingestion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900" b="0">
                          <a:solidFill>
                            <a:srgbClr val="162338"/>
                          </a:solidFill>
                          <a:latin typeface="Aptos" panose="020B0004020202020204" pitchFamily="34" charset="0"/>
                        </a:rPr>
                        <a:t>PASS</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900" b="0">
                          <a:solidFill>
                            <a:srgbClr val="162338"/>
                          </a:solidFill>
                          <a:latin typeface="Aptos" panose="020B0004020202020204" pitchFamily="34" charset="0"/>
                        </a:rPr>
                        <a:t>9 tabel dan ringkasan storage konsisten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4264673775"/>
                  </a:ext>
                </a:extLst>
              </a:tr>
              <a:tr h="574675">
                <a:tc>
                  <a:txBody>
                    <a:bodyPr/>
                    <a:lstStyle/>
                    <a:p>
                      <a:r>
                        <a:rPr lang="en-ID" sz="1900" b="0">
                          <a:solidFill>
                            <a:srgbClr val="162338"/>
                          </a:solidFill>
                          <a:latin typeface="Aptos" panose="020B0004020202020204" pitchFamily="34" charset="0"/>
                        </a:rPr>
                        <a:t>Model</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900" b="0">
                          <a:solidFill>
                            <a:srgbClr val="162338"/>
                          </a:solidFill>
                          <a:latin typeface="Aptos" panose="020B0004020202020204" pitchFamily="34" charset="0"/>
                        </a:rPr>
                        <a:t>PASS</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900" b="0">
                          <a:solidFill>
                            <a:srgbClr val="162338"/>
                          </a:solidFill>
                          <a:latin typeface="Aptos" panose="020B0004020202020204" pitchFamily="34" charset="0"/>
                        </a:rPr>
                        <a:t>Pemilihan dan metrik test konsisten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1856436771"/>
                  </a:ext>
                </a:extLst>
              </a:tr>
              <a:tr h="574675">
                <a:tc>
                  <a:txBody>
                    <a:bodyPr/>
                    <a:lstStyle/>
                    <a:p>
                      <a:r>
                        <a:rPr lang="en-ID" sz="1900" b="0">
                          <a:solidFill>
                            <a:srgbClr val="162338"/>
                          </a:solidFill>
                          <a:latin typeface="Aptos" panose="020B0004020202020204" pitchFamily="34" charset="0"/>
                        </a:rPr>
                        <a:t>Graf</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900" b="0">
                          <a:solidFill>
                            <a:srgbClr val="162338"/>
                          </a:solidFill>
                          <a:latin typeface="Aptos" panose="020B0004020202020204" pitchFamily="34" charset="0"/>
                        </a:rPr>
                        <a:t>PASS</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tc>
                  <a:txBody>
                    <a:bodyPr/>
                    <a:lstStyle/>
                    <a:p>
                      <a:r>
                        <a:rPr lang="en-ID" sz="1900" b="0">
                          <a:solidFill>
                            <a:srgbClr val="162338"/>
                          </a:solidFill>
                          <a:latin typeface="Aptos" panose="020B0004020202020204" pitchFamily="34" charset="0"/>
                        </a:rPr>
                        <a:t>Populasi dan persentase rute konsisten</a:t>
                      </a:r>
                    </a:p>
                  </a:txBody>
                  <a:tcPr marL="152400" marR="152400" marT="101600" marB="88900" anchor="ctr">
                    <a:lnL w="6350" cmpd="sng">
                      <a:solidFill>
                        <a:srgbClr val="CBD1D8"/>
                      </a:solidFill>
                    </a:lnL>
                    <a:lnR w="6350" cmpd="sng">
                      <a:solidFill>
                        <a:srgbClr val="CBD1D8"/>
                      </a:solidFill>
                    </a:lnR>
                    <a:lnT w="6350" cmpd="sng">
                      <a:solidFill>
                        <a:srgbClr val="CBD1D8"/>
                      </a:solidFill>
                    </a:lnT>
                    <a:lnB w="6350" cmpd="sng">
                      <a:solidFill>
                        <a:srgbClr val="CBD1D8"/>
                      </a:solidFill>
                    </a:lnB>
                    <a:solidFill>
                      <a:srgbClr val="FFFFFF"/>
                    </a:solidFill>
                  </a:tcPr>
                </a:tc>
                <a:extLst>
                  <a:ext uri="{0D108BD9-81ED-4DB2-BD59-A6C34878D82A}">
                    <a16:rowId xmlns:a16="http://schemas.microsoft.com/office/drawing/2014/main" val="1856783026"/>
                  </a:ext>
                </a:extLst>
              </a:tr>
            </a:tbl>
          </a:graphicData>
        </a:graphic>
      </p:graphicFrame>
      <p:sp>
        <p:nvSpPr>
          <p:cNvPr id="7" name="TextBox 6">
            <a:extLst>
              <a:ext uri="{FF2B5EF4-FFF2-40B4-BE49-F238E27FC236}">
                <a16:creationId xmlns:a16="http://schemas.microsoft.com/office/drawing/2014/main" id="{DFD5155E-D06D-7A9F-98A7-0AF292BAC1DA}"/>
              </a:ext>
            </a:extLst>
          </p:cNvPr>
          <p:cNvSpPr txBox="1"/>
          <p:nvPr/>
        </p:nvSpPr>
        <p:spPr>
          <a:xfrm>
            <a:off x="10909300" y="6337300"/>
            <a:ext cx="762000" cy="276999"/>
          </a:xfrm>
          <a:prstGeom prst="rect">
            <a:avLst/>
          </a:prstGeom>
          <a:noFill/>
        </p:spPr>
        <p:txBody>
          <a:bodyPr vert="horz" wrap="square" lIns="0" tIns="0" rIns="0" bIns="0" rtlCol="0">
            <a:noAutofit/>
          </a:bodyPr>
          <a:lstStyle/>
          <a:p>
            <a:pPr>
              <a:spcAft>
                <a:spcPts val="700"/>
              </a:spcAft>
            </a:pPr>
            <a:r>
              <a:rPr lang="en-ID" sz="1100">
                <a:solidFill>
                  <a:srgbClr val="5D6675"/>
                </a:solidFill>
                <a:latin typeface="Aptos" panose="020B0004020202020204" pitchFamily="34" charset="0"/>
              </a:rPr>
              <a:t>11 / 11</a:t>
            </a:r>
          </a:p>
        </p:txBody>
      </p:sp>
    </p:spTree>
    <p:extLst>
      <p:ext uri="{BB962C8B-B14F-4D97-AF65-F5344CB8AC3E}">
        <p14:creationId xmlns:p14="http://schemas.microsoft.com/office/powerpoint/2010/main" val="32609267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2382</Words>
  <Application>Microsoft Office PowerPoint</Application>
  <PresentationFormat>Custom</PresentationFormat>
  <Paragraphs>240</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Yanlis Alim Sang Putra Lase</dc:creator>
  <cp:lastModifiedBy>Yanlis Alim Sang Putra Lase</cp:lastModifiedBy>
  <cp:revision>1</cp:revision>
  <dcterms:created xsi:type="dcterms:W3CDTF">2026-09-28T10:06:42Z</dcterms:created>
  <dcterms:modified xsi:type="dcterms:W3CDTF">2026-09-28T10:06:42Z</dcterms:modified>
</cp:coreProperties>
</file>