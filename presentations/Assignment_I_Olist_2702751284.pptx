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D"/>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00A3F7-9C9B-4365-BF1C-04E274B9F51D}" type="datetimeFigureOut">
              <a:rPr lang="en-ID" smtClean="0"/>
              <a:t>29/09/2026</a:t>
            </a:fld>
            <a:endParaRPr lang="en-ID"/>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D"/>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D"/>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890F9F-22B3-49BC-BB75-1A03D2176C3A}" type="slidenum">
              <a:rPr lang="en-ID" smtClean="0"/>
              <a:t>‹#›</a:t>
            </a:fld>
            <a:endParaRPr lang="en-ID"/>
          </a:p>
        </p:txBody>
      </p:sp>
    </p:spTree>
    <p:extLst>
      <p:ext uri="{BB962C8B-B14F-4D97-AF65-F5344CB8AC3E}">
        <p14:creationId xmlns:p14="http://schemas.microsoft.com/office/powerpoint/2010/main" val="3318161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Halo, saya Yanlis Alim Sang Putra Lase. Kali ini saya akan menjelaskan proyek analitik keterlambatan pengiriman menggunakan data Olist.</a:t>
            </a:r>
          </a:p>
          <a:p>
            <a:endParaRPr lang="en-ID"/>
          </a:p>
          <a:p>
            <a:r>
              <a:rPr lang="en-ID"/>
              <a:t>Alurnya dimulai dari masalah yang ingin saya pahami, cara saya menyiapkan datanya, lalu hasil analisisnya. Jadi, selain menunjukkan angka, saya juga akan menjelaskan kenapa saya memilih cara kerja dan teknologi tersebut.</a:t>
            </a:r>
          </a:p>
          <a:p>
            <a:endParaRPr lang="en-ID"/>
          </a:p>
          <a:p>
            <a:r>
              <a:rPr lang="en-ID"/>
              <a:t>------------------------------</a:t>
            </a:r>
          </a:p>
          <a:p>
            <a:r>
              <a:rPr lang="en-ID"/>
              <a:t>Referensi (tidak perlu dibacakan):</a:t>
            </a:r>
          </a:p>
          <a:p>
            <a:r>
              <a:rPr lang="en-ID"/>
              <a:t>COMP8035041, Assignment I. Dataset Olist 2016–2018.</a:t>
            </a:r>
          </a:p>
          <a:p>
            <a:endParaRPr lang="en-ID"/>
          </a:p>
          <a:p>
            <a:r>
              <a:rPr lang="en-ID"/>
              <a:t>Target waktu: 00:00–00:25</a:t>
            </a:r>
          </a:p>
        </p:txBody>
      </p:sp>
      <p:sp>
        <p:nvSpPr>
          <p:cNvPr id="4" name="Slide Number Placeholder 3"/>
          <p:cNvSpPr>
            <a:spLocks noGrp="1"/>
          </p:cNvSpPr>
          <p:nvPr>
            <p:ph type="sldNum" sz="quarter" idx="5"/>
          </p:nvPr>
        </p:nvSpPr>
        <p:spPr/>
        <p:txBody>
          <a:bodyPr/>
          <a:lstStyle/>
          <a:p>
            <a:fld id="{11890F9F-22B3-49BC-BB75-1A03D2176C3A}" type="slidenum">
              <a:rPr lang="en-ID" smtClean="0"/>
              <a:t>1</a:t>
            </a:fld>
            <a:endParaRPr lang="en-ID"/>
          </a:p>
        </p:txBody>
      </p:sp>
    </p:spTree>
    <p:extLst>
      <p:ext uri="{BB962C8B-B14F-4D97-AF65-F5344CB8AC3E}">
        <p14:creationId xmlns:p14="http://schemas.microsoft.com/office/powerpoint/2010/main" val="31531797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Saya mulai dari datanya dulu. Olist merupakan data transaksi e-commerce di Brasil, dengan periode transaksi tahun 2016 sampai 2018. Informasinya tersebar di sembilan tabel. Misalnya, data pesanan ada di tabel order, rincian barang ada di tabel item, dan penilaian pelanggan ada di tabel review.</a:t>
            </a:r>
          </a:p>
          <a:p>
            <a:endParaRPr lang="en-ID"/>
          </a:p>
          <a:p>
            <a:r>
              <a:rPr lang="en-ID"/>
              <a:t>Masalah yang saya fokuskan adalah pengiriman terlambat. Di sini, terlambat berarti waktu penerimaan aktual melewati waktu estimasi. Jadi, saya memakai perbandingan timestamp, bukan sekadar selisih hari.</a:t>
            </a:r>
          </a:p>
          <a:p>
            <a:endParaRPr lang="en-ID"/>
          </a:p>
          <a:p>
            <a:r>
              <a:rPr lang="en-ID"/>
              <a:t>Dari sekitar 96 ribu order dengan tanggal yang valid, ada 7.826 order terlambat, atau 8,11 persen. Rata-rata review kelompok tepat waktu sekitar 4,29, sedangkan kelompok terlambat sekitar 2,57.</a:t>
            </a:r>
          </a:p>
          <a:p>
            <a:endParaRPr lang="en-ID"/>
          </a:p>
          <a:p>
            <a:r>
              <a:rPr lang="en-ID"/>
              <a:t>Angka ini menjadi titik awal atau baseline saya. Ada hubungan yang perlu diperhatikan, tetapi belum bisa disimpulkan bahwa keterlambatan merupakan satu-satunya penyebab review rendah.</a:t>
            </a:r>
          </a:p>
          <a:p>
            <a:endParaRPr lang="en-ID"/>
          </a:p>
          <a:p>
            <a:r>
              <a:rPr lang="en-ID"/>
              <a:t>------------------------------</a:t>
            </a:r>
          </a:p>
          <a:p>
            <a:r>
              <a:rPr lang="en-ID"/>
              <a:t>Referensi (tidak perlu dibacakan):</a:t>
            </a:r>
          </a:p>
          <a:p>
            <a:r>
              <a:rPr lang="en-ID"/>
              <a:t>Laporan Bab 1; outputs_ml_graph/feature_preparation_audit.json; notebook 02 untuk review per order.</a:t>
            </a:r>
          </a:p>
          <a:p>
            <a:endParaRPr lang="en-ID"/>
          </a:p>
          <a:p>
            <a:r>
              <a:rPr lang="en-ID"/>
              <a:t>Target waktu: 00:25–01:20</a:t>
            </a:r>
          </a:p>
        </p:txBody>
      </p:sp>
      <p:sp>
        <p:nvSpPr>
          <p:cNvPr id="4" name="Slide Number Placeholder 3"/>
          <p:cNvSpPr>
            <a:spLocks noGrp="1"/>
          </p:cNvSpPr>
          <p:nvPr>
            <p:ph type="sldNum" sz="quarter" idx="5"/>
          </p:nvPr>
        </p:nvSpPr>
        <p:spPr/>
        <p:txBody>
          <a:bodyPr/>
          <a:lstStyle/>
          <a:p>
            <a:fld id="{11890F9F-22B3-49BC-BB75-1A03D2176C3A}" type="slidenum">
              <a:rPr lang="en-ID" smtClean="0"/>
              <a:t>2</a:t>
            </a:fld>
            <a:endParaRPr lang="en-ID"/>
          </a:p>
        </p:txBody>
      </p:sp>
    </p:spTree>
    <p:extLst>
      <p:ext uri="{BB962C8B-B14F-4D97-AF65-F5344CB8AC3E}">
        <p14:creationId xmlns:p14="http://schemas.microsoft.com/office/powerpoint/2010/main" val="15073449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Dari masalah tadi, saya ingin membuat data transaksi ini lebih mudah dipakai untuk meninjau keterlambatan. Jadi, pekerjaan saya bukan berhenti pada menghitung berapa order yang terlambat, tetapi juga menyiapkan dasar untuk menentukan bagian mana yang perlu diperiksa.</a:t>
            </a:r>
          </a:p>
          <a:p>
            <a:endParaRPr lang="en-ID"/>
          </a:p>
          <a:p>
            <a:r>
              <a:rPr lang="en-ID"/>
              <a:t>Contohnya, tim Logistics bisa melihat rute dengan keterlambatan tinggi. Tim Merchant Performance bisa meninjau order yang ditandai berisiko setelah approval. Sementara itu, manajemen bisa memakai ringkasan hasil untuk memantau kondisi keseluruhan.</a:t>
            </a:r>
          </a:p>
          <a:p>
            <a:endParaRPr lang="en-ID"/>
          </a:p>
          <a:p>
            <a:r>
              <a:rPr lang="en-ID"/>
              <a:t>Untuk Assignment I, fokus utamanya adalah rancangan solusi dan persiapan data. Model dan graf menjadi eksplorasi tambahan. Jadi, hasil saat ini membantu menyusun prioritas investigasi. Penurunan keterlambatan yang sebenarnya baru bisa dibuktikan setelah ada tindakan dan evaluasi dampaknya.</a:t>
            </a:r>
          </a:p>
          <a:p>
            <a:endParaRPr lang="en-ID"/>
          </a:p>
          <a:p>
            <a:r>
              <a:rPr lang="en-ID"/>
              <a:t>------------------------------</a:t>
            </a:r>
          </a:p>
          <a:p>
            <a:r>
              <a:rPr lang="en-ID"/>
              <a:t>Referensi (tidak perlu dibacakan):</a:t>
            </a:r>
          </a:p>
          <a:p>
            <a:r>
              <a:rPr lang="en-ID"/>
              <a:t>Laporan Bab 1 dan 2; lingkup Assignment I pada instruksi tugas lokal.</a:t>
            </a:r>
          </a:p>
          <a:p>
            <a:endParaRPr lang="en-ID"/>
          </a:p>
          <a:p>
            <a:r>
              <a:rPr lang="en-ID"/>
              <a:t>Target waktu: 01:20–02:05</a:t>
            </a:r>
          </a:p>
        </p:txBody>
      </p:sp>
      <p:sp>
        <p:nvSpPr>
          <p:cNvPr id="4" name="Slide Number Placeholder 3"/>
          <p:cNvSpPr>
            <a:spLocks noGrp="1"/>
          </p:cNvSpPr>
          <p:nvPr>
            <p:ph type="sldNum" sz="quarter" idx="5"/>
          </p:nvPr>
        </p:nvSpPr>
        <p:spPr/>
        <p:txBody>
          <a:bodyPr/>
          <a:lstStyle/>
          <a:p>
            <a:fld id="{11890F9F-22B3-49BC-BB75-1A03D2176C3A}" type="slidenum">
              <a:rPr lang="en-ID" smtClean="0"/>
              <a:t>3</a:t>
            </a:fld>
            <a:endParaRPr lang="en-ID"/>
          </a:p>
        </p:txBody>
      </p:sp>
    </p:spTree>
    <p:extLst>
      <p:ext uri="{BB962C8B-B14F-4D97-AF65-F5344CB8AC3E}">
        <p14:creationId xmlns:p14="http://schemas.microsoft.com/office/powerpoint/2010/main" val="21252881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Lalu, kenapa masalah pengiriman ini penting? Dalam e-commerce, pelanggan bukan hanya mempertimbangkan barangnya, tetapi juga kapan barang itu sampai.</a:t>
            </a:r>
          </a:p>
          <a:p>
            <a:endParaRPr lang="en-ID"/>
          </a:p>
          <a:p>
            <a:r>
              <a:rPr lang="en-ID"/>
              <a:t>Sebagai konteks, survei DHL tahun 2026 menyebut dua puluh persen pembeli merasa pengiriman lebih cepat dapat mendorong mereka menyelesaikan pembelian. OECD juga membahas peran ulasan dan rating dalam kepercayaan pada platform.</a:t>
            </a:r>
          </a:p>
          <a:p>
            <a:endParaRPr lang="en-ID"/>
          </a:p>
          <a:p>
            <a:r>
              <a:rPr lang="en-ID"/>
              <a:t>Saya memakai sumber ini untuk menjelaskan relevansi masalah. Namun, survei tersebut berbeda dari data Olist yang saya olah. Jadi, sumber eksternal memberi konteks, sedangkan angka dan prioritas analisis tetap saya ambil dari data proyek.</a:t>
            </a:r>
          </a:p>
          <a:p>
            <a:endParaRPr lang="en-ID"/>
          </a:p>
          <a:p>
            <a:r>
              <a:rPr lang="en-ID"/>
              <a:t>------------------------------</a:t>
            </a:r>
          </a:p>
          <a:p>
            <a:r>
              <a:rPr lang="en-ID"/>
              <a:t>Referensi (tidak perlu dibacakan):</a:t>
            </a:r>
          </a:p>
          <a:p>
            <a:r>
              <a:rPr lang="en-ID"/>
              <a:t>DHL Group (2026): https://group.dhl.com/en/media-relations/press-releases/2026/dhl-ecommerce-trends-report-2026-old-rules-do-not-apply-in-the-age-of-ai.html
OECD (2019): https://doi.org/10.1787/23561431-en</a:t>
            </a:r>
          </a:p>
          <a:p>
            <a:endParaRPr lang="en-ID"/>
          </a:p>
          <a:p>
            <a:r>
              <a:rPr lang="en-ID"/>
              <a:t>Target waktu: 02:05–02:40</a:t>
            </a:r>
          </a:p>
        </p:txBody>
      </p:sp>
      <p:sp>
        <p:nvSpPr>
          <p:cNvPr id="4" name="Slide Number Placeholder 3"/>
          <p:cNvSpPr>
            <a:spLocks noGrp="1"/>
          </p:cNvSpPr>
          <p:nvPr>
            <p:ph type="sldNum" sz="quarter" idx="5"/>
          </p:nvPr>
        </p:nvSpPr>
        <p:spPr/>
        <p:txBody>
          <a:bodyPr/>
          <a:lstStyle/>
          <a:p>
            <a:fld id="{11890F9F-22B3-49BC-BB75-1A03D2176C3A}" type="slidenum">
              <a:rPr lang="en-ID" smtClean="0"/>
              <a:t>4</a:t>
            </a:fld>
            <a:endParaRPr lang="en-ID"/>
          </a:p>
        </p:txBody>
      </p:sp>
    </p:spTree>
    <p:extLst>
      <p:ext uri="{BB962C8B-B14F-4D97-AF65-F5344CB8AC3E}">
        <p14:creationId xmlns:p14="http://schemas.microsoft.com/office/powerpoint/2010/main" val="25737016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Untuk mengerjakan proyek ini, saya memakai Python, dengan VS Code sebagai editor. Jupyter Notebook membantu saya menyusun proses per langkah, sehingga kode dan hasilnya bisa dilihat bersama.</a:t>
            </a:r>
          </a:p>
          <a:p>
            <a:endParaRPr lang="en-ID"/>
          </a:p>
          <a:p>
            <a:r>
              <a:rPr lang="en-ID"/>
              <a:t>Pengolahan tabel menggunakan PySpark. Java 17 dibutuhkan agar Spark dapat berjalan. Alasan saya memakai Spark adalah pembelajaran sekaligus menyatukan pengolahan data dan model dalam satu framework. Untuk ukuran data sekitar 120 MiB, pandas sebenarnya masih cukup. Spark saya jalankan di satu komputer, jadi skalabilitas cluster belum saya uji.</a:t>
            </a:r>
          </a:p>
          <a:p>
            <a:endParaRPr lang="en-ID"/>
          </a:p>
          <a:p>
            <a:r>
              <a:rPr lang="en-ID"/>
              <a:t>Hasil tabel disimpan sebagai Parquet dengan kompresi Snappy. Parquet menyimpan data per kolom dan mempertahankan tipe data, sedangkan Snappy membantu mengecilkan ukuran file.</a:t>
            </a:r>
          </a:p>
          <a:p>
            <a:endParaRPr lang="en-ID"/>
          </a:p>
          <a:p>
            <a:r>
              <a:rPr lang="en-ID"/>
              <a:t>Untuk model, saya memakai Random Forest dari MLlib, yaitu gabungan banyak pohon keputusan. Untuk graf, saya memakai pandas dan NetworkX karena jaringan state ini masih kecil. NumPy dan SciPy membantu perhitungan evaluasi numerik.</a:t>
            </a:r>
          </a:p>
          <a:p>
            <a:endParaRPr lang="en-ID"/>
          </a:p>
          <a:p>
            <a:r>
              <a:rPr lang="en-ID"/>
              <a:t>Git dan GitHub mencatat versi kode, laporan, serta ringkasan hasil. Jadi, kalau melanjutkan pekerjaan di perangkat lain, saya punya versi proyek yang jelas.</a:t>
            </a:r>
          </a:p>
          <a:p>
            <a:endParaRPr lang="en-ID"/>
          </a:p>
          <a:p>
            <a:r>
              <a:rPr lang="en-ID"/>
              <a:t>------------------------------</a:t>
            </a:r>
          </a:p>
          <a:p>
            <a:r>
              <a:rPr lang="en-ID"/>
              <a:t>Referensi (tidak perlu dibacakan):</a:t>
            </a:r>
          </a:p>
          <a:p>
            <a:r>
              <a:rPr lang="en-ID"/>
              <a:t>requirements.txt; notebooks/README.md; docs/runtime-prerequisites.md; laporan bagian 2.4.</a:t>
            </a:r>
          </a:p>
          <a:p>
            <a:endParaRPr lang="en-ID"/>
          </a:p>
          <a:p>
            <a:r>
              <a:rPr lang="en-ID"/>
              <a:t>Target waktu: 02:40–04:00</a:t>
            </a:r>
          </a:p>
        </p:txBody>
      </p:sp>
      <p:sp>
        <p:nvSpPr>
          <p:cNvPr id="4" name="Slide Number Placeholder 3"/>
          <p:cNvSpPr>
            <a:spLocks noGrp="1"/>
          </p:cNvSpPr>
          <p:nvPr>
            <p:ph type="sldNum" sz="quarter" idx="5"/>
          </p:nvPr>
        </p:nvSpPr>
        <p:spPr/>
        <p:txBody>
          <a:bodyPr/>
          <a:lstStyle/>
          <a:p>
            <a:fld id="{11890F9F-22B3-49BC-BB75-1A03D2176C3A}" type="slidenum">
              <a:rPr lang="en-ID" smtClean="0"/>
              <a:t>5</a:t>
            </a:fld>
            <a:endParaRPr lang="en-ID"/>
          </a:p>
        </p:txBody>
      </p:sp>
    </p:spTree>
    <p:extLst>
      <p:ext uri="{BB962C8B-B14F-4D97-AF65-F5344CB8AC3E}">
        <p14:creationId xmlns:p14="http://schemas.microsoft.com/office/powerpoint/2010/main" val="25302656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Supaya prosesnya mudah diikuti, saya membaginya menjadi tiga notebook. Notebook pertama menangani pembacaan CSV, pemeriksaan data, dan penyimpanan ke Parquet. Notebook kedua menyusun fitur dan model. Notebook ketiga menangani analisis graf.</a:t>
            </a:r>
          </a:p>
          <a:p>
            <a:endParaRPr lang="en-ID"/>
          </a:p>
          <a:p>
            <a:r>
              <a:rPr lang="en-ID"/>
              <a:t>Bagian pentingnya ada pada cara menggabungkan tabel. Satu order bisa mempunyai beberapa item dan beberapa catatan pembayaran. Kalau langsung digabung, nilai yang sama bisa muncul berulang dan totalnya menjadi terlalu besar.</a:t>
            </a:r>
          </a:p>
          <a:p>
            <a:endParaRPr lang="en-ID"/>
          </a:p>
          <a:p>
            <a:r>
              <a:rPr lang="en-ID"/>
              <a:t>Karena itu, detail item dan payment saya ringkas lebih dulu per order. Setelah itu baru saya lakukan join. Hasil fitur akhirnya mempunyai satu baris untuk satu order. Itu yang dimaksud dengan grain order.</a:t>
            </a:r>
          </a:p>
          <a:p>
            <a:endParaRPr lang="en-ID"/>
          </a:p>
          <a:p>
            <a:r>
              <a:rPr lang="en-ID"/>
              <a:t>Parquet sudah berjalan. Warehouse masih berupa rancangan, sementara server NoSQL, graph database fisik, dan dashboard belum saya bangun. NetworkX yang saya gunakan saat ini adalah library graf dalam memori.</a:t>
            </a:r>
          </a:p>
          <a:p>
            <a:endParaRPr lang="en-ID"/>
          </a:p>
          <a:p>
            <a:r>
              <a:rPr lang="en-ID"/>
              <a:t>------------------------------</a:t>
            </a:r>
          </a:p>
          <a:p>
            <a:r>
              <a:rPr lang="en-ID"/>
              <a:t>Referensi (tidak perlu dibacakan):</a:t>
            </a:r>
          </a:p>
          <a:p>
            <a:r>
              <a:rPr lang="en-ID"/>
              <a:t>notebooks/01_Ingestion_and_Parquet_Conversion.ipynb; notebook 02/03; laporan Bab 2 dan 4.</a:t>
            </a:r>
          </a:p>
          <a:p>
            <a:endParaRPr lang="en-ID"/>
          </a:p>
          <a:p>
            <a:r>
              <a:rPr lang="en-ID"/>
              <a:t>Target waktu: 04:00–05:00</a:t>
            </a:r>
          </a:p>
        </p:txBody>
      </p:sp>
      <p:sp>
        <p:nvSpPr>
          <p:cNvPr id="4" name="Slide Number Placeholder 3"/>
          <p:cNvSpPr>
            <a:spLocks noGrp="1"/>
          </p:cNvSpPr>
          <p:nvPr>
            <p:ph type="sldNum" sz="quarter" idx="5"/>
          </p:nvPr>
        </p:nvSpPr>
        <p:spPr/>
        <p:txBody>
          <a:bodyPr/>
          <a:lstStyle/>
          <a:p>
            <a:fld id="{11890F9F-22B3-49BC-BB75-1A03D2176C3A}" type="slidenum">
              <a:rPr lang="en-ID" smtClean="0"/>
              <a:t>6</a:t>
            </a:fld>
            <a:endParaRPr lang="en-ID"/>
          </a:p>
        </p:txBody>
      </p:sp>
    </p:spTree>
    <p:extLst>
      <p:ext uri="{BB962C8B-B14F-4D97-AF65-F5344CB8AC3E}">
        <p14:creationId xmlns:p14="http://schemas.microsoft.com/office/powerpoint/2010/main" val="1356152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Sekarang masuk ke hasil ingestion. Dari pemeriksaan yang sudah saya jalankan, sembilan tabel menghasilkan PASS. Pada ringkasan, status round-trip semuanya True. Artinya, hasil pengecekan yang dicatat notebook, termasuk jumlah baris dan profil nilai kosong setelah proses baca-tulis, sudah sesuai.</a:t>
            </a:r>
          </a:p>
          <a:p>
            <a:endParaRPr lang="en-ID"/>
          </a:p>
          <a:p>
            <a:r>
              <a:rPr lang="en-ID"/>
              <a:t>Ukuran seluruh CSV sekitar 120,34 MiB. Setelah menjadi Parquet, ukurannya sekitar 54,24 MiB. Jadi, penghematan storage mencapai 54,93 persen. Ini penghematan ruang penyimpanan; kecepatan kueri belum saya ukur.</a:t>
            </a:r>
          </a:p>
          <a:p>
            <a:endParaRPr lang="en-ID"/>
          </a:p>
          <a:p>
            <a:r>
              <a:rPr lang="en-ID"/>
              <a:t>Data raw tetap saya simpan agar sumber awal bisa diperiksa lagi. Nilai kosong pada review dan duplikasi geolocation saya catat dalam profil kualitas data.</a:t>
            </a:r>
          </a:p>
          <a:p>
            <a:endParaRPr lang="en-ID"/>
          </a:p>
          <a:p>
            <a:r>
              <a:rPr lang="en-ID"/>
              <a:t>Perlu dibedakan juga: demo membaca ringkasan hasil tersimpan. Pemeriksaan pembacaan dan konversi lengkap sudah dilakukan lewat notebook pertama sebelumnya.</a:t>
            </a:r>
          </a:p>
          <a:p>
            <a:endParaRPr lang="en-ID"/>
          </a:p>
          <a:p>
            <a:r>
              <a:rPr lang="en-ID"/>
              <a:t>------------------------------</a:t>
            </a:r>
          </a:p>
          <a:p>
            <a:r>
              <a:rPr lang="en-ID"/>
              <a:t>Referensi (tidak perlu dibacakan):</a:t>
            </a:r>
          </a:p>
          <a:p>
            <a:r>
              <a:rPr lang="en-ID"/>
              <a:t>Hasil demo pengguna, bagian ingestion; outputs_ml_graph/ingestion_summary_report.csv dan ingestion_null_profile.json.</a:t>
            </a:r>
          </a:p>
          <a:p>
            <a:endParaRPr lang="en-ID"/>
          </a:p>
          <a:p>
            <a:r>
              <a:rPr lang="en-ID"/>
              <a:t>Target waktu: 05:00–05:50</a:t>
            </a:r>
          </a:p>
        </p:txBody>
      </p:sp>
      <p:sp>
        <p:nvSpPr>
          <p:cNvPr id="4" name="Slide Number Placeholder 3"/>
          <p:cNvSpPr>
            <a:spLocks noGrp="1"/>
          </p:cNvSpPr>
          <p:nvPr>
            <p:ph type="sldNum" sz="quarter" idx="5"/>
          </p:nvPr>
        </p:nvSpPr>
        <p:spPr/>
        <p:txBody>
          <a:bodyPr/>
          <a:lstStyle/>
          <a:p>
            <a:fld id="{11890F9F-22B3-49BC-BB75-1A03D2176C3A}" type="slidenum">
              <a:rPr lang="en-ID" smtClean="0"/>
              <a:t>7</a:t>
            </a:fld>
            <a:endParaRPr lang="en-ID"/>
          </a:p>
        </p:txBody>
      </p:sp>
    </p:spTree>
    <p:extLst>
      <p:ext uri="{BB962C8B-B14F-4D97-AF65-F5344CB8AC3E}">
        <p14:creationId xmlns:p14="http://schemas.microsoft.com/office/powerpoint/2010/main" val="6291755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Selain menghasilkan analisis, saya juga perlu memastikan data dikelola dengan jelas. Karena itu, raw tetap tersedia untuk audit, sedangkan yang masuk GitHub adalah kode, laporan, dan ringkasan agregat. Dataset raw, credential, serta runtime tidak ikut dipublikasikan.</a:t>
            </a:r>
          </a:p>
          <a:p>
            <a:endParaRPr lang="en-ID"/>
          </a:p>
          <a:p>
            <a:r>
              <a:rPr lang="en-ID"/>
              <a:t>Untuk penggunaan operasional, saya merancang akses sesuai peran, batas penyimpanan data, dan pemeriksaan informasi pribadi pada teks ulasan. Misalnya, tim yang hanya membutuhkan ringkasan rute tidak harus mendapat akses ke seluruh teks review.</a:t>
            </a:r>
          </a:p>
          <a:p>
            <a:endParaRPr lang="en-ID"/>
          </a:p>
          <a:p>
            <a:r>
              <a:rPr lang="en-ID"/>
              <a:t>ID yang terlihat seperti hash juga tidak otomatis membuat seluruh dataset anonim. Informasi pribadi masih mungkin muncul pada teks.</a:t>
            </a:r>
          </a:p>
          <a:p>
            <a:endParaRPr lang="en-ID"/>
          </a:p>
          <a:p>
            <a:r>
              <a:rPr lang="en-ID"/>
              <a:t>Jadi, ada praktik yang sudah berjalan di prototipe dan ada kontrol yang masih perlu diterapkan. Saya belum menganggap prototipe ini membuktikan kepatuhan operasional.</a:t>
            </a:r>
          </a:p>
          <a:p>
            <a:endParaRPr lang="en-ID"/>
          </a:p>
          <a:p>
            <a:r>
              <a:rPr lang="en-ID"/>
              <a:t>------------------------------</a:t>
            </a:r>
          </a:p>
          <a:p>
            <a:r>
              <a:rPr lang="en-ID"/>
              <a:t>Referensi (tidak perlu dibacakan):</a:t>
            </a:r>
          </a:p>
          <a:p>
            <a:r>
              <a:rPr lang="en-ID"/>
              <a:t>Laporan Bab 3; .gitignore. Rujukan hukum lengkap terdapat pada laporan.</a:t>
            </a:r>
          </a:p>
          <a:p>
            <a:endParaRPr lang="en-ID"/>
          </a:p>
          <a:p>
            <a:r>
              <a:rPr lang="en-ID"/>
              <a:t>Target waktu: 05:50–06:35</a:t>
            </a:r>
          </a:p>
        </p:txBody>
      </p:sp>
      <p:sp>
        <p:nvSpPr>
          <p:cNvPr id="4" name="Slide Number Placeholder 3"/>
          <p:cNvSpPr>
            <a:spLocks noGrp="1"/>
          </p:cNvSpPr>
          <p:nvPr>
            <p:ph type="sldNum" sz="quarter" idx="5"/>
          </p:nvPr>
        </p:nvSpPr>
        <p:spPr/>
        <p:txBody>
          <a:bodyPr/>
          <a:lstStyle/>
          <a:p>
            <a:fld id="{11890F9F-22B3-49BC-BB75-1A03D2176C3A}" type="slidenum">
              <a:rPr lang="en-ID" smtClean="0"/>
              <a:t>8</a:t>
            </a:fld>
            <a:endParaRPr lang="en-ID"/>
          </a:p>
        </p:txBody>
      </p:sp>
    </p:spTree>
    <p:extLst>
      <p:ext uri="{BB962C8B-B14F-4D97-AF65-F5344CB8AC3E}">
        <p14:creationId xmlns:p14="http://schemas.microsoft.com/office/powerpoint/2010/main" val="34630552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Untuk model, tantangan utamanya adalah jumlah order terlambat jauh lebih sedikit. Kalau model selalu menjawab tepat waktu, accuracy bisa terlihat tinggi, tetapi tidak membantu menemukan keterlambatan.</a:t>
            </a:r>
          </a:p>
          <a:p>
            <a:endParaRPr lang="en-ID"/>
          </a:p>
          <a:p>
            <a:r>
              <a:rPr lang="en-ID"/>
              <a:t>Saya membandingkan Random Forest tanpa bobot dengan versi yang memberi bobot lebih besar pada kelas terlambat. Data train dipakai untuk belajar, validation untuk memilih kandidat dan ambang, lalu test untuk evaluasi akhir. Jadi, test tidak dipakai untuk menentukan pilihan.</a:t>
            </a:r>
          </a:p>
          <a:p>
            <a:endParaRPr lang="en-ID"/>
          </a:p>
          <a:p>
            <a:r>
              <a:rPr lang="en-ID"/>
              <a:t>Ambang adalah batas skor untuk menandai order berisiko. Berdasarkan F1 validation, kandidat tanpa bobot dipilih dengan ambang sekitar 0,10. Nilai tepatnya ada di slide. F1 menyeimbangkan precision dan recall.</a:t>
            </a:r>
          </a:p>
          <a:p>
            <a:endParaRPr lang="en-ID"/>
          </a:p>
          <a:p>
            <a:r>
              <a:rPr lang="en-ID"/>
              <a:t>Pada test yang sama, recall naik dari nol menjadi 45,41 persen. Artinya, sekitar 45 dari 100 kasus terlambat berhasil ditemukan. Tetapi precision hanya 14,47 persen: dari 100 order yang ditandai, sekitar 14 benar-benar terlambat.</a:t>
            </a:r>
          </a:p>
          <a:p>
            <a:endParaRPr lang="en-ID"/>
          </a:p>
          <a:p>
            <a:r>
              <a:rPr lang="en-ID"/>
              <a:t>Ada 4.186 false positive, yaitu order tepat waktu yang ikut ditandai. Jadi, hasil ini masih untuk peninjauan. Ambang tersebut berasal dari skor model yang belum dikalibrasi sebagai probabilitas.</a:t>
            </a:r>
          </a:p>
          <a:p>
            <a:endParaRPr lang="en-ID"/>
          </a:p>
          <a:p>
            <a:r>
              <a:rPr lang="en-ID"/>
              <a:t>------------------------------</a:t>
            </a:r>
          </a:p>
          <a:p>
            <a:r>
              <a:rPr lang="en-ID"/>
              <a:t>Referensi (tidak perlu dibacakan):</a:t>
            </a:r>
          </a:p>
          <a:p>
            <a:r>
              <a:rPr lang="en-ID"/>
              <a:t>Hasil demo pengguna, bagian model; model_evaluation_report.json; model_validation_comparison.csv; model_confusion_matrix.csv.</a:t>
            </a:r>
          </a:p>
          <a:p>
            <a:endParaRPr lang="en-ID"/>
          </a:p>
          <a:p>
            <a:r>
              <a:rPr lang="en-ID"/>
              <a:t>Target waktu: 06:35–07:55</a:t>
            </a:r>
          </a:p>
        </p:txBody>
      </p:sp>
      <p:sp>
        <p:nvSpPr>
          <p:cNvPr id="4" name="Slide Number Placeholder 3"/>
          <p:cNvSpPr>
            <a:spLocks noGrp="1"/>
          </p:cNvSpPr>
          <p:nvPr>
            <p:ph type="sldNum" sz="quarter" idx="5"/>
          </p:nvPr>
        </p:nvSpPr>
        <p:spPr/>
        <p:txBody>
          <a:bodyPr/>
          <a:lstStyle/>
          <a:p>
            <a:fld id="{11890F9F-22B3-49BC-BB75-1A03D2176C3A}" type="slidenum">
              <a:rPr lang="en-ID" smtClean="0"/>
              <a:t>9</a:t>
            </a:fld>
            <a:endParaRPr lang="en-ID"/>
          </a:p>
        </p:txBody>
      </p:sp>
    </p:spTree>
    <p:extLst>
      <p:ext uri="{BB962C8B-B14F-4D97-AF65-F5344CB8AC3E}">
        <p14:creationId xmlns:p14="http://schemas.microsoft.com/office/powerpoint/2010/main" val="5192644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Untuk graf, saya melihat hubungan antar-state, yaitu wilayah asal seller dan wilayah tujuan customer. Node mewakili state, sedangkan edge mewakili rute asal ke tujuan. Dari data ini terbentuk 27 node dan 409 rute.</a:t>
            </a:r>
          </a:p>
          <a:p>
            <a:endParaRPr lang="en-ID"/>
          </a:p>
          <a:p>
            <a:r>
              <a:rPr lang="en-ID"/>
              <a:t>Hasil pemeriksaan PASS karena jumlah order dari seluruh rute cocok dengan populasi graf. Sebagai contoh, rute SP ke RJ mempunyai 8.158 order dengan delay 15,49 persen. Angka itu lebih tinggi dari delay nasional, yaitu 8,11 persen.</a:t>
            </a:r>
          </a:p>
          <a:p>
            <a:endParaRPr lang="en-ID"/>
          </a:p>
          <a:p>
            <a:r>
              <a:rPr lang="en-ID"/>
              <a:t>Karena volumenya cukup besar dan persentase terlambatnya tinggi, rute ini masuk prioritas investigasi. Namun, kita baru mengetahui asal dan tujuan. Kita belum mengetahui tempat transit atau proses yang menyebabkan keterlambatan.</a:t>
            </a:r>
          </a:p>
          <a:p>
            <a:endParaRPr lang="en-ID"/>
          </a:p>
          <a:p>
            <a:r>
              <a:rPr lang="en-ID"/>
              <a:t>Jadi, graf ini membantu menentukan rute yang perlu diperiksa lebih lanjut. Untuk menentukan lokasi hub atau penyebab fisik masalah, saya masih membutuhkan data operasional yang lebih rinci.</a:t>
            </a:r>
          </a:p>
          <a:p>
            <a:endParaRPr lang="en-ID"/>
          </a:p>
          <a:p>
            <a:r>
              <a:rPr lang="en-ID"/>
              <a:t>------------------------------</a:t>
            </a:r>
          </a:p>
          <a:p>
            <a:r>
              <a:rPr lang="en-ID"/>
              <a:t>Referensi (tidak perlu dibacakan):</a:t>
            </a:r>
          </a:p>
          <a:p>
            <a:r>
              <a:rPr lang="en-ID"/>
              <a:t>Hasil demo pengguna, bagian graph; graph_preparation_audit.json; seller_customer_routes_report.csv.</a:t>
            </a:r>
          </a:p>
          <a:p>
            <a:endParaRPr lang="en-ID"/>
          </a:p>
          <a:p>
            <a:r>
              <a:rPr lang="en-ID"/>
              <a:t>Target waktu: 07:55–08:50</a:t>
            </a:r>
          </a:p>
        </p:txBody>
      </p:sp>
      <p:sp>
        <p:nvSpPr>
          <p:cNvPr id="4" name="Slide Number Placeholder 3"/>
          <p:cNvSpPr>
            <a:spLocks noGrp="1"/>
          </p:cNvSpPr>
          <p:nvPr>
            <p:ph type="sldNum" sz="quarter" idx="5"/>
          </p:nvPr>
        </p:nvSpPr>
        <p:spPr/>
        <p:txBody>
          <a:bodyPr/>
          <a:lstStyle/>
          <a:p>
            <a:fld id="{11890F9F-22B3-49BC-BB75-1A03D2176C3A}" type="slidenum">
              <a:rPr lang="en-ID" smtClean="0"/>
              <a:t>10</a:t>
            </a:fld>
            <a:endParaRPr lang="en-ID"/>
          </a:p>
        </p:txBody>
      </p:sp>
    </p:spTree>
    <p:extLst>
      <p:ext uri="{BB962C8B-B14F-4D97-AF65-F5344CB8AC3E}">
        <p14:creationId xmlns:p14="http://schemas.microsoft.com/office/powerpoint/2010/main" val="693358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Dari seluruh proses tadi, ketiga pemeriksaan sudah berhasil: ingestion, model, dan graf. PASS di sini berarti hasil yang diperiksa konsisten, bukan berarti masalah keterlambatan sudah selesai.</a:t>
            </a:r>
          </a:p>
          <a:p>
            <a:endParaRPr lang="en-ID"/>
          </a:p>
          <a:p>
            <a:r>
              <a:rPr lang="en-ID"/>
              <a:t>Hasil demo saya tampilkan sebagai pemeriksaan yang sudah dijalankan sebelumnya. Jadi, presentasi ini bisa dijelaskan sepenuhnya lewat PowerPoint.</a:t>
            </a:r>
          </a:p>
          <a:p>
            <a:endParaRPr lang="en-ID"/>
          </a:p>
          <a:p>
            <a:r>
              <a:rPr lang="en-ID"/>
              <a:t>Kesimpulannya, proyek ini sudah menyediakan baseline, data bertipe yang bisa diaudit, dan rancangan analisis untuk meninjau risiko keterlambatan. Berikutnya, model perlu diuji pada periode berbeda dan dibandingkan dengan biaya intervensi. Kebutuhan dashboard juga perlu dibahas bersama pengguna.</a:t>
            </a:r>
          </a:p>
          <a:p>
            <a:endParaRPr lang="en-ID"/>
          </a:p>
          <a:p>
            <a:r>
              <a:rPr lang="en-ID"/>
              <a:t>Dengan langkah itu, analisis bisa berkembang menjadi keputusan yang manfaatnya dapat diukur. Terima kasih.</a:t>
            </a:r>
          </a:p>
          <a:p>
            <a:endParaRPr lang="en-ID"/>
          </a:p>
          <a:p>
            <a:r>
              <a:rPr lang="en-ID"/>
              <a:t>------------------------------</a:t>
            </a:r>
          </a:p>
          <a:p>
            <a:r>
              <a:rPr lang="en-ID"/>
              <a:t>Referensi (tidak perlu dibacakan):</a:t>
            </a:r>
          </a:p>
          <a:p>
            <a:r>
              <a:rPr lang="en-ID"/>
              <a:t>Hasil tiga perintah demo yang dibagikan pengguna; demo_assignment1.py; laporan batas implementasi.</a:t>
            </a:r>
          </a:p>
          <a:p>
            <a:endParaRPr lang="en-ID"/>
          </a:p>
          <a:p>
            <a:r>
              <a:rPr lang="en-ID"/>
              <a:t>Target waktu: 08:50–09:30</a:t>
            </a:r>
          </a:p>
        </p:txBody>
      </p:sp>
      <p:sp>
        <p:nvSpPr>
          <p:cNvPr id="4" name="Slide Number Placeholder 3"/>
          <p:cNvSpPr>
            <a:spLocks noGrp="1"/>
          </p:cNvSpPr>
          <p:nvPr>
            <p:ph type="sldNum" sz="quarter" idx="5"/>
          </p:nvPr>
        </p:nvSpPr>
        <p:spPr/>
        <p:txBody>
          <a:bodyPr/>
          <a:lstStyle/>
          <a:p>
            <a:fld id="{11890F9F-22B3-49BC-BB75-1A03D2176C3A}" type="slidenum">
              <a:rPr lang="en-ID" smtClean="0"/>
              <a:t>11</a:t>
            </a:fld>
            <a:endParaRPr lang="en-ID"/>
          </a:p>
        </p:txBody>
      </p:sp>
    </p:spTree>
    <p:extLst>
      <p:ext uri="{BB962C8B-B14F-4D97-AF65-F5344CB8AC3E}">
        <p14:creationId xmlns:p14="http://schemas.microsoft.com/office/powerpoint/2010/main" val="11797757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835AE-FDCC-E110-795E-2B2E6ED3BAF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D"/>
          </a:p>
        </p:txBody>
      </p:sp>
      <p:sp>
        <p:nvSpPr>
          <p:cNvPr id="3" name="Subtitle 2">
            <a:extLst>
              <a:ext uri="{FF2B5EF4-FFF2-40B4-BE49-F238E27FC236}">
                <a16:creationId xmlns:a16="http://schemas.microsoft.com/office/drawing/2014/main" id="{942161E2-A423-1F9B-BB00-D6F20075212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sp>
        <p:nvSpPr>
          <p:cNvPr id="4" name="Date Placeholder 3">
            <a:extLst>
              <a:ext uri="{FF2B5EF4-FFF2-40B4-BE49-F238E27FC236}">
                <a16:creationId xmlns:a16="http://schemas.microsoft.com/office/drawing/2014/main" id="{2067A864-631B-9478-C4CB-EAA812E748C6}"/>
              </a:ext>
            </a:extLst>
          </p:cNvPr>
          <p:cNvSpPr>
            <a:spLocks noGrp="1"/>
          </p:cNvSpPr>
          <p:nvPr>
            <p:ph type="dt" sz="half" idx="10"/>
          </p:nvPr>
        </p:nvSpPr>
        <p:spPr/>
        <p:txBody>
          <a:bodyPr/>
          <a:lstStyle/>
          <a:p>
            <a:fld id="{478BB0F6-D51F-41BE-8A10-01196C97E34B}" type="datetimeFigureOut">
              <a:rPr lang="en-ID" smtClean="0"/>
              <a:t>29/09/2026</a:t>
            </a:fld>
            <a:endParaRPr lang="en-ID"/>
          </a:p>
        </p:txBody>
      </p:sp>
      <p:sp>
        <p:nvSpPr>
          <p:cNvPr id="5" name="Footer Placeholder 4">
            <a:extLst>
              <a:ext uri="{FF2B5EF4-FFF2-40B4-BE49-F238E27FC236}">
                <a16:creationId xmlns:a16="http://schemas.microsoft.com/office/drawing/2014/main" id="{F5045303-6C9D-1698-1B30-9510BB0F080F}"/>
              </a:ext>
            </a:extLst>
          </p:cNvPr>
          <p:cNvSpPr>
            <a:spLocks noGrp="1"/>
          </p:cNvSpPr>
          <p:nvPr>
            <p:ph type="ftr" sz="quarter" idx="11"/>
          </p:nvPr>
        </p:nvSpPr>
        <p:spPr/>
        <p:txBody>
          <a:bodyPr/>
          <a:lstStyle/>
          <a:p>
            <a:endParaRPr lang="en-ID"/>
          </a:p>
        </p:txBody>
      </p:sp>
      <p:sp>
        <p:nvSpPr>
          <p:cNvPr id="6" name="Slide Number Placeholder 5">
            <a:extLst>
              <a:ext uri="{FF2B5EF4-FFF2-40B4-BE49-F238E27FC236}">
                <a16:creationId xmlns:a16="http://schemas.microsoft.com/office/drawing/2014/main" id="{AC6CDC1E-D4C7-B91E-DE8B-AD6B3DE5AC81}"/>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7214198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1B7B33-9B63-D649-6999-8E0DBD64741A}"/>
              </a:ext>
            </a:extLst>
          </p:cNvPr>
          <p:cNvSpPr>
            <a:spLocks noGrp="1"/>
          </p:cNvSpPr>
          <p:nvPr>
            <p:ph type="title"/>
          </p:nvPr>
        </p:nvSpPr>
        <p:spPr/>
        <p:txBody>
          <a:bodyPr/>
          <a:lstStyle/>
          <a:p>
            <a:r>
              <a:rPr lang="en-US"/>
              <a:t>Click to edit Master title style</a:t>
            </a:r>
            <a:endParaRPr lang="en-ID"/>
          </a:p>
        </p:txBody>
      </p:sp>
      <p:sp>
        <p:nvSpPr>
          <p:cNvPr id="3" name="Content Placeholder 2">
            <a:extLst>
              <a:ext uri="{FF2B5EF4-FFF2-40B4-BE49-F238E27FC236}">
                <a16:creationId xmlns:a16="http://schemas.microsoft.com/office/drawing/2014/main" id="{DFCEDE40-981B-C9E4-A493-6E994D6E031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5B403DA6-FFF6-1819-AA04-5172210C1596}"/>
              </a:ext>
            </a:extLst>
          </p:cNvPr>
          <p:cNvSpPr>
            <a:spLocks noGrp="1"/>
          </p:cNvSpPr>
          <p:nvPr>
            <p:ph type="dt" sz="half" idx="10"/>
          </p:nvPr>
        </p:nvSpPr>
        <p:spPr/>
        <p:txBody>
          <a:bodyPr/>
          <a:lstStyle/>
          <a:p>
            <a:fld id="{478BB0F6-D51F-41BE-8A10-01196C97E34B}" type="datetimeFigureOut">
              <a:rPr lang="en-ID" smtClean="0"/>
              <a:t>29/09/2026</a:t>
            </a:fld>
            <a:endParaRPr lang="en-ID"/>
          </a:p>
        </p:txBody>
      </p:sp>
      <p:sp>
        <p:nvSpPr>
          <p:cNvPr id="5" name="Footer Placeholder 4">
            <a:extLst>
              <a:ext uri="{FF2B5EF4-FFF2-40B4-BE49-F238E27FC236}">
                <a16:creationId xmlns:a16="http://schemas.microsoft.com/office/drawing/2014/main" id="{AA8881DD-E3B7-D694-9AA9-D7DD94DC07FF}"/>
              </a:ext>
            </a:extLst>
          </p:cNvPr>
          <p:cNvSpPr>
            <a:spLocks noGrp="1"/>
          </p:cNvSpPr>
          <p:nvPr>
            <p:ph type="ftr" sz="quarter" idx="11"/>
          </p:nvPr>
        </p:nvSpPr>
        <p:spPr/>
        <p:txBody>
          <a:bodyPr/>
          <a:lstStyle/>
          <a:p>
            <a:endParaRPr lang="en-ID"/>
          </a:p>
        </p:txBody>
      </p:sp>
      <p:sp>
        <p:nvSpPr>
          <p:cNvPr id="6" name="Slide Number Placeholder 5">
            <a:extLst>
              <a:ext uri="{FF2B5EF4-FFF2-40B4-BE49-F238E27FC236}">
                <a16:creationId xmlns:a16="http://schemas.microsoft.com/office/drawing/2014/main" id="{1C3B56E4-B633-CA28-CD62-85F43364504F}"/>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13805319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76C75-C1D2-E38E-95F3-E883C9AF975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D"/>
          </a:p>
        </p:txBody>
      </p:sp>
      <p:sp>
        <p:nvSpPr>
          <p:cNvPr id="3" name="Text Placeholder 2">
            <a:extLst>
              <a:ext uri="{FF2B5EF4-FFF2-40B4-BE49-F238E27FC236}">
                <a16:creationId xmlns:a16="http://schemas.microsoft.com/office/drawing/2014/main" id="{7ABCDAB9-1296-C830-9E15-37CDE8BB098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32F4BBF-3F2B-7AD3-D6B6-1B48BB38016D}"/>
              </a:ext>
            </a:extLst>
          </p:cNvPr>
          <p:cNvSpPr>
            <a:spLocks noGrp="1"/>
          </p:cNvSpPr>
          <p:nvPr>
            <p:ph type="dt" sz="half" idx="10"/>
          </p:nvPr>
        </p:nvSpPr>
        <p:spPr/>
        <p:txBody>
          <a:bodyPr/>
          <a:lstStyle/>
          <a:p>
            <a:fld id="{478BB0F6-D51F-41BE-8A10-01196C97E34B}" type="datetimeFigureOut">
              <a:rPr lang="en-ID" smtClean="0"/>
              <a:t>29/09/2026</a:t>
            </a:fld>
            <a:endParaRPr lang="en-ID"/>
          </a:p>
        </p:txBody>
      </p:sp>
      <p:sp>
        <p:nvSpPr>
          <p:cNvPr id="5" name="Footer Placeholder 4">
            <a:extLst>
              <a:ext uri="{FF2B5EF4-FFF2-40B4-BE49-F238E27FC236}">
                <a16:creationId xmlns:a16="http://schemas.microsoft.com/office/drawing/2014/main" id="{6F3CCAEA-2A76-EF4C-8BC3-F77A06B072A2}"/>
              </a:ext>
            </a:extLst>
          </p:cNvPr>
          <p:cNvSpPr>
            <a:spLocks noGrp="1"/>
          </p:cNvSpPr>
          <p:nvPr>
            <p:ph type="ftr" sz="quarter" idx="11"/>
          </p:nvPr>
        </p:nvSpPr>
        <p:spPr/>
        <p:txBody>
          <a:bodyPr/>
          <a:lstStyle/>
          <a:p>
            <a:endParaRPr lang="en-ID"/>
          </a:p>
        </p:txBody>
      </p:sp>
      <p:sp>
        <p:nvSpPr>
          <p:cNvPr id="6" name="Slide Number Placeholder 5">
            <a:extLst>
              <a:ext uri="{FF2B5EF4-FFF2-40B4-BE49-F238E27FC236}">
                <a16:creationId xmlns:a16="http://schemas.microsoft.com/office/drawing/2014/main" id="{D1C913D9-EFCF-4B6A-CB43-5A1AFFDA3156}"/>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40754573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C2A25-A98E-CCE0-4598-DB21B669EB51}"/>
              </a:ext>
            </a:extLst>
          </p:cNvPr>
          <p:cNvSpPr>
            <a:spLocks noGrp="1"/>
          </p:cNvSpPr>
          <p:nvPr>
            <p:ph type="title"/>
          </p:nvPr>
        </p:nvSpPr>
        <p:spPr/>
        <p:txBody>
          <a:bodyPr/>
          <a:lstStyle/>
          <a:p>
            <a:r>
              <a:rPr lang="en-US"/>
              <a:t>Click to edit Master title style</a:t>
            </a:r>
            <a:endParaRPr lang="en-ID"/>
          </a:p>
        </p:txBody>
      </p:sp>
      <p:sp>
        <p:nvSpPr>
          <p:cNvPr id="3" name="Content Placeholder 2">
            <a:extLst>
              <a:ext uri="{FF2B5EF4-FFF2-40B4-BE49-F238E27FC236}">
                <a16:creationId xmlns:a16="http://schemas.microsoft.com/office/drawing/2014/main" id="{82E8B1BB-FB99-2B7B-8FA4-CE6E929DC7D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Content Placeholder 3">
            <a:extLst>
              <a:ext uri="{FF2B5EF4-FFF2-40B4-BE49-F238E27FC236}">
                <a16:creationId xmlns:a16="http://schemas.microsoft.com/office/drawing/2014/main" id="{5CA74168-8EE7-F272-4E46-5E796392B53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5" name="Date Placeholder 4">
            <a:extLst>
              <a:ext uri="{FF2B5EF4-FFF2-40B4-BE49-F238E27FC236}">
                <a16:creationId xmlns:a16="http://schemas.microsoft.com/office/drawing/2014/main" id="{40AC5372-8101-F952-3FF1-2C9333C2C9FF}"/>
              </a:ext>
            </a:extLst>
          </p:cNvPr>
          <p:cNvSpPr>
            <a:spLocks noGrp="1"/>
          </p:cNvSpPr>
          <p:nvPr>
            <p:ph type="dt" sz="half" idx="10"/>
          </p:nvPr>
        </p:nvSpPr>
        <p:spPr/>
        <p:txBody>
          <a:bodyPr/>
          <a:lstStyle/>
          <a:p>
            <a:fld id="{478BB0F6-D51F-41BE-8A10-01196C97E34B}" type="datetimeFigureOut">
              <a:rPr lang="en-ID" smtClean="0"/>
              <a:t>29/09/2026</a:t>
            </a:fld>
            <a:endParaRPr lang="en-ID"/>
          </a:p>
        </p:txBody>
      </p:sp>
      <p:sp>
        <p:nvSpPr>
          <p:cNvPr id="6" name="Footer Placeholder 5">
            <a:extLst>
              <a:ext uri="{FF2B5EF4-FFF2-40B4-BE49-F238E27FC236}">
                <a16:creationId xmlns:a16="http://schemas.microsoft.com/office/drawing/2014/main" id="{DC77B63E-6B59-6BBB-CBBD-A70E1BC9D33D}"/>
              </a:ext>
            </a:extLst>
          </p:cNvPr>
          <p:cNvSpPr>
            <a:spLocks noGrp="1"/>
          </p:cNvSpPr>
          <p:nvPr>
            <p:ph type="ftr" sz="quarter" idx="11"/>
          </p:nvPr>
        </p:nvSpPr>
        <p:spPr/>
        <p:txBody>
          <a:bodyPr/>
          <a:lstStyle/>
          <a:p>
            <a:endParaRPr lang="en-ID"/>
          </a:p>
        </p:txBody>
      </p:sp>
      <p:sp>
        <p:nvSpPr>
          <p:cNvPr id="7" name="Slide Number Placeholder 6">
            <a:extLst>
              <a:ext uri="{FF2B5EF4-FFF2-40B4-BE49-F238E27FC236}">
                <a16:creationId xmlns:a16="http://schemas.microsoft.com/office/drawing/2014/main" id="{53764FB9-994E-43EC-E30A-BA2535EC44F5}"/>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1266982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670F0C-8129-8AE1-E2CB-34F603D96A0E}"/>
              </a:ext>
            </a:extLst>
          </p:cNvPr>
          <p:cNvSpPr>
            <a:spLocks noGrp="1"/>
          </p:cNvSpPr>
          <p:nvPr>
            <p:ph type="title"/>
          </p:nvPr>
        </p:nvSpPr>
        <p:spPr>
          <a:xfrm>
            <a:off x="839788" y="365125"/>
            <a:ext cx="10515600" cy="1325563"/>
          </a:xfrm>
        </p:spPr>
        <p:txBody>
          <a:bodyPr/>
          <a:lstStyle/>
          <a:p>
            <a:r>
              <a:rPr lang="en-US"/>
              <a:t>Click to edit Master title style</a:t>
            </a:r>
            <a:endParaRPr lang="en-ID"/>
          </a:p>
        </p:txBody>
      </p:sp>
      <p:sp>
        <p:nvSpPr>
          <p:cNvPr id="3" name="Text Placeholder 2">
            <a:extLst>
              <a:ext uri="{FF2B5EF4-FFF2-40B4-BE49-F238E27FC236}">
                <a16:creationId xmlns:a16="http://schemas.microsoft.com/office/drawing/2014/main" id="{2B233615-D61F-7393-DBD3-0ABF3295B2D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408650D-528B-1134-F980-20F27B1022A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5" name="Text Placeholder 4">
            <a:extLst>
              <a:ext uri="{FF2B5EF4-FFF2-40B4-BE49-F238E27FC236}">
                <a16:creationId xmlns:a16="http://schemas.microsoft.com/office/drawing/2014/main" id="{FFA61F3F-E6D8-0EE6-9993-F1B4A7259B0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46734CC-F990-0C75-AD1D-20E2ADEC416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7" name="Date Placeholder 6">
            <a:extLst>
              <a:ext uri="{FF2B5EF4-FFF2-40B4-BE49-F238E27FC236}">
                <a16:creationId xmlns:a16="http://schemas.microsoft.com/office/drawing/2014/main" id="{0B2F8C20-C38D-A9FE-6439-EC547862B3B7}"/>
              </a:ext>
            </a:extLst>
          </p:cNvPr>
          <p:cNvSpPr>
            <a:spLocks noGrp="1"/>
          </p:cNvSpPr>
          <p:nvPr>
            <p:ph type="dt" sz="half" idx="10"/>
          </p:nvPr>
        </p:nvSpPr>
        <p:spPr/>
        <p:txBody>
          <a:bodyPr/>
          <a:lstStyle/>
          <a:p>
            <a:fld id="{478BB0F6-D51F-41BE-8A10-01196C97E34B}" type="datetimeFigureOut">
              <a:rPr lang="en-ID" smtClean="0"/>
              <a:t>29/09/2026</a:t>
            </a:fld>
            <a:endParaRPr lang="en-ID"/>
          </a:p>
        </p:txBody>
      </p:sp>
      <p:sp>
        <p:nvSpPr>
          <p:cNvPr id="8" name="Footer Placeholder 7">
            <a:extLst>
              <a:ext uri="{FF2B5EF4-FFF2-40B4-BE49-F238E27FC236}">
                <a16:creationId xmlns:a16="http://schemas.microsoft.com/office/drawing/2014/main" id="{9CB34732-1260-DFBF-3BFE-782145765782}"/>
              </a:ext>
            </a:extLst>
          </p:cNvPr>
          <p:cNvSpPr>
            <a:spLocks noGrp="1"/>
          </p:cNvSpPr>
          <p:nvPr>
            <p:ph type="ftr" sz="quarter" idx="11"/>
          </p:nvPr>
        </p:nvSpPr>
        <p:spPr/>
        <p:txBody>
          <a:bodyPr/>
          <a:lstStyle/>
          <a:p>
            <a:endParaRPr lang="en-ID"/>
          </a:p>
        </p:txBody>
      </p:sp>
      <p:sp>
        <p:nvSpPr>
          <p:cNvPr id="9" name="Slide Number Placeholder 8">
            <a:extLst>
              <a:ext uri="{FF2B5EF4-FFF2-40B4-BE49-F238E27FC236}">
                <a16:creationId xmlns:a16="http://schemas.microsoft.com/office/drawing/2014/main" id="{6684B939-4511-1F3E-020B-D7F12E3DF97D}"/>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21011659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94D355-3D95-B265-DC03-98964B8396EC}"/>
              </a:ext>
            </a:extLst>
          </p:cNvPr>
          <p:cNvSpPr>
            <a:spLocks noGrp="1"/>
          </p:cNvSpPr>
          <p:nvPr>
            <p:ph type="title"/>
          </p:nvPr>
        </p:nvSpPr>
        <p:spPr/>
        <p:txBody>
          <a:bodyPr/>
          <a:lstStyle/>
          <a:p>
            <a:r>
              <a:rPr lang="en-US"/>
              <a:t>Click to edit Master title style</a:t>
            </a:r>
            <a:endParaRPr lang="en-ID"/>
          </a:p>
        </p:txBody>
      </p:sp>
      <p:sp>
        <p:nvSpPr>
          <p:cNvPr id="3" name="Date Placeholder 2">
            <a:extLst>
              <a:ext uri="{FF2B5EF4-FFF2-40B4-BE49-F238E27FC236}">
                <a16:creationId xmlns:a16="http://schemas.microsoft.com/office/drawing/2014/main" id="{4EAA7B12-CFB8-46F0-C36F-949092D5C767}"/>
              </a:ext>
            </a:extLst>
          </p:cNvPr>
          <p:cNvSpPr>
            <a:spLocks noGrp="1"/>
          </p:cNvSpPr>
          <p:nvPr>
            <p:ph type="dt" sz="half" idx="10"/>
          </p:nvPr>
        </p:nvSpPr>
        <p:spPr/>
        <p:txBody>
          <a:bodyPr/>
          <a:lstStyle/>
          <a:p>
            <a:fld id="{478BB0F6-D51F-41BE-8A10-01196C97E34B}" type="datetimeFigureOut">
              <a:rPr lang="en-ID" smtClean="0"/>
              <a:t>29/09/2026</a:t>
            </a:fld>
            <a:endParaRPr lang="en-ID"/>
          </a:p>
        </p:txBody>
      </p:sp>
      <p:sp>
        <p:nvSpPr>
          <p:cNvPr id="4" name="Footer Placeholder 3">
            <a:extLst>
              <a:ext uri="{FF2B5EF4-FFF2-40B4-BE49-F238E27FC236}">
                <a16:creationId xmlns:a16="http://schemas.microsoft.com/office/drawing/2014/main" id="{BEE6AD3F-373E-E4DA-4FE0-F0AAB7C4D42C}"/>
              </a:ext>
            </a:extLst>
          </p:cNvPr>
          <p:cNvSpPr>
            <a:spLocks noGrp="1"/>
          </p:cNvSpPr>
          <p:nvPr>
            <p:ph type="ftr" sz="quarter" idx="11"/>
          </p:nvPr>
        </p:nvSpPr>
        <p:spPr/>
        <p:txBody>
          <a:bodyPr/>
          <a:lstStyle/>
          <a:p>
            <a:endParaRPr lang="en-ID"/>
          </a:p>
        </p:txBody>
      </p:sp>
      <p:sp>
        <p:nvSpPr>
          <p:cNvPr id="5" name="Slide Number Placeholder 4">
            <a:extLst>
              <a:ext uri="{FF2B5EF4-FFF2-40B4-BE49-F238E27FC236}">
                <a16:creationId xmlns:a16="http://schemas.microsoft.com/office/drawing/2014/main" id="{DA6F2CBA-163E-574F-2A7C-EF0D8FF86557}"/>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20417217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FDE25F-064E-72C8-CDFA-5A91BA27D064}"/>
              </a:ext>
            </a:extLst>
          </p:cNvPr>
          <p:cNvSpPr>
            <a:spLocks noGrp="1"/>
          </p:cNvSpPr>
          <p:nvPr>
            <p:ph type="dt" sz="half" idx="10"/>
          </p:nvPr>
        </p:nvSpPr>
        <p:spPr/>
        <p:txBody>
          <a:bodyPr/>
          <a:lstStyle/>
          <a:p>
            <a:fld id="{478BB0F6-D51F-41BE-8A10-01196C97E34B}" type="datetimeFigureOut">
              <a:rPr lang="en-ID" smtClean="0"/>
              <a:t>29/09/2026</a:t>
            </a:fld>
            <a:endParaRPr lang="en-ID"/>
          </a:p>
        </p:txBody>
      </p:sp>
      <p:sp>
        <p:nvSpPr>
          <p:cNvPr id="3" name="Footer Placeholder 2">
            <a:extLst>
              <a:ext uri="{FF2B5EF4-FFF2-40B4-BE49-F238E27FC236}">
                <a16:creationId xmlns:a16="http://schemas.microsoft.com/office/drawing/2014/main" id="{EC7B5C46-D0E6-C5F5-B83A-1B5375850881}"/>
              </a:ext>
            </a:extLst>
          </p:cNvPr>
          <p:cNvSpPr>
            <a:spLocks noGrp="1"/>
          </p:cNvSpPr>
          <p:nvPr>
            <p:ph type="ftr" sz="quarter" idx="11"/>
          </p:nvPr>
        </p:nvSpPr>
        <p:spPr/>
        <p:txBody>
          <a:bodyPr/>
          <a:lstStyle/>
          <a:p>
            <a:endParaRPr lang="en-ID"/>
          </a:p>
        </p:txBody>
      </p:sp>
      <p:sp>
        <p:nvSpPr>
          <p:cNvPr id="4" name="Slide Number Placeholder 3">
            <a:extLst>
              <a:ext uri="{FF2B5EF4-FFF2-40B4-BE49-F238E27FC236}">
                <a16:creationId xmlns:a16="http://schemas.microsoft.com/office/drawing/2014/main" id="{7FC33FBE-CD2A-CAC3-86F1-1D0F0776347E}"/>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37120608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6AE7-078B-E9D5-5884-9D15E7D022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D"/>
          </a:p>
        </p:txBody>
      </p:sp>
      <p:sp>
        <p:nvSpPr>
          <p:cNvPr id="3" name="Content Placeholder 2">
            <a:extLst>
              <a:ext uri="{FF2B5EF4-FFF2-40B4-BE49-F238E27FC236}">
                <a16:creationId xmlns:a16="http://schemas.microsoft.com/office/drawing/2014/main" id="{2AA081EE-DA78-20C7-81BD-16F785F49E3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Text Placeholder 3">
            <a:extLst>
              <a:ext uri="{FF2B5EF4-FFF2-40B4-BE49-F238E27FC236}">
                <a16:creationId xmlns:a16="http://schemas.microsoft.com/office/drawing/2014/main" id="{AEB26A1D-94CE-D1E4-5E22-26CF82732F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47B393-7721-5D4E-E5FB-9353DDECEB3A}"/>
              </a:ext>
            </a:extLst>
          </p:cNvPr>
          <p:cNvSpPr>
            <a:spLocks noGrp="1"/>
          </p:cNvSpPr>
          <p:nvPr>
            <p:ph type="dt" sz="half" idx="10"/>
          </p:nvPr>
        </p:nvSpPr>
        <p:spPr/>
        <p:txBody>
          <a:bodyPr/>
          <a:lstStyle/>
          <a:p>
            <a:fld id="{478BB0F6-D51F-41BE-8A10-01196C97E34B}" type="datetimeFigureOut">
              <a:rPr lang="en-ID" smtClean="0"/>
              <a:t>29/09/2026</a:t>
            </a:fld>
            <a:endParaRPr lang="en-ID"/>
          </a:p>
        </p:txBody>
      </p:sp>
      <p:sp>
        <p:nvSpPr>
          <p:cNvPr id="6" name="Footer Placeholder 5">
            <a:extLst>
              <a:ext uri="{FF2B5EF4-FFF2-40B4-BE49-F238E27FC236}">
                <a16:creationId xmlns:a16="http://schemas.microsoft.com/office/drawing/2014/main" id="{F4450758-621D-1BDD-1C21-41CE2A465B9D}"/>
              </a:ext>
            </a:extLst>
          </p:cNvPr>
          <p:cNvSpPr>
            <a:spLocks noGrp="1"/>
          </p:cNvSpPr>
          <p:nvPr>
            <p:ph type="ftr" sz="quarter" idx="11"/>
          </p:nvPr>
        </p:nvSpPr>
        <p:spPr/>
        <p:txBody>
          <a:bodyPr/>
          <a:lstStyle/>
          <a:p>
            <a:endParaRPr lang="en-ID"/>
          </a:p>
        </p:txBody>
      </p:sp>
      <p:sp>
        <p:nvSpPr>
          <p:cNvPr id="7" name="Slide Number Placeholder 6">
            <a:extLst>
              <a:ext uri="{FF2B5EF4-FFF2-40B4-BE49-F238E27FC236}">
                <a16:creationId xmlns:a16="http://schemas.microsoft.com/office/drawing/2014/main" id="{0F745003-BF99-2082-AC19-9D405190964E}"/>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19918426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4BFEC-8567-C00C-0106-D10768E24C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D"/>
          </a:p>
        </p:txBody>
      </p:sp>
      <p:sp>
        <p:nvSpPr>
          <p:cNvPr id="3" name="Picture Placeholder 2">
            <a:extLst>
              <a:ext uri="{FF2B5EF4-FFF2-40B4-BE49-F238E27FC236}">
                <a16:creationId xmlns:a16="http://schemas.microsoft.com/office/drawing/2014/main" id="{8A5EE4D2-0DBC-42EF-B207-44178BF675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D"/>
          </a:p>
        </p:txBody>
      </p:sp>
      <p:sp>
        <p:nvSpPr>
          <p:cNvPr id="4" name="Text Placeholder 3">
            <a:extLst>
              <a:ext uri="{FF2B5EF4-FFF2-40B4-BE49-F238E27FC236}">
                <a16:creationId xmlns:a16="http://schemas.microsoft.com/office/drawing/2014/main" id="{E932F354-5B42-5354-9BB3-BF506542AD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3C44D4-054C-04A2-849C-C6DF11667DCA}"/>
              </a:ext>
            </a:extLst>
          </p:cNvPr>
          <p:cNvSpPr>
            <a:spLocks noGrp="1"/>
          </p:cNvSpPr>
          <p:nvPr>
            <p:ph type="dt" sz="half" idx="10"/>
          </p:nvPr>
        </p:nvSpPr>
        <p:spPr/>
        <p:txBody>
          <a:bodyPr/>
          <a:lstStyle/>
          <a:p>
            <a:fld id="{478BB0F6-D51F-41BE-8A10-01196C97E34B}" type="datetimeFigureOut">
              <a:rPr lang="en-ID" smtClean="0"/>
              <a:t>29/09/2026</a:t>
            </a:fld>
            <a:endParaRPr lang="en-ID"/>
          </a:p>
        </p:txBody>
      </p:sp>
      <p:sp>
        <p:nvSpPr>
          <p:cNvPr id="6" name="Footer Placeholder 5">
            <a:extLst>
              <a:ext uri="{FF2B5EF4-FFF2-40B4-BE49-F238E27FC236}">
                <a16:creationId xmlns:a16="http://schemas.microsoft.com/office/drawing/2014/main" id="{EFA765F2-815F-FA9C-BACC-F10FD3A599E2}"/>
              </a:ext>
            </a:extLst>
          </p:cNvPr>
          <p:cNvSpPr>
            <a:spLocks noGrp="1"/>
          </p:cNvSpPr>
          <p:nvPr>
            <p:ph type="ftr" sz="quarter" idx="11"/>
          </p:nvPr>
        </p:nvSpPr>
        <p:spPr/>
        <p:txBody>
          <a:bodyPr/>
          <a:lstStyle/>
          <a:p>
            <a:endParaRPr lang="en-ID"/>
          </a:p>
        </p:txBody>
      </p:sp>
      <p:sp>
        <p:nvSpPr>
          <p:cNvPr id="7" name="Slide Number Placeholder 6">
            <a:extLst>
              <a:ext uri="{FF2B5EF4-FFF2-40B4-BE49-F238E27FC236}">
                <a16:creationId xmlns:a16="http://schemas.microsoft.com/office/drawing/2014/main" id="{DE3EF46D-FA9C-E439-53F3-8331736D3B36}"/>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18882960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6B37B5-BB60-664D-29B5-2D3399D66BD8}"/>
              </a:ext>
            </a:extLst>
          </p:cNvPr>
          <p:cNvSpPr>
            <a:spLocks noGrp="1"/>
          </p:cNvSpPr>
          <p:nvPr>
            <p:ph type="title"/>
          </p:nvPr>
        </p:nvSpPr>
        <p:spPr/>
        <p:txBody>
          <a:bodyPr/>
          <a:lstStyle/>
          <a:p>
            <a:r>
              <a:rPr lang="en-US"/>
              <a:t>Click to edit Master title style</a:t>
            </a:r>
            <a:endParaRPr lang="en-ID"/>
          </a:p>
        </p:txBody>
      </p:sp>
      <p:sp>
        <p:nvSpPr>
          <p:cNvPr id="3" name="Vertical Text Placeholder 2">
            <a:extLst>
              <a:ext uri="{FF2B5EF4-FFF2-40B4-BE49-F238E27FC236}">
                <a16:creationId xmlns:a16="http://schemas.microsoft.com/office/drawing/2014/main" id="{96845D71-6152-EE48-C4D7-58AC3613306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813A45B4-245F-49D2-B1C4-E782FFD0E521}"/>
              </a:ext>
            </a:extLst>
          </p:cNvPr>
          <p:cNvSpPr>
            <a:spLocks noGrp="1"/>
          </p:cNvSpPr>
          <p:nvPr>
            <p:ph type="dt" sz="half" idx="10"/>
          </p:nvPr>
        </p:nvSpPr>
        <p:spPr/>
        <p:txBody>
          <a:bodyPr/>
          <a:lstStyle/>
          <a:p>
            <a:fld id="{478BB0F6-D51F-41BE-8A10-01196C97E34B}" type="datetimeFigureOut">
              <a:rPr lang="en-ID" smtClean="0"/>
              <a:t>29/09/2026</a:t>
            </a:fld>
            <a:endParaRPr lang="en-ID"/>
          </a:p>
        </p:txBody>
      </p:sp>
      <p:sp>
        <p:nvSpPr>
          <p:cNvPr id="5" name="Footer Placeholder 4">
            <a:extLst>
              <a:ext uri="{FF2B5EF4-FFF2-40B4-BE49-F238E27FC236}">
                <a16:creationId xmlns:a16="http://schemas.microsoft.com/office/drawing/2014/main" id="{AA35A338-23DD-F7B1-C69B-05BC9743BD56}"/>
              </a:ext>
            </a:extLst>
          </p:cNvPr>
          <p:cNvSpPr>
            <a:spLocks noGrp="1"/>
          </p:cNvSpPr>
          <p:nvPr>
            <p:ph type="ftr" sz="quarter" idx="11"/>
          </p:nvPr>
        </p:nvSpPr>
        <p:spPr/>
        <p:txBody>
          <a:bodyPr/>
          <a:lstStyle/>
          <a:p>
            <a:endParaRPr lang="en-ID"/>
          </a:p>
        </p:txBody>
      </p:sp>
      <p:sp>
        <p:nvSpPr>
          <p:cNvPr id="6" name="Slide Number Placeholder 5">
            <a:extLst>
              <a:ext uri="{FF2B5EF4-FFF2-40B4-BE49-F238E27FC236}">
                <a16:creationId xmlns:a16="http://schemas.microsoft.com/office/drawing/2014/main" id="{B097BBCD-23D3-CF1D-B05E-52A0968B4C2B}"/>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6283008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F0FB2F-912F-CC6C-6A62-55319D2687E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D"/>
          </a:p>
        </p:txBody>
      </p:sp>
      <p:sp>
        <p:nvSpPr>
          <p:cNvPr id="3" name="Vertical Text Placeholder 2">
            <a:extLst>
              <a:ext uri="{FF2B5EF4-FFF2-40B4-BE49-F238E27FC236}">
                <a16:creationId xmlns:a16="http://schemas.microsoft.com/office/drawing/2014/main" id="{49E3FB00-51B7-FDFF-C3DD-36D5E0A122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937FB020-6136-D002-C9E5-42E8738B9E21}"/>
              </a:ext>
            </a:extLst>
          </p:cNvPr>
          <p:cNvSpPr>
            <a:spLocks noGrp="1"/>
          </p:cNvSpPr>
          <p:nvPr>
            <p:ph type="dt" sz="half" idx="10"/>
          </p:nvPr>
        </p:nvSpPr>
        <p:spPr/>
        <p:txBody>
          <a:bodyPr/>
          <a:lstStyle/>
          <a:p>
            <a:fld id="{478BB0F6-D51F-41BE-8A10-01196C97E34B}" type="datetimeFigureOut">
              <a:rPr lang="en-ID" smtClean="0"/>
              <a:t>29/09/2026</a:t>
            </a:fld>
            <a:endParaRPr lang="en-ID"/>
          </a:p>
        </p:txBody>
      </p:sp>
      <p:sp>
        <p:nvSpPr>
          <p:cNvPr id="5" name="Footer Placeholder 4">
            <a:extLst>
              <a:ext uri="{FF2B5EF4-FFF2-40B4-BE49-F238E27FC236}">
                <a16:creationId xmlns:a16="http://schemas.microsoft.com/office/drawing/2014/main" id="{BC8830F7-58B3-0B90-4AE4-AFC31761FEA4}"/>
              </a:ext>
            </a:extLst>
          </p:cNvPr>
          <p:cNvSpPr>
            <a:spLocks noGrp="1"/>
          </p:cNvSpPr>
          <p:nvPr>
            <p:ph type="ftr" sz="quarter" idx="11"/>
          </p:nvPr>
        </p:nvSpPr>
        <p:spPr/>
        <p:txBody>
          <a:bodyPr/>
          <a:lstStyle/>
          <a:p>
            <a:endParaRPr lang="en-ID"/>
          </a:p>
        </p:txBody>
      </p:sp>
      <p:sp>
        <p:nvSpPr>
          <p:cNvPr id="6" name="Slide Number Placeholder 5">
            <a:extLst>
              <a:ext uri="{FF2B5EF4-FFF2-40B4-BE49-F238E27FC236}">
                <a16:creationId xmlns:a16="http://schemas.microsoft.com/office/drawing/2014/main" id="{71D214F7-57D9-B786-B2E6-7B3015606841}"/>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2162671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E7955C2-0124-C853-A515-E55BFF07E9C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D"/>
          </a:p>
        </p:txBody>
      </p:sp>
      <p:sp>
        <p:nvSpPr>
          <p:cNvPr id="3" name="Text Placeholder 2">
            <a:extLst>
              <a:ext uri="{FF2B5EF4-FFF2-40B4-BE49-F238E27FC236}">
                <a16:creationId xmlns:a16="http://schemas.microsoft.com/office/drawing/2014/main" id="{0F2ED048-78C0-E1F4-B6B1-9E22F84E589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3DF82F83-7DC3-0B4A-C52E-E91E0BC3C2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78BB0F6-D51F-41BE-8A10-01196C97E34B}" type="datetimeFigureOut">
              <a:rPr lang="en-ID" smtClean="0"/>
              <a:t>29/09/2026</a:t>
            </a:fld>
            <a:endParaRPr lang="en-ID"/>
          </a:p>
        </p:txBody>
      </p:sp>
      <p:sp>
        <p:nvSpPr>
          <p:cNvPr id="5" name="Footer Placeholder 4">
            <a:extLst>
              <a:ext uri="{FF2B5EF4-FFF2-40B4-BE49-F238E27FC236}">
                <a16:creationId xmlns:a16="http://schemas.microsoft.com/office/drawing/2014/main" id="{2CB9C03A-6964-E5F6-97C5-92E42A96A68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D"/>
          </a:p>
        </p:txBody>
      </p:sp>
      <p:sp>
        <p:nvSpPr>
          <p:cNvPr id="6" name="Slide Number Placeholder 5">
            <a:extLst>
              <a:ext uri="{FF2B5EF4-FFF2-40B4-BE49-F238E27FC236}">
                <a16:creationId xmlns:a16="http://schemas.microsoft.com/office/drawing/2014/main" id="{F8FC8094-5796-5533-D60D-EECF6CC2D96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22B7D8C-842F-4215-80E7-35CA3AFEFC77}" type="slidenum">
              <a:rPr lang="en-ID" smtClean="0"/>
              <a:t>‹#›</a:t>
            </a:fld>
            <a:endParaRPr lang="en-ID"/>
          </a:p>
        </p:txBody>
      </p:sp>
    </p:spTree>
    <p:extLst>
      <p:ext uri="{BB962C8B-B14F-4D97-AF65-F5344CB8AC3E}">
        <p14:creationId xmlns:p14="http://schemas.microsoft.com/office/powerpoint/2010/main" val="36368289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62338"/>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6B2E970-DC9A-CD84-D931-8CBC12CED9DD}"/>
              </a:ext>
            </a:extLst>
          </p:cNvPr>
          <p:cNvSpPr txBox="1"/>
          <p:nvPr/>
        </p:nvSpPr>
        <p:spPr>
          <a:xfrm>
            <a:off x="736600" y="1574800"/>
            <a:ext cx="10718800" cy="276999"/>
          </a:xfrm>
          <a:prstGeom prst="rect">
            <a:avLst/>
          </a:prstGeom>
          <a:noFill/>
        </p:spPr>
        <p:txBody>
          <a:bodyPr vert="horz" wrap="square" lIns="0" tIns="0" rIns="0" bIns="0" rtlCol="0">
            <a:noAutofit/>
          </a:bodyPr>
          <a:lstStyle/>
          <a:p>
            <a:pPr>
              <a:spcAft>
                <a:spcPts val="700"/>
              </a:spcAft>
            </a:pPr>
            <a:r>
              <a:rPr lang="en-ID" sz="4600" b="1">
                <a:solidFill>
                  <a:srgbClr val="FFFFFF"/>
                </a:solidFill>
                <a:latin typeface="Aptos" panose="020B0004020202020204" pitchFamily="34" charset="0"/>
              </a:rPr>
              <a:t>Analitik keterlambatan</a:t>
            </a:r>
          </a:p>
          <a:p>
            <a:pPr>
              <a:spcAft>
                <a:spcPts val="700"/>
              </a:spcAft>
            </a:pPr>
            <a:r>
              <a:rPr lang="en-ID" sz="4600" b="1">
                <a:solidFill>
                  <a:srgbClr val="FFFFFF"/>
                </a:solidFill>
                <a:latin typeface="Aptos" panose="020B0004020202020204" pitchFamily="34" charset="0"/>
              </a:rPr>
              <a:t>pengiriman Olist</a:t>
            </a:r>
          </a:p>
        </p:txBody>
      </p:sp>
      <p:sp>
        <p:nvSpPr>
          <p:cNvPr id="3" name="TextBox 2">
            <a:extLst>
              <a:ext uri="{FF2B5EF4-FFF2-40B4-BE49-F238E27FC236}">
                <a16:creationId xmlns:a16="http://schemas.microsoft.com/office/drawing/2014/main" id="{0FB6BD76-C9D8-11FD-9D78-5F6E41FB09F8}"/>
              </a:ext>
            </a:extLst>
          </p:cNvPr>
          <p:cNvSpPr txBox="1"/>
          <p:nvPr/>
        </p:nvSpPr>
        <p:spPr>
          <a:xfrm>
            <a:off x="762000" y="3911600"/>
            <a:ext cx="10414000" cy="276999"/>
          </a:xfrm>
          <a:prstGeom prst="rect">
            <a:avLst/>
          </a:prstGeom>
          <a:noFill/>
        </p:spPr>
        <p:txBody>
          <a:bodyPr vert="horz" wrap="square" lIns="0" tIns="0" rIns="0" bIns="0" rtlCol="0">
            <a:noAutofit/>
          </a:bodyPr>
          <a:lstStyle/>
          <a:p>
            <a:pPr>
              <a:spcAft>
                <a:spcPts val="700"/>
              </a:spcAft>
            </a:pPr>
            <a:r>
              <a:rPr lang="it-IT" sz="2400">
                <a:solidFill>
                  <a:srgbClr val="B8E5DD"/>
                </a:solidFill>
                <a:latin typeface="Aptos" panose="020B0004020202020204" pitchFamily="34" charset="0"/>
              </a:rPr>
              <a:t>Rancangan solusi dan persiapan data</a:t>
            </a:r>
            <a:endParaRPr lang="en-ID" sz="2400">
              <a:solidFill>
                <a:srgbClr val="B8E5DD"/>
              </a:solidFill>
              <a:latin typeface="Aptos" panose="020B0004020202020204" pitchFamily="34" charset="0"/>
            </a:endParaRPr>
          </a:p>
        </p:txBody>
      </p:sp>
      <p:sp>
        <p:nvSpPr>
          <p:cNvPr id="4" name="TextBox 3">
            <a:extLst>
              <a:ext uri="{FF2B5EF4-FFF2-40B4-BE49-F238E27FC236}">
                <a16:creationId xmlns:a16="http://schemas.microsoft.com/office/drawing/2014/main" id="{E5432571-8DF5-F999-08BF-39701BDB9A55}"/>
              </a:ext>
            </a:extLst>
          </p:cNvPr>
          <p:cNvSpPr txBox="1"/>
          <p:nvPr/>
        </p:nvSpPr>
        <p:spPr>
          <a:xfrm>
            <a:off x="762000" y="4953000"/>
            <a:ext cx="10414000" cy="276999"/>
          </a:xfrm>
          <a:prstGeom prst="rect">
            <a:avLst/>
          </a:prstGeom>
          <a:noFill/>
        </p:spPr>
        <p:txBody>
          <a:bodyPr vert="horz" wrap="square" lIns="0" tIns="0" rIns="0" bIns="0" rtlCol="0">
            <a:noAutofit/>
          </a:bodyPr>
          <a:lstStyle/>
          <a:p>
            <a:pPr>
              <a:spcAft>
                <a:spcPts val="700"/>
              </a:spcAft>
            </a:pPr>
            <a:r>
              <a:rPr lang="en-ID" sz="2000">
                <a:solidFill>
                  <a:srgbClr val="FFFFFF"/>
                </a:solidFill>
                <a:latin typeface="Aptos" panose="020B0004020202020204" pitchFamily="34" charset="0"/>
              </a:rPr>
              <a:t>Yanlis Alim Sang Putra Lase</a:t>
            </a:r>
          </a:p>
          <a:p>
            <a:pPr>
              <a:spcAft>
                <a:spcPts val="700"/>
              </a:spcAft>
            </a:pPr>
            <a:r>
              <a:rPr lang="en-ID" sz="2000">
                <a:solidFill>
                  <a:srgbClr val="FFFFFF"/>
                </a:solidFill>
                <a:latin typeface="Aptos" panose="020B0004020202020204" pitchFamily="34" charset="0"/>
              </a:rPr>
              <a:t>2702751284</a:t>
            </a:r>
          </a:p>
        </p:txBody>
      </p:sp>
      <p:sp>
        <p:nvSpPr>
          <p:cNvPr id="5" name="TextBox 4">
            <a:extLst>
              <a:ext uri="{FF2B5EF4-FFF2-40B4-BE49-F238E27FC236}">
                <a16:creationId xmlns:a16="http://schemas.microsoft.com/office/drawing/2014/main" id="{E2B679EA-9D02-94CC-2D59-803D2F620D99}"/>
              </a:ext>
            </a:extLst>
          </p:cNvPr>
          <p:cNvSpPr txBox="1"/>
          <p:nvPr/>
        </p:nvSpPr>
        <p:spPr>
          <a:xfrm>
            <a:off x="609600" y="6337300"/>
            <a:ext cx="10033000" cy="276999"/>
          </a:xfrm>
          <a:prstGeom prst="rect">
            <a:avLst/>
          </a:prstGeom>
          <a:noFill/>
        </p:spPr>
        <p:txBody>
          <a:bodyPr vert="horz" wrap="square" lIns="0" tIns="0" rIns="0" bIns="0" rtlCol="0">
            <a:noAutofit/>
          </a:bodyPr>
          <a:lstStyle/>
          <a:p>
            <a:pPr>
              <a:spcAft>
                <a:spcPts val="700"/>
              </a:spcAft>
            </a:pPr>
            <a:r>
              <a:rPr lang="en-ID" sz="1100">
                <a:solidFill>
                  <a:srgbClr val="BEC9D6"/>
                </a:solidFill>
                <a:latin typeface="Aptos" panose="020B0004020202020204" pitchFamily="34" charset="0"/>
              </a:rPr>
              <a:t>COMP8035041   Assignment I</a:t>
            </a:r>
          </a:p>
        </p:txBody>
      </p:sp>
      <p:sp>
        <p:nvSpPr>
          <p:cNvPr id="6" name="TextBox 5">
            <a:extLst>
              <a:ext uri="{FF2B5EF4-FFF2-40B4-BE49-F238E27FC236}">
                <a16:creationId xmlns:a16="http://schemas.microsoft.com/office/drawing/2014/main" id="{4A4074A6-82EA-2D60-6790-42695CA04B5B}"/>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BEC9D6"/>
                </a:solidFill>
                <a:latin typeface="Aptos" panose="020B0004020202020204" pitchFamily="34" charset="0"/>
              </a:rPr>
              <a:t>01 / 11</a:t>
            </a:r>
          </a:p>
        </p:txBody>
      </p:sp>
    </p:spTree>
    <p:extLst>
      <p:ext uri="{BB962C8B-B14F-4D97-AF65-F5344CB8AC3E}">
        <p14:creationId xmlns:p14="http://schemas.microsoft.com/office/powerpoint/2010/main" val="22643891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A65B32-7483-5895-CB5E-B7FE235DD7DB}"/>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en-ID" sz="3200" b="1">
                <a:solidFill>
                  <a:srgbClr val="162338"/>
                </a:solidFill>
                <a:latin typeface="Aptos" panose="020B0004020202020204" pitchFamily="34" charset="0"/>
              </a:rPr>
              <a:t>Latar belakang masalah</a:t>
            </a:r>
          </a:p>
        </p:txBody>
      </p:sp>
      <p:sp>
        <p:nvSpPr>
          <p:cNvPr id="3" name="TextBox 2">
            <a:extLst>
              <a:ext uri="{FF2B5EF4-FFF2-40B4-BE49-F238E27FC236}">
                <a16:creationId xmlns:a16="http://schemas.microsoft.com/office/drawing/2014/main" id="{1BAF0E78-4B99-1882-B2EC-5F06D4BA785F}"/>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Laporan Bab 1, audit label dan notebook 02. Review hanya pada order dengan review.</a:t>
            </a:r>
          </a:p>
        </p:txBody>
      </p:sp>
      <p:sp>
        <p:nvSpPr>
          <p:cNvPr id="4" name="TextBox 3">
            <a:extLst>
              <a:ext uri="{FF2B5EF4-FFF2-40B4-BE49-F238E27FC236}">
                <a16:creationId xmlns:a16="http://schemas.microsoft.com/office/drawing/2014/main" id="{30A386E3-6745-90C8-231C-92DFBC9F0DAB}"/>
              </a:ext>
            </a:extLst>
          </p:cNvPr>
          <p:cNvSpPr txBox="1"/>
          <p:nvPr/>
        </p:nvSpPr>
        <p:spPr>
          <a:xfrm>
            <a:off x="609600" y="1625600"/>
            <a:ext cx="4191000" cy="276999"/>
          </a:xfrm>
          <a:prstGeom prst="rect">
            <a:avLst/>
          </a:prstGeom>
          <a:noFill/>
        </p:spPr>
        <p:txBody>
          <a:bodyPr vert="horz" wrap="square" lIns="0" tIns="0" rIns="0" bIns="0" rtlCol="0">
            <a:noAutofit/>
          </a:bodyPr>
          <a:lstStyle/>
          <a:p>
            <a:pPr>
              <a:spcAft>
                <a:spcPts val="700"/>
              </a:spcAft>
            </a:pPr>
            <a:r>
              <a:rPr lang="en-ID" sz="6000" b="1">
                <a:solidFill>
                  <a:srgbClr val="007084"/>
                </a:solidFill>
                <a:latin typeface="Aptos" panose="020B0004020202020204" pitchFamily="34" charset="0"/>
              </a:rPr>
              <a:t>8,11%</a:t>
            </a:r>
          </a:p>
        </p:txBody>
      </p:sp>
      <p:sp>
        <p:nvSpPr>
          <p:cNvPr id="5" name="TextBox 4">
            <a:extLst>
              <a:ext uri="{FF2B5EF4-FFF2-40B4-BE49-F238E27FC236}">
                <a16:creationId xmlns:a16="http://schemas.microsoft.com/office/drawing/2014/main" id="{AF76D2F3-68C7-5286-4332-77B57F865210}"/>
              </a:ext>
            </a:extLst>
          </p:cNvPr>
          <p:cNvSpPr txBox="1"/>
          <p:nvPr/>
        </p:nvSpPr>
        <p:spPr>
          <a:xfrm>
            <a:off x="609600" y="3022600"/>
            <a:ext cx="4445000" cy="276999"/>
          </a:xfrm>
          <a:prstGeom prst="rect">
            <a:avLst/>
          </a:prstGeom>
          <a:noFill/>
        </p:spPr>
        <p:txBody>
          <a:bodyPr vert="horz" wrap="square" lIns="0" tIns="0" rIns="0" bIns="0" rtlCol="0">
            <a:noAutofit/>
          </a:bodyPr>
          <a:lstStyle/>
          <a:p>
            <a:pPr>
              <a:spcAft>
                <a:spcPts val="700"/>
              </a:spcAft>
            </a:pPr>
            <a:r>
              <a:rPr lang="en-ID" sz="2300">
                <a:solidFill>
                  <a:srgbClr val="162338"/>
                </a:solidFill>
                <a:latin typeface="Aptos" panose="020B0004020202020204" pitchFamily="34" charset="0"/>
              </a:rPr>
              <a:t>7.826 dari 96.470 order</a:t>
            </a:r>
          </a:p>
          <a:p>
            <a:pPr>
              <a:spcAft>
                <a:spcPts val="700"/>
              </a:spcAft>
            </a:pPr>
            <a:r>
              <a:rPr lang="en-ID" sz="2300">
                <a:solidFill>
                  <a:srgbClr val="162338"/>
                </a:solidFill>
                <a:latin typeface="Aptos" panose="020B0004020202020204" pitchFamily="34" charset="0"/>
              </a:rPr>
              <a:t>terlambat terhadap estimasi</a:t>
            </a:r>
          </a:p>
        </p:txBody>
      </p:sp>
      <p:sp>
        <p:nvSpPr>
          <p:cNvPr id="6" name="TextBox 5">
            <a:extLst>
              <a:ext uri="{FF2B5EF4-FFF2-40B4-BE49-F238E27FC236}">
                <a16:creationId xmlns:a16="http://schemas.microsoft.com/office/drawing/2014/main" id="{DA80B2DB-4C6A-FEDB-8D89-14D54DAE8D14}"/>
              </a:ext>
            </a:extLst>
          </p:cNvPr>
          <p:cNvSpPr txBox="1"/>
          <p:nvPr/>
        </p:nvSpPr>
        <p:spPr>
          <a:xfrm>
            <a:off x="5778500" y="1841500"/>
            <a:ext cx="5778500" cy="276999"/>
          </a:xfrm>
          <a:prstGeom prst="rect">
            <a:avLst/>
          </a:prstGeom>
          <a:noFill/>
        </p:spPr>
        <p:txBody>
          <a:bodyPr vert="horz" wrap="square" lIns="0" tIns="0" rIns="0" bIns="0" rtlCol="0">
            <a:noAutofit/>
          </a:bodyPr>
          <a:lstStyle/>
          <a:p>
            <a:pPr>
              <a:spcAft>
                <a:spcPts val="700"/>
              </a:spcAft>
            </a:pPr>
            <a:r>
              <a:rPr lang="en-US" sz="2900">
                <a:solidFill>
                  <a:srgbClr val="162338"/>
                </a:solidFill>
                <a:latin typeface="Aptos" panose="020B0004020202020204" pitchFamily="34" charset="0"/>
              </a:rPr>
              <a:t>Review tepat waktu: 4,2943</a:t>
            </a:r>
          </a:p>
          <a:p>
            <a:pPr>
              <a:spcAft>
                <a:spcPts val="700"/>
              </a:spcAft>
            </a:pPr>
            <a:r>
              <a:rPr lang="en-US" sz="2900">
                <a:solidFill>
                  <a:srgbClr val="162338"/>
                </a:solidFill>
                <a:latin typeface="Aptos" panose="020B0004020202020204" pitchFamily="34" charset="0"/>
              </a:rPr>
              <a:t>Review terlambat: 2,5665</a:t>
            </a:r>
            <a:endParaRPr lang="en-ID" sz="2900">
              <a:solidFill>
                <a:srgbClr val="162338"/>
              </a:solidFill>
              <a:latin typeface="Aptos" panose="020B0004020202020204" pitchFamily="34" charset="0"/>
            </a:endParaRPr>
          </a:p>
        </p:txBody>
      </p:sp>
      <p:sp>
        <p:nvSpPr>
          <p:cNvPr id="7" name="TextBox 6">
            <a:extLst>
              <a:ext uri="{FF2B5EF4-FFF2-40B4-BE49-F238E27FC236}">
                <a16:creationId xmlns:a16="http://schemas.microsoft.com/office/drawing/2014/main" id="{57246EEA-1124-057B-2AC8-6B77067AD8A8}"/>
              </a:ext>
            </a:extLst>
          </p:cNvPr>
          <p:cNvSpPr txBox="1"/>
          <p:nvPr/>
        </p:nvSpPr>
        <p:spPr>
          <a:xfrm>
            <a:off x="609600" y="4445000"/>
            <a:ext cx="10972800" cy="276999"/>
          </a:xfrm>
          <a:prstGeom prst="rect">
            <a:avLst/>
          </a:prstGeom>
          <a:noFill/>
        </p:spPr>
        <p:txBody>
          <a:bodyPr vert="horz" wrap="square" lIns="0" tIns="0" rIns="0" bIns="0" rtlCol="0">
            <a:noAutofit/>
          </a:bodyPr>
          <a:lstStyle/>
          <a:p>
            <a:pPr>
              <a:spcAft>
                <a:spcPts val="700"/>
              </a:spcAft>
            </a:pPr>
            <a:r>
              <a:rPr lang="en-ID" sz="2500" b="1">
                <a:solidFill>
                  <a:srgbClr val="162338"/>
                </a:solidFill>
                <a:latin typeface="Aptos" panose="020B0004020202020204" pitchFamily="34" charset="0"/>
              </a:rPr>
              <a:t>Sembilan tabel transaksi Olist, periode 2016–2018</a:t>
            </a:r>
          </a:p>
        </p:txBody>
      </p:sp>
      <p:sp>
        <p:nvSpPr>
          <p:cNvPr id="8" name="TextBox 7">
            <a:extLst>
              <a:ext uri="{FF2B5EF4-FFF2-40B4-BE49-F238E27FC236}">
                <a16:creationId xmlns:a16="http://schemas.microsoft.com/office/drawing/2014/main" id="{B3A098E9-F66E-127E-7D08-B8B53C67C145}"/>
              </a:ext>
            </a:extLst>
          </p:cNvPr>
          <p:cNvSpPr txBox="1"/>
          <p:nvPr/>
        </p:nvSpPr>
        <p:spPr>
          <a:xfrm>
            <a:off x="609600" y="5664200"/>
            <a:ext cx="10972800" cy="276999"/>
          </a:xfrm>
          <a:prstGeom prst="rect">
            <a:avLst/>
          </a:prstGeom>
          <a:noFill/>
        </p:spPr>
        <p:txBody>
          <a:bodyPr vert="horz" wrap="square" lIns="0" tIns="0" rIns="0" bIns="0" rtlCol="0">
            <a:noAutofit/>
          </a:bodyPr>
          <a:lstStyle/>
          <a:p>
            <a:pPr>
              <a:spcAft>
                <a:spcPts val="700"/>
              </a:spcAft>
            </a:pPr>
            <a:r>
              <a:rPr lang="sv-SE" sz="1700">
                <a:solidFill>
                  <a:srgbClr val="162338"/>
                </a:solidFill>
                <a:latin typeface="Aptos" panose="020B0004020202020204" pitchFamily="34" charset="0"/>
              </a:rPr>
              <a:t>Review hanya pada order dengan review. Hubungan ini merupakan asosiasi.</a:t>
            </a:r>
            <a:endParaRPr lang="en-ID" sz="1700">
              <a:solidFill>
                <a:srgbClr val="162338"/>
              </a:solidFill>
              <a:latin typeface="Aptos" panose="020B0004020202020204" pitchFamily="34" charset="0"/>
            </a:endParaRPr>
          </a:p>
        </p:txBody>
      </p:sp>
      <p:sp>
        <p:nvSpPr>
          <p:cNvPr id="9" name="TextBox 8">
            <a:extLst>
              <a:ext uri="{FF2B5EF4-FFF2-40B4-BE49-F238E27FC236}">
                <a16:creationId xmlns:a16="http://schemas.microsoft.com/office/drawing/2014/main" id="{1B0A10F3-3F09-F166-D94E-3DE704A703CE}"/>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02 / 11</a:t>
            </a:r>
          </a:p>
        </p:txBody>
      </p:sp>
    </p:spTree>
    <p:extLst>
      <p:ext uri="{BB962C8B-B14F-4D97-AF65-F5344CB8AC3E}">
        <p14:creationId xmlns:p14="http://schemas.microsoft.com/office/powerpoint/2010/main" val="23633105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3AE179-2B31-05F5-87C8-C83B17ABB71F}"/>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es-ES" sz="3200" b="1">
                <a:solidFill>
                  <a:srgbClr val="162338"/>
                </a:solidFill>
                <a:latin typeface="Aptos" panose="020B0004020202020204" pitchFamily="34" charset="0"/>
              </a:rPr>
              <a:t>Tujuan proyek dan pengguna hasil</a:t>
            </a:r>
            <a:endParaRPr lang="en-ID" sz="3200" b="1">
              <a:solidFill>
                <a:srgbClr val="162338"/>
              </a:solidFill>
              <a:latin typeface="Aptos" panose="020B0004020202020204" pitchFamily="34" charset="0"/>
            </a:endParaRPr>
          </a:p>
        </p:txBody>
      </p:sp>
      <p:sp>
        <p:nvSpPr>
          <p:cNvPr id="3" name="TextBox 2">
            <a:extLst>
              <a:ext uri="{FF2B5EF4-FFF2-40B4-BE49-F238E27FC236}">
                <a16:creationId xmlns:a16="http://schemas.microsoft.com/office/drawing/2014/main" id="{1AC9A71B-D3B0-7B3D-628D-76CECD9C61DE}"/>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Lingkup Assignment I: masalah bisnis, rancangan solusi dan persiapan data.</a:t>
            </a:r>
          </a:p>
        </p:txBody>
      </p:sp>
      <p:sp>
        <p:nvSpPr>
          <p:cNvPr id="4" name="TextBox 3">
            <a:extLst>
              <a:ext uri="{FF2B5EF4-FFF2-40B4-BE49-F238E27FC236}">
                <a16:creationId xmlns:a16="http://schemas.microsoft.com/office/drawing/2014/main" id="{755DA2F5-2712-D079-1868-C2BF3F10744F}"/>
              </a:ext>
            </a:extLst>
          </p:cNvPr>
          <p:cNvSpPr txBox="1"/>
          <p:nvPr/>
        </p:nvSpPr>
        <p:spPr>
          <a:xfrm>
            <a:off x="609600" y="1574800"/>
            <a:ext cx="10972800" cy="276999"/>
          </a:xfrm>
          <a:prstGeom prst="rect">
            <a:avLst/>
          </a:prstGeom>
          <a:noFill/>
        </p:spPr>
        <p:txBody>
          <a:bodyPr vert="horz" wrap="square" lIns="0" tIns="0" rIns="0" bIns="0" rtlCol="0">
            <a:noAutofit/>
          </a:bodyPr>
          <a:lstStyle/>
          <a:p>
            <a:pPr>
              <a:spcAft>
                <a:spcPts val="700"/>
              </a:spcAft>
            </a:pPr>
            <a:r>
              <a:rPr lang="en-ID" sz="2700" b="1">
                <a:solidFill>
                  <a:srgbClr val="162338"/>
                </a:solidFill>
                <a:latin typeface="Aptos" panose="020B0004020202020204" pitchFamily="34" charset="0"/>
              </a:rPr>
              <a:t>Data yang konsisten untuk meninjau risiko keterlambatan</a:t>
            </a:r>
          </a:p>
        </p:txBody>
      </p:sp>
      <p:sp>
        <p:nvSpPr>
          <p:cNvPr id="5" name="TextBox 4">
            <a:extLst>
              <a:ext uri="{FF2B5EF4-FFF2-40B4-BE49-F238E27FC236}">
                <a16:creationId xmlns:a16="http://schemas.microsoft.com/office/drawing/2014/main" id="{EB32A14E-A91D-749F-B756-49E5F4121046}"/>
              </a:ext>
            </a:extLst>
          </p:cNvPr>
          <p:cNvSpPr txBox="1"/>
          <p:nvPr/>
        </p:nvSpPr>
        <p:spPr>
          <a:xfrm>
            <a:off x="609600" y="5664200"/>
            <a:ext cx="10972800" cy="276999"/>
          </a:xfrm>
          <a:prstGeom prst="rect">
            <a:avLst/>
          </a:prstGeom>
          <a:noFill/>
        </p:spPr>
        <p:txBody>
          <a:bodyPr vert="horz" wrap="square" lIns="0" tIns="0" rIns="0" bIns="0" rtlCol="0">
            <a:noAutofit/>
          </a:bodyPr>
          <a:lstStyle/>
          <a:p>
            <a:pPr>
              <a:spcAft>
                <a:spcPts val="700"/>
              </a:spcAft>
            </a:pPr>
            <a:r>
              <a:rPr lang="en-ID">
                <a:solidFill>
                  <a:srgbClr val="162338"/>
                </a:solidFill>
                <a:latin typeface="Aptos" panose="020B0004020202020204" pitchFamily="34" charset="0"/>
              </a:rPr>
              <a:t>Target tahap ini: rancangan solusi dan persiapan data yang dapat diaudit.</a:t>
            </a:r>
          </a:p>
        </p:txBody>
      </p:sp>
      <p:graphicFrame>
        <p:nvGraphicFramePr>
          <p:cNvPr id="6" name="Table 5">
            <a:extLst>
              <a:ext uri="{FF2B5EF4-FFF2-40B4-BE49-F238E27FC236}">
                <a16:creationId xmlns:a16="http://schemas.microsoft.com/office/drawing/2014/main" id="{520A76D8-FA4A-AB5E-D523-CF3C857C6780}"/>
              </a:ext>
            </a:extLst>
          </p:cNvPr>
          <p:cNvGraphicFramePr>
            <a:graphicFrameLocks noGrp="1"/>
          </p:cNvGraphicFramePr>
          <p:nvPr>
            <p:extLst>
              <p:ext uri="{D42A27DB-BD31-4B8C-83A1-F6EECF244321}">
                <p14:modId xmlns:p14="http://schemas.microsoft.com/office/powerpoint/2010/main" val="3580002100"/>
              </p:ext>
            </p:extLst>
          </p:nvPr>
        </p:nvGraphicFramePr>
        <p:xfrm>
          <a:off x="609600" y="2743200"/>
          <a:ext cx="10972800" cy="2603500"/>
        </p:xfrm>
        <a:graphic>
          <a:graphicData uri="http://schemas.openxmlformats.org/drawingml/2006/table">
            <a:tbl>
              <a:tblPr firstRow="1" bandRow="1">
                <a:tableStyleId>{5C22544A-7EE6-4342-B048-85BDC9FD1C3A}</a:tableStyleId>
              </a:tblPr>
              <a:tblGrid>
                <a:gridCol w="3810000">
                  <a:extLst>
                    <a:ext uri="{9D8B030D-6E8A-4147-A177-3AD203B41FA5}">
                      <a16:colId xmlns:a16="http://schemas.microsoft.com/office/drawing/2014/main" val="3060921329"/>
                    </a:ext>
                  </a:extLst>
                </a:gridCol>
                <a:gridCol w="7162800">
                  <a:extLst>
                    <a:ext uri="{9D8B030D-6E8A-4147-A177-3AD203B41FA5}">
                      <a16:colId xmlns:a16="http://schemas.microsoft.com/office/drawing/2014/main" val="2605042157"/>
                    </a:ext>
                  </a:extLst>
                </a:gridCol>
              </a:tblGrid>
              <a:tr h="650875">
                <a:tc>
                  <a:txBody>
                    <a:bodyPr/>
                    <a:lstStyle/>
                    <a:p>
                      <a:r>
                        <a:rPr lang="en-ID" sz="2000" b="1">
                          <a:solidFill>
                            <a:srgbClr val="FFFFFF"/>
                          </a:solidFill>
                          <a:latin typeface="Aptos" panose="020B0004020202020204" pitchFamily="34" charset="0"/>
                        </a:rPr>
                        <a:t>Pengguna</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2000" b="1">
                          <a:solidFill>
                            <a:srgbClr val="FFFFFF"/>
                          </a:solidFill>
                          <a:latin typeface="Aptos" panose="020B0004020202020204" pitchFamily="34" charset="0"/>
                        </a:rPr>
                        <a:t>Keputusan yang didukung</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extLst>
                  <a:ext uri="{0D108BD9-81ED-4DB2-BD59-A6C34878D82A}">
                    <a16:rowId xmlns:a16="http://schemas.microsoft.com/office/drawing/2014/main" val="1825489910"/>
                  </a:ext>
                </a:extLst>
              </a:tr>
              <a:tr h="650875">
                <a:tc>
                  <a:txBody>
                    <a:bodyPr/>
                    <a:lstStyle/>
                    <a:p>
                      <a:r>
                        <a:rPr lang="en-ID" sz="2000" b="0">
                          <a:solidFill>
                            <a:srgbClr val="162338"/>
                          </a:solidFill>
                          <a:latin typeface="Aptos" panose="020B0004020202020204" pitchFamily="34" charset="0"/>
                        </a:rPr>
                        <a:t>Logistics</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Prioritas investigasi rute</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867931712"/>
                  </a:ext>
                </a:extLst>
              </a:tr>
              <a:tr h="650875">
                <a:tc>
                  <a:txBody>
                    <a:bodyPr/>
                    <a:lstStyle/>
                    <a:p>
                      <a:r>
                        <a:rPr lang="en-ID" sz="2000" b="0">
                          <a:solidFill>
                            <a:srgbClr val="162338"/>
                          </a:solidFill>
                          <a:latin typeface="Aptos" panose="020B0004020202020204" pitchFamily="34" charset="0"/>
                        </a:rPr>
                        <a:t>Merchant Performance</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Peninjauan risiko order setelah approval</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1469068655"/>
                  </a:ext>
                </a:extLst>
              </a:tr>
              <a:tr h="650875">
                <a:tc>
                  <a:txBody>
                    <a:bodyPr/>
                    <a:lstStyle/>
                    <a:p>
                      <a:r>
                        <a:rPr lang="en-ID" sz="2000" b="0">
                          <a:solidFill>
                            <a:srgbClr val="162338"/>
                          </a:solidFill>
                          <a:latin typeface="Aptos" panose="020B0004020202020204" pitchFamily="34" charset="0"/>
                        </a:rPr>
                        <a:t>Executive Management</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Pemantauan performa agregat</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1698320966"/>
                  </a:ext>
                </a:extLst>
              </a:tr>
            </a:tbl>
          </a:graphicData>
        </a:graphic>
      </p:graphicFrame>
      <p:sp>
        <p:nvSpPr>
          <p:cNvPr id="7" name="TextBox 6">
            <a:extLst>
              <a:ext uri="{FF2B5EF4-FFF2-40B4-BE49-F238E27FC236}">
                <a16:creationId xmlns:a16="http://schemas.microsoft.com/office/drawing/2014/main" id="{03AE7231-C6F5-7EDF-BAF1-F8DCF96301F4}"/>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03 / 11</a:t>
            </a:r>
          </a:p>
        </p:txBody>
      </p:sp>
    </p:spTree>
    <p:extLst>
      <p:ext uri="{BB962C8B-B14F-4D97-AF65-F5344CB8AC3E}">
        <p14:creationId xmlns:p14="http://schemas.microsoft.com/office/powerpoint/2010/main" val="24407926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0BE8BF8-AB8B-B29A-62D0-A03E8F23D3B8}"/>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en-ID" sz="3200" b="1">
                <a:solidFill>
                  <a:srgbClr val="162338"/>
                </a:solidFill>
                <a:latin typeface="Aptos" panose="020B0004020202020204" pitchFamily="34" charset="0"/>
              </a:rPr>
              <a:t>Konteks pasar dan urgensi bisnis</a:t>
            </a:r>
          </a:p>
        </p:txBody>
      </p:sp>
      <p:sp>
        <p:nvSpPr>
          <p:cNvPr id="3" name="TextBox 2">
            <a:extLst>
              <a:ext uri="{FF2B5EF4-FFF2-40B4-BE49-F238E27FC236}">
                <a16:creationId xmlns:a16="http://schemas.microsoft.com/office/drawing/2014/main" id="{AB1E2BA5-6541-ECA2-FB5E-251194E9F8F1}"/>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Sumber: DHL Group (2026), OECD (2019). Tautan lengkap di speaker notes.</a:t>
            </a:r>
          </a:p>
        </p:txBody>
      </p:sp>
      <p:sp>
        <p:nvSpPr>
          <p:cNvPr id="4" name="TextBox 3">
            <a:extLst>
              <a:ext uri="{FF2B5EF4-FFF2-40B4-BE49-F238E27FC236}">
                <a16:creationId xmlns:a16="http://schemas.microsoft.com/office/drawing/2014/main" id="{E811CA9E-AF66-21C1-E088-228C58FB849D}"/>
              </a:ext>
            </a:extLst>
          </p:cNvPr>
          <p:cNvSpPr txBox="1"/>
          <p:nvPr/>
        </p:nvSpPr>
        <p:spPr>
          <a:xfrm>
            <a:off x="609600" y="1587500"/>
            <a:ext cx="4191000" cy="276999"/>
          </a:xfrm>
          <a:prstGeom prst="rect">
            <a:avLst/>
          </a:prstGeom>
          <a:noFill/>
        </p:spPr>
        <p:txBody>
          <a:bodyPr vert="horz" wrap="square" lIns="0" tIns="0" rIns="0" bIns="0" rtlCol="0">
            <a:noAutofit/>
          </a:bodyPr>
          <a:lstStyle/>
          <a:p>
            <a:pPr>
              <a:spcAft>
                <a:spcPts val="700"/>
              </a:spcAft>
            </a:pPr>
            <a:r>
              <a:rPr lang="en-ID" sz="6400" b="1">
                <a:solidFill>
                  <a:srgbClr val="007084"/>
                </a:solidFill>
                <a:latin typeface="Aptos" panose="020B0004020202020204" pitchFamily="34" charset="0"/>
              </a:rPr>
              <a:t>20%</a:t>
            </a:r>
          </a:p>
        </p:txBody>
      </p:sp>
      <p:sp>
        <p:nvSpPr>
          <p:cNvPr id="5" name="TextBox 4">
            <a:extLst>
              <a:ext uri="{FF2B5EF4-FFF2-40B4-BE49-F238E27FC236}">
                <a16:creationId xmlns:a16="http://schemas.microsoft.com/office/drawing/2014/main" id="{4C45FCD7-B953-8D07-4ABD-2E53F5F2B396}"/>
              </a:ext>
            </a:extLst>
          </p:cNvPr>
          <p:cNvSpPr txBox="1"/>
          <p:nvPr/>
        </p:nvSpPr>
        <p:spPr>
          <a:xfrm>
            <a:off x="609600" y="3149600"/>
            <a:ext cx="5080000" cy="276999"/>
          </a:xfrm>
          <a:prstGeom prst="rect">
            <a:avLst/>
          </a:prstGeom>
          <a:noFill/>
        </p:spPr>
        <p:txBody>
          <a:bodyPr vert="horz" wrap="square" lIns="0" tIns="0" rIns="0" bIns="0" rtlCol="0">
            <a:noAutofit/>
          </a:bodyPr>
          <a:lstStyle/>
          <a:p>
            <a:pPr>
              <a:spcAft>
                <a:spcPts val="700"/>
              </a:spcAft>
            </a:pPr>
            <a:r>
              <a:rPr lang="en-ID" sz="2500">
                <a:solidFill>
                  <a:srgbClr val="162338"/>
                </a:solidFill>
                <a:latin typeface="Aptos" panose="020B0004020202020204" pitchFamily="34" charset="0"/>
              </a:rPr>
              <a:t>Preferensi pengiriman lebih cepat</a:t>
            </a:r>
          </a:p>
          <a:p>
            <a:pPr>
              <a:spcAft>
                <a:spcPts val="700"/>
              </a:spcAft>
            </a:pPr>
            <a:r>
              <a:rPr lang="en-ID" sz="2500">
                <a:solidFill>
                  <a:srgbClr val="162338"/>
                </a:solidFill>
                <a:latin typeface="Aptos" panose="020B0004020202020204" pitchFamily="34" charset="0"/>
              </a:rPr>
              <a:t>dalam survei DHL 2026</a:t>
            </a:r>
          </a:p>
        </p:txBody>
      </p:sp>
      <p:sp>
        <p:nvSpPr>
          <p:cNvPr id="6" name="TextBox 5">
            <a:extLst>
              <a:ext uri="{FF2B5EF4-FFF2-40B4-BE49-F238E27FC236}">
                <a16:creationId xmlns:a16="http://schemas.microsoft.com/office/drawing/2014/main" id="{B3DDF9BF-F83F-6181-FEB3-55D1EDB90550}"/>
              </a:ext>
            </a:extLst>
          </p:cNvPr>
          <p:cNvSpPr txBox="1"/>
          <p:nvPr/>
        </p:nvSpPr>
        <p:spPr>
          <a:xfrm>
            <a:off x="5969000" y="1739900"/>
            <a:ext cx="5588000" cy="276999"/>
          </a:xfrm>
          <a:prstGeom prst="rect">
            <a:avLst/>
          </a:prstGeom>
          <a:noFill/>
        </p:spPr>
        <p:txBody>
          <a:bodyPr vert="horz" wrap="square" lIns="0" tIns="0" rIns="0" bIns="0" rtlCol="0">
            <a:noAutofit/>
          </a:bodyPr>
          <a:lstStyle/>
          <a:p>
            <a:pPr>
              <a:spcAft>
                <a:spcPts val="700"/>
              </a:spcAft>
            </a:pPr>
            <a:r>
              <a:rPr lang="en-ID" sz="2700" b="1">
                <a:solidFill>
                  <a:srgbClr val="162338"/>
                </a:solidFill>
                <a:latin typeface="Aptos" panose="020B0004020202020204" pitchFamily="34" charset="0"/>
              </a:rPr>
              <a:t>Kepercayaan pada platform</a:t>
            </a:r>
          </a:p>
        </p:txBody>
      </p:sp>
      <p:sp>
        <p:nvSpPr>
          <p:cNvPr id="7" name="TextBox 6">
            <a:extLst>
              <a:ext uri="{FF2B5EF4-FFF2-40B4-BE49-F238E27FC236}">
                <a16:creationId xmlns:a16="http://schemas.microsoft.com/office/drawing/2014/main" id="{6CE5E7DC-E105-A3EF-77BB-AF5103B5A644}"/>
              </a:ext>
            </a:extLst>
          </p:cNvPr>
          <p:cNvSpPr txBox="1"/>
          <p:nvPr/>
        </p:nvSpPr>
        <p:spPr>
          <a:xfrm>
            <a:off x="5969000" y="2895600"/>
            <a:ext cx="5588000" cy="276999"/>
          </a:xfrm>
          <a:prstGeom prst="rect">
            <a:avLst/>
          </a:prstGeom>
          <a:noFill/>
        </p:spPr>
        <p:txBody>
          <a:bodyPr vert="horz" wrap="square" lIns="0" tIns="0" rIns="0" bIns="0" rtlCol="0">
            <a:noAutofit/>
          </a:bodyPr>
          <a:lstStyle/>
          <a:p>
            <a:pPr>
              <a:spcAft>
                <a:spcPts val="700"/>
              </a:spcAft>
            </a:pPr>
            <a:r>
              <a:rPr lang="en-ID" sz="2600">
                <a:solidFill>
                  <a:srgbClr val="162338"/>
                </a:solidFill>
                <a:latin typeface="Aptos" panose="020B0004020202020204" pitchFamily="34" charset="0"/>
              </a:rPr>
              <a:t>OECD menjelaskan peran</a:t>
            </a:r>
          </a:p>
          <a:p>
            <a:pPr>
              <a:spcAft>
                <a:spcPts val="700"/>
              </a:spcAft>
            </a:pPr>
            <a:r>
              <a:rPr lang="en-ID" sz="2600">
                <a:solidFill>
                  <a:srgbClr val="162338"/>
                </a:solidFill>
                <a:latin typeface="Aptos" panose="020B0004020202020204" pitchFamily="34" charset="0"/>
              </a:rPr>
              <a:t>ulasan dan rating.</a:t>
            </a:r>
          </a:p>
        </p:txBody>
      </p:sp>
      <p:sp>
        <p:nvSpPr>
          <p:cNvPr id="8" name="TextBox 7">
            <a:extLst>
              <a:ext uri="{FF2B5EF4-FFF2-40B4-BE49-F238E27FC236}">
                <a16:creationId xmlns:a16="http://schemas.microsoft.com/office/drawing/2014/main" id="{7F24667D-BFA4-42EF-36BC-9D8EF180E42D}"/>
              </a:ext>
            </a:extLst>
          </p:cNvPr>
          <p:cNvSpPr txBox="1"/>
          <p:nvPr/>
        </p:nvSpPr>
        <p:spPr>
          <a:xfrm>
            <a:off x="609600" y="5676900"/>
            <a:ext cx="10972800" cy="276999"/>
          </a:xfrm>
          <a:prstGeom prst="rect">
            <a:avLst/>
          </a:prstGeom>
          <a:noFill/>
        </p:spPr>
        <p:txBody>
          <a:bodyPr vert="horz" wrap="square" lIns="0" tIns="0" rIns="0" bIns="0" rtlCol="0">
            <a:noAutofit/>
          </a:bodyPr>
          <a:lstStyle/>
          <a:p>
            <a:pPr>
              <a:spcAft>
                <a:spcPts val="700"/>
              </a:spcAft>
            </a:pPr>
            <a:r>
              <a:rPr lang="en-ID" sz="2000">
                <a:solidFill>
                  <a:srgbClr val="162338"/>
                </a:solidFill>
                <a:latin typeface="Aptos" panose="020B0004020202020204" pitchFamily="34" charset="0"/>
              </a:rPr>
              <a:t>Konteks global berbeda dari data Olist 2016–2018.</a:t>
            </a:r>
          </a:p>
        </p:txBody>
      </p:sp>
      <p:sp>
        <p:nvSpPr>
          <p:cNvPr id="9" name="TextBox 8">
            <a:extLst>
              <a:ext uri="{FF2B5EF4-FFF2-40B4-BE49-F238E27FC236}">
                <a16:creationId xmlns:a16="http://schemas.microsoft.com/office/drawing/2014/main" id="{9B13268F-12D0-3394-B3BF-A67B0748274F}"/>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04 / 11</a:t>
            </a:r>
          </a:p>
        </p:txBody>
      </p:sp>
    </p:spTree>
    <p:extLst>
      <p:ext uri="{BB962C8B-B14F-4D97-AF65-F5344CB8AC3E}">
        <p14:creationId xmlns:p14="http://schemas.microsoft.com/office/powerpoint/2010/main" val="4740380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D9A79A-EC2F-CB1B-4AD8-D7136C2167CF}"/>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sv-SE" sz="3200" b="1">
                <a:solidFill>
                  <a:srgbClr val="162338"/>
                </a:solidFill>
                <a:latin typeface="Aptos" panose="020B0004020202020204" pitchFamily="34" charset="0"/>
              </a:rPr>
              <a:t>Tech stack dan alasan pemilihan</a:t>
            </a:r>
            <a:endParaRPr lang="en-ID" sz="3200" b="1">
              <a:solidFill>
                <a:srgbClr val="162338"/>
              </a:solidFill>
              <a:latin typeface="Aptos" panose="020B0004020202020204" pitchFamily="34" charset="0"/>
            </a:endParaRPr>
          </a:p>
        </p:txBody>
      </p:sp>
      <p:sp>
        <p:nvSpPr>
          <p:cNvPr id="3" name="TextBox 2">
            <a:extLst>
              <a:ext uri="{FF2B5EF4-FFF2-40B4-BE49-F238E27FC236}">
                <a16:creationId xmlns:a16="http://schemas.microsoft.com/office/drawing/2014/main" id="{0D7F5126-2C02-1F31-9914-8E8396232CBC}"/>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Sumber: requirements.txt, panduan notebook dan laporan bagian 2.4.</a:t>
            </a:r>
          </a:p>
        </p:txBody>
      </p:sp>
      <p:sp>
        <p:nvSpPr>
          <p:cNvPr id="4" name="TextBox 3">
            <a:extLst>
              <a:ext uri="{FF2B5EF4-FFF2-40B4-BE49-F238E27FC236}">
                <a16:creationId xmlns:a16="http://schemas.microsoft.com/office/drawing/2014/main" id="{B6C3B870-D1F4-3399-D638-1F0E7785BA30}"/>
              </a:ext>
            </a:extLst>
          </p:cNvPr>
          <p:cNvSpPr txBox="1"/>
          <p:nvPr/>
        </p:nvSpPr>
        <p:spPr>
          <a:xfrm>
            <a:off x="609600" y="6007100"/>
            <a:ext cx="10972800" cy="276999"/>
          </a:xfrm>
          <a:prstGeom prst="rect">
            <a:avLst/>
          </a:prstGeom>
          <a:noFill/>
        </p:spPr>
        <p:txBody>
          <a:bodyPr vert="horz" wrap="square" lIns="0" tIns="0" rIns="0" bIns="0" rtlCol="0">
            <a:noAutofit/>
          </a:bodyPr>
          <a:lstStyle/>
          <a:p>
            <a:pPr>
              <a:spcAft>
                <a:spcPts val="700"/>
              </a:spcAft>
            </a:pPr>
            <a:r>
              <a:rPr lang="en-ID" sz="1700">
                <a:solidFill>
                  <a:srgbClr val="162338"/>
                </a:solidFill>
                <a:latin typeface="Aptos" panose="020B0004020202020204" pitchFamily="34" charset="0"/>
              </a:rPr>
              <a:t>Spark local[4]: satu mesin. Kapasitas cluster belum diuji.</a:t>
            </a:r>
          </a:p>
        </p:txBody>
      </p:sp>
      <p:graphicFrame>
        <p:nvGraphicFramePr>
          <p:cNvPr id="5" name="Table 4">
            <a:extLst>
              <a:ext uri="{FF2B5EF4-FFF2-40B4-BE49-F238E27FC236}">
                <a16:creationId xmlns:a16="http://schemas.microsoft.com/office/drawing/2014/main" id="{390EE1FE-C3F2-6234-20CB-1E2F3029009C}"/>
              </a:ext>
            </a:extLst>
          </p:cNvPr>
          <p:cNvGraphicFramePr>
            <a:graphicFrameLocks noGrp="1"/>
          </p:cNvGraphicFramePr>
          <p:nvPr>
            <p:extLst>
              <p:ext uri="{D42A27DB-BD31-4B8C-83A1-F6EECF244321}">
                <p14:modId xmlns:p14="http://schemas.microsoft.com/office/powerpoint/2010/main" val="2232039345"/>
              </p:ext>
            </p:extLst>
          </p:nvPr>
        </p:nvGraphicFramePr>
        <p:xfrm>
          <a:off x="609600" y="1498600"/>
          <a:ext cx="10972800" cy="4038600"/>
        </p:xfrm>
        <a:graphic>
          <a:graphicData uri="http://schemas.openxmlformats.org/drawingml/2006/table">
            <a:tbl>
              <a:tblPr firstRow="1" bandRow="1">
                <a:tableStyleId>{5C22544A-7EE6-4342-B048-85BDC9FD1C3A}</a:tableStyleId>
              </a:tblPr>
              <a:tblGrid>
                <a:gridCol w="2895600">
                  <a:extLst>
                    <a:ext uri="{9D8B030D-6E8A-4147-A177-3AD203B41FA5}">
                      <a16:colId xmlns:a16="http://schemas.microsoft.com/office/drawing/2014/main" val="1103382542"/>
                    </a:ext>
                  </a:extLst>
                </a:gridCol>
                <a:gridCol w="3302000">
                  <a:extLst>
                    <a:ext uri="{9D8B030D-6E8A-4147-A177-3AD203B41FA5}">
                      <a16:colId xmlns:a16="http://schemas.microsoft.com/office/drawing/2014/main" val="4267655143"/>
                    </a:ext>
                  </a:extLst>
                </a:gridCol>
                <a:gridCol w="4775200">
                  <a:extLst>
                    <a:ext uri="{9D8B030D-6E8A-4147-A177-3AD203B41FA5}">
                      <a16:colId xmlns:a16="http://schemas.microsoft.com/office/drawing/2014/main" val="2058478837"/>
                    </a:ext>
                  </a:extLst>
                </a:gridCol>
              </a:tblGrid>
              <a:tr h="576943">
                <a:tc>
                  <a:txBody>
                    <a:bodyPr/>
                    <a:lstStyle/>
                    <a:p>
                      <a:r>
                        <a:rPr lang="en-ID" sz="1700" b="1">
                          <a:solidFill>
                            <a:srgbClr val="FFFFFF"/>
                          </a:solidFill>
                          <a:latin typeface="Aptos" panose="020B0004020202020204" pitchFamily="34" charset="0"/>
                        </a:rPr>
                        <a:t>Teknologi</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1700" b="1">
                          <a:solidFill>
                            <a:srgbClr val="FFFFFF"/>
                          </a:solidFill>
                          <a:latin typeface="Aptos" panose="020B0004020202020204" pitchFamily="34" charset="0"/>
                        </a:rPr>
                        <a:t>Peran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1700" b="1">
                          <a:solidFill>
                            <a:srgbClr val="FFFFFF"/>
                          </a:solidFill>
                          <a:latin typeface="Aptos" panose="020B0004020202020204" pitchFamily="34" charset="0"/>
                        </a:rPr>
                        <a:t>Alasan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extLst>
                  <a:ext uri="{0D108BD9-81ED-4DB2-BD59-A6C34878D82A}">
                    <a16:rowId xmlns:a16="http://schemas.microsoft.com/office/drawing/2014/main" val="3851635838"/>
                  </a:ext>
                </a:extLst>
              </a:tr>
              <a:tr h="576943">
                <a:tc>
                  <a:txBody>
                    <a:bodyPr/>
                    <a:lstStyle/>
                    <a:p>
                      <a:r>
                        <a:rPr lang="nl-NL" sz="1700" b="0">
                          <a:solidFill>
                            <a:srgbClr val="162338"/>
                          </a:solidFill>
                          <a:latin typeface="Aptos" panose="020B0004020202020204" pitchFamily="34" charset="0"/>
                        </a:rPr>
                        <a:t>Python 3.11, VS Code
dan Jupyter</a:t>
                      </a:r>
                      <a:endParaRPr lang="en-ID" sz="1700" b="0">
                        <a:solidFill>
                          <a:srgbClr val="162338"/>
                        </a:solidFill>
                        <a:latin typeface="Aptos" panose="020B0004020202020204" pitchFamily="34" charset="0"/>
                      </a:endParaRP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Kode dan notebook</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Pengembangan dan output per sel</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3309911641"/>
                  </a:ext>
                </a:extLst>
              </a:tr>
              <a:tr h="576943">
                <a:tc>
                  <a:txBody>
                    <a:bodyPr/>
                    <a:lstStyle/>
                    <a:p>
                      <a:r>
                        <a:rPr lang="nl-NL" sz="1700" b="0">
                          <a:solidFill>
                            <a:srgbClr val="162338"/>
                          </a:solidFill>
                          <a:latin typeface="Aptos" panose="020B0004020202020204" pitchFamily="34" charset="0"/>
                        </a:rPr>
                        <a:t>PySpark 4.0.4
dan Java 17</a:t>
                      </a:r>
                      <a:endParaRPr lang="en-ID" sz="1700" b="0">
                        <a:solidFill>
                          <a:srgbClr val="162338"/>
                        </a:solidFill>
                        <a:latin typeface="Aptos" panose="020B0004020202020204" pitchFamily="34" charset="0"/>
                      </a:endParaRP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Transformasi tabel</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Integrasi DataFrame dan MLlib</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2292406950"/>
                  </a:ext>
                </a:extLst>
              </a:tr>
              <a:tr h="576943">
                <a:tc>
                  <a:txBody>
                    <a:bodyPr/>
                    <a:lstStyle/>
                    <a:p>
                      <a:r>
                        <a:rPr lang="en-ID" sz="1700" b="0">
                          <a:solidFill>
                            <a:srgbClr val="162338"/>
                          </a:solidFill>
                          <a:latin typeface="Aptos" panose="020B0004020202020204" pitchFamily="34" charset="0"/>
                        </a:rPr>
                        <a:t>Parquet + Snappy</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Penyimpanan bertipe</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Format columnar dan kompresi</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2322838619"/>
                  </a:ext>
                </a:extLst>
              </a:tr>
              <a:tr h="576943">
                <a:tc>
                  <a:txBody>
                    <a:bodyPr/>
                    <a:lstStyle/>
                    <a:p>
                      <a:r>
                        <a:rPr lang="en-ID" sz="1700" b="0">
                          <a:solidFill>
                            <a:srgbClr val="162338"/>
                          </a:solidFill>
                          <a:latin typeface="Aptos" panose="020B0004020202020204" pitchFamily="34" charset="0"/>
                        </a:rPr>
                        <a:t>MLlib Random Forest</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Eksplorasi risiko delay</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Model klasifikasi dalam Spark</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4057789871"/>
                  </a:ext>
                </a:extLst>
              </a:tr>
              <a:tr h="576943">
                <a:tc>
                  <a:txBody>
                    <a:bodyPr/>
                    <a:lstStyle/>
                    <a:p>
                      <a:r>
                        <a:rPr lang="en-ID" sz="1700" b="0">
                          <a:solidFill>
                            <a:srgbClr val="162338"/>
                          </a:solidFill>
                          <a:latin typeface="Aptos" panose="020B0004020202020204" pitchFamily="34" charset="0"/>
                        </a:rPr>
                        <a:t>pandas + NetworkX</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Analisis jaringan state</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Graf kecil dalam memori</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1677890336"/>
                  </a:ext>
                </a:extLst>
              </a:tr>
              <a:tr h="576943">
                <a:tc>
                  <a:txBody>
                    <a:bodyPr/>
                    <a:lstStyle/>
                    <a:p>
                      <a:r>
                        <a:rPr lang="en-ID" sz="1700" b="0">
                          <a:solidFill>
                            <a:srgbClr val="162338"/>
                          </a:solidFill>
                          <a:latin typeface="Aptos" panose="020B0004020202020204" pitchFamily="34" charset="0"/>
                        </a:rPr>
                        <a:t>Git + GitHub</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Versi dan dokumentasi</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Kelanjutan kerja lintas perangkat</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98421551"/>
                  </a:ext>
                </a:extLst>
              </a:tr>
            </a:tbl>
          </a:graphicData>
        </a:graphic>
      </p:graphicFrame>
      <p:sp>
        <p:nvSpPr>
          <p:cNvPr id="6" name="TextBox 5">
            <a:extLst>
              <a:ext uri="{FF2B5EF4-FFF2-40B4-BE49-F238E27FC236}">
                <a16:creationId xmlns:a16="http://schemas.microsoft.com/office/drawing/2014/main" id="{E02C3BFC-35F9-6A8E-AD3E-3B62699E25C3}"/>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05 / 11</a:t>
            </a:r>
          </a:p>
        </p:txBody>
      </p:sp>
    </p:spTree>
    <p:extLst>
      <p:ext uri="{BB962C8B-B14F-4D97-AF65-F5344CB8AC3E}">
        <p14:creationId xmlns:p14="http://schemas.microsoft.com/office/powerpoint/2010/main" val="3324402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6AA33E-D173-7688-630B-70C85358A0B7}"/>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es-ES" sz="3200" b="1">
                <a:solidFill>
                  <a:srgbClr val="162338"/>
                </a:solidFill>
                <a:latin typeface="Aptos" panose="020B0004020202020204" pitchFamily="34" charset="0"/>
              </a:rPr>
              <a:t>Alur pipeline dan batas implementasi</a:t>
            </a:r>
            <a:endParaRPr lang="en-ID" sz="3200" b="1">
              <a:solidFill>
                <a:srgbClr val="162338"/>
              </a:solidFill>
              <a:latin typeface="Aptos" panose="020B0004020202020204" pitchFamily="34" charset="0"/>
            </a:endParaRPr>
          </a:p>
        </p:txBody>
      </p:sp>
      <p:sp>
        <p:nvSpPr>
          <p:cNvPr id="3" name="TextBox 2">
            <a:extLst>
              <a:ext uri="{FF2B5EF4-FFF2-40B4-BE49-F238E27FC236}">
                <a16:creationId xmlns:a16="http://schemas.microsoft.com/office/drawing/2014/main" id="{7229F94E-4F12-79A9-0FFF-6F7337EB79D5}"/>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Sumber: notebook 01–03 dan laporan Bab 2/4. Seluruh proses berjalan lokal.</a:t>
            </a:r>
          </a:p>
        </p:txBody>
      </p:sp>
      <p:sp>
        <p:nvSpPr>
          <p:cNvPr id="4" name="TextBox 3">
            <a:extLst>
              <a:ext uri="{FF2B5EF4-FFF2-40B4-BE49-F238E27FC236}">
                <a16:creationId xmlns:a16="http://schemas.microsoft.com/office/drawing/2014/main" id="{71EDFEC2-5977-794E-FF83-16B4DF27E5C9}"/>
              </a:ext>
            </a:extLst>
          </p:cNvPr>
          <p:cNvSpPr txBox="1"/>
          <p:nvPr/>
        </p:nvSpPr>
        <p:spPr>
          <a:xfrm>
            <a:off x="609600" y="5562600"/>
            <a:ext cx="10972800" cy="276999"/>
          </a:xfrm>
          <a:prstGeom prst="rect">
            <a:avLst/>
          </a:prstGeom>
          <a:noFill/>
        </p:spPr>
        <p:txBody>
          <a:bodyPr vert="horz" wrap="square" lIns="0" tIns="0" rIns="0" bIns="0" rtlCol="0">
            <a:noAutofit/>
          </a:bodyPr>
          <a:lstStyle/>
          <a:p>
            <a:pPr>
              <a:spcAft>
                <a:spcPts val="700"/>
              </a:spcAft>
            </a:pPr>
            <a:r>
              <a:rPr lang="en-US" sz="2100">
                <a:solidFill>
                  <a:srgbClr val="162338"/>
                </a:solidFill>
                <a:latin typeface="Aptos" panose="020B0004020202020204" pitchFamily="34" charset="0"/>
              </a:rPr>
              <a:t>Fitur: satu baris per order. Item/payment diagregasi sebelum join.</a:t>
            </a:r>
            <a:endParaRPr lang="en-ID" sz="2100">
              <a:solidFill>
                <a:srgbClr val="162338"/>
              </a:solidFill>
              <a:latin typeface="Aptos" panose="020B0004020202020204" pitchFamily="34" charset="0"/>
            </a:endParaRPr>
          </a:p>
        </p:txBody>
      </p:sp>
      <p:graphicFrame>
        <p:nvGraphicFramePr>
          <p:cNvPr id="5" name="Table 4">
            <a:extLst>
              <a:ext uri="{FF2B5EF4-FFF2-40B4-BE49-F238E27FC236}">
                <a16:creationId xmlns:a16="http://schemas.microsoft.com/office/drawing/2014/main" id="{E0EEDB2C-BC58-585F-004F-3AE997A805FE}"/>
              </a:ext>
            </a:extLst>
          </p:cNvPr>
          <p:cNvGraphicFramePr>
            <a:graphicFrameLocks noGrp="1"/>
          </p:cNvGraphicFramePr>
          <p:nvPr>
            <p:extLst>
              <p:ext uri="{D42A27DB-BD31-4B8C-83A1-F6EECF244321}">
                <p14:modId xmlns:p14="http://schemas.microsoft.com/office/powerpoint/2010/main" val="3973035977"/>
              </p:ext>
            </p:extLst>
          </p:nvPr>
        </p:nvGraphicFramePr>
        <p:xfrm>
          <a:off x="609600" y="1612900"/>
          <a:ext cx="10972800" cy="3619500"/>
        </p:xfrm>
        <a:graphic>
          <a:graphicData uri="http://schemas.openxmlformats.org/drawingml/2006/table">
            <a:tbl>
              <a:tblPr firstRow="1" bandRow="1">
                <a:tableStyleId>{5C22544A-7EE6-4342-B048-85BDC9FD1C3A}</a:tableStyleId>
              </a:tblPr>
              <a:tblGrid>
                <a:gridCol w="3302000">
                  <a:extLst>
                    <a:ext uri="{9D8B030D-6E8A-4147-A177-3AD203B41FA5}">
                      <a16:colId xmlns:a16="http://schemas.microsoft.com/office/drawing/2014/main" val="1713389200"/>
                    </a:ext>
                  </a:extLst>
                </a:gridCol>
                <a:gridCol w="7670800">
                  <a:extLst>
                    <a:ext uri="{9D8B030D-6E8A-4147-A177-3AD203B41FA5}">
                      <a16:colId xmlns:a16="http://schemas.microsoft.com/office/drawing/2014/main" val="694802021"/>
                    </a:ext>
                  </a:extLst>
                </a:gridCol>
              </a:tblGrid>
              <a:tr h="723900">
                <a:tc>
                  <a:txBody>
                    <a:bodyPr/>
                    <a:lstStyle/>
                    <a:p>
                      <a:r>
                        <a:rPr lang="en-ID" sz="2000" b="1">
                          <a:solidFill>
                            <a:srgbClr val="FFFFFF"/>
                          </a:solidFill>
                          <a:latin typeface="Aptos" panose="020B0004020202020204" pitchFamily="34" charset="0"/>
                        </a:rPr>
                        <a:t>Tahap</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2000" b="1">
                          <a:solidFill>
                            <a:srgbClr val="FFFFFF"/>
                          </a:solidFill>
                          <a:latin typeface="Aptos" panose="020B0004020202020204" pitchFamily="34" charset="0"/>
                        </a:rPr>
                        <a:t>Proses dan hasil</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extLst>
                  <a:ext uri="{0D108BD9-81ED-4DB2-BD59-A6C34878D82A}">
                    <a16:rowId xmlns:a16="http://schemas.microsoft.com/office/drawing/2014/main" val="1630946547"/>
                  </a:ext>
                </a:extLst>
              </a:tr>
              <a:tr h="723900">
                <a:tc>
                  <a:txBody>
                    <a:bodyPr/>
                    <a:lstStyle/>
                    <a:p>
                      <a:r>
                        <a:rPr lang="en-ID" sz="2000" b="0">
                          <a:solidFill>
                            <a:srgbClr val="162338"/>
                          </a:solidFill>
                          <a:latin typeface="Aptos" panose="020B0004020202020204" pitchFamily="34" charset="0"/>
                        </a:rPr>
                        <a:t>01. Ingestion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pt-BR" sz="2000" b="0">
                          <a:solidFill>
                            <a:srgbClr val="162338"/>
                          </a:solidFill>
                          <a:latin typeface="Aptos" panose="020B0004020202020204" pitchFamily="34" charset="0"/>
                        </a:rPr>
                        <a:t>CSV raw, validasi, Parquet Snappy</a:t>
                      </a:r>
                      <a:endParaRPr lang="en-ID" sz="2000" b="0">
                        <a:solidFill>
                          <a:srgbClr val="162338"/>
                        </a:solidFill>
                        <a:latin typeface="Aptos" panose="020B0004020202020204" pitchFamily="34" charset="0"/>
                      </a:endParaRP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2130999147"/>
                  </a:ext>
                </a:extLst>
              </a:tr>
              <a:tr h="723900">
                <a:tc>
                  <a:txBody>
                    <a:bodyPr/>
                    <a:lstStyle/>
                    <a:p>
                      <a:r>
                        <a:rPr lang="en-ID" sz="2000" b="0">
                          <a:solidFill>
                            <a:srgbClr val="162338"/>
                          </a:solidFill>
                          <a:latin typeface="Aptos" panose="020B0004020202020204" pitchFamily="34" charset="0"/>
                        </a:rPr>
                        <a:t>02. Fitur dan ML</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Fitur per order, split, evaluasi model</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78259379"/>
                  </a:ext>
                </a:extLst>
              </a:tr>
              <a:tr h="723900">
                <a:tc>
                  <a:txBody>
                    <a:bodyPr/>
                    <a:lstStyle/>
                    <a:p>
                      <a:r>
                        <a:rPr lang="en-ID" sz="2000" b="0">
                          <a:solidFill>
                            <a:srgbClr val="162338"/>
                          </a:solidFill>
                          <a:latin typeface="Aptos" panose="020B0004020202020204" pitchFamily="34" charset="0"/>
                        </a:rPr>
                        <a:t>03. Graf</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Jaringan state asal seller dan tujuan customer</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2998742159"/>
                  </a:ext>
                </a:extLst>
              </a:tr>
              <a:tr h="723900">
                <a:tc>
                  <a:txBody>
                    <a:bodyPr/>
                    <a:lstStyle/>
                    <a:p>
                      <a:r>
                        <a:rPr lang="en-ID" sz="2000" b="0">
                          <a:solidFill>
                            <a:srgbClr val="162338"/>
                          </a:solidFill>
                          <a:latin typeface="Aptos" panose="020B0004020202020204" pitchFamily="34" charset="0"/>
                        </a:rPr>
                        <a:t>Rancangan lanjutan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Warehouse konseptual; NoSQL/database graf/dashboard masih rencana</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9514758"/>
                  </a:ext>
                </a:extLst>
              </a:tr>
            </a:tbl>
          </a:graphicData>
        </a:graphic>
      </p:graphicFrame>
      <p:sp>
        <p:nvSpPr>
          <p:cNvPr id="6" name="TextBox 5">
            <a:extLst>
              <a:ext uri="{FF2B5EF4-FFF2-40B4-BE49-F238E27FC236}">
                <a16:creationId xmlns:a16="http://schemas.microsoft.com/office/drawing/2014/main" id="{D7510C63-B259-F3EA-DA99-ABF6F548AD05}"/>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06 / 11</a:t>
            </a:r>
          </a:p>
        </p:txBody>
      </p:sp>
    </p:spTree>
    <p:extLst>
      <p:ext uri="{BB962C8B-B14F-4D97-AF65-F5344CB8AC3E}">
        <p14:creationId xmlns:p14="http://schemas.microsoft.com/office/powerpoint/2010/main" val="21505099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06EC3D4-8F36-716D-AF0E-843980D9FDCD}"/>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pt-BR" sz="3200" b="1">
                <a:solidFill>
                  <a:srgbClr val="162338"/>
                </a:solidFill>
                <a:latin typeface="Aptos" panose="020B0004020202020204" pitchFamily="34" charset="0"/>
              </a:rPr>
              <a:t>Hasil ingestion dan kualitas data</a:t>
            </a:r>
            <a:endParaRPr lang="en-ID" sz="3200" b="1">
              <a:solidFill>
                <a:srgbClr val="162338"/>
              </a:solidFill>
              <a:latin typeface="Aptos" panose="020B0004020202020204" pitchFamily="34" charset="0"/>
            </a:endParaRPr>
          </a:p>
        </p:txBody>
      </p:sp>
      <p:sp>
        <p:nvSpPr>
          <p:cNvPr id="3" name="TextBox 2">
            <a:extLst>
              <a:ext uri="{FF2B5EF4-FFF2-40B4-BE49-F238E27FC236}">
                <a16:creationId xmlns:a16="http://schemas.microsoft.com/office/drawing/2014/main" id="{5460633C-3E99-BD5E-9BBA-35CE772B555E}"/>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Hasil demo ingestion yang telah dijalankan. Sumber: laporan ringkasan ingestion.</a:t>
            </a:r>
          </a:p>
        </p:txBody>
      </p:sp>
      <p:sp>
        <p:nvSpPr>
          <p:cNvPr id="4" name="TextBox 3">
            <a:extLst>
              <a:ext uri="{FF2B5EF4-FFF2-40B4-BE49-F238E27FC236}">
                <a16:creationId xmlns:a16="http://schemas.microsoft.com/office/drawing/2014/main" id="{B578D888-7767-7A9D-DA24-71987164808C}"/>
              </a:ext>
            </a:extLst>
          </p:cNvPr>
          <p:cNvSpPr txBox="1"/>
          <p:nvPr/>
        </p:nvSpPr>
        <p:spPr>
          <a:xfrm>
            <a:off x="609600" y="1612900"/>
            <a:ext cx="10972800" cy="276999"/>
          </a:xfrm>
          <a:prstGeom prst="rect">
            <a:avLst/>
          </a:prstGeom>
          <a:noFill/>
        </p:spPr>
        <p:txBody>
          <a:bodyPr vert="horz" wrap="square" lIns="0" tIns="0" rIns="0" bIns="0" rtlCol="0">
            <a:noAutofit/>
          </a:bodyPr>
          <a:lstStyle/>
          <a:p>
            <a:pPr>
              <a:spcAft>
                <a:spcPts val="700"/>
              </a:spcAft>
            </a:pPr>
            <a:r>
              <a:rPr lang="en-US" sz="2700" b="1">
                <a:solidFill>
                  <a:srgbClr val="007084"/>
                </a:solidFill>
                <a:latin typeface="Aptos" panose="020B0004020202020204" pitchFamily="34" charset="0"/>
              </a:rPr>
              <a:t>PASS: 9 tabel, status round-trip tersimpan semuanya True</a:t>
            </a:r>
            <a:endParaRPr lang="en-ID" sz="2700" b="1">
              <a:solidFill>
                <a:srgbClr val="007084"/>
              </a:solidFill>
              <a:latin typeface="Aptos" panose="020B0004020202020204" pitchFamily="34" charset="0"/>
            </a:endParaRPr>
          </a:p>
        </p:txBody>
      </p:sp>
      <p:sp>
        <p:nvSpPr>
          <p:cNvPr id="5" name="TextBox 4">
            <a:extLst>
              <a:ext uri="{FF2B5EF4-FFF2-40B4-BE49-F238E27FC236}">
                <a16:creationId xmlns:a16="http://schemas.microsoft.com/office/drawing/2014/main" id="{C362ADC0-6E61-0EBD-CF3E-AE22CF917877}"/>
              </a:ext>
            </a:extLst>
          </p:cNvPr>
          <p:cNvSpPr txBox="1"/>
          <p:nvPr/>
        </p:nvSpPr>
        <p:spPr>
          <a:xfrm>
            <a:off x="609600" y="4445000"/>
            <a:ext cx="10972800" cy="276999"/>
          </a:xfrm>
          <a:prstGeom prst="rect">
            <a:avLst/>
          </a:prstGeom>
          <a:noFill/>
        </p:spPr>
        <p:txBody>
          <a:bodyPr vert="horz" wrap="square" lIns="0" tIns="0" rIns="0" bIns="0" rtlCol="0">
            <a:noAutofit/>
          </a:bodyPr>
          <a:lstStyle/>
          <a:p>
            <a:pPr>
              <a:spcAft>
                <a:spcPts val="700"/>
              </a:spcAft>
            </a:pPr>
            <a:r>
              <a:rPr lang="en-ID" sz="2400">
                <a:solidFill>
                  <a:srgbClr val="162338"/>
                </a:solidFill>
                <a:latin typeface="Aptos" panose="020B0004020202020204" pitchFamily="34" charset="0"/>
              </a:rPr>
              <a:t>Raw tetap utuh. Validasi tipe, ID/key, jumlah baris dan null profile.</a:t>
            </a:r>
          </a:p>
        </p:txBody>
      </p:sp>
      <p:sp>
        <p:nvSpPr>
          <p:cNvPr id="6" name="TextBox 5">
            <a:extLst>
              <a:ext uri="{FF2B5EF4-FFF2-40B4-BE49-F238E27FC236}">
                <a16:creationId xmlns:a16="http://schemas.microsoft.com/office/drawing/2014/main" id="{316B5D75-FD12-1BBF-234E-B2A121E5942B}"/>
              </a:ext>
            </a:extLst>
          </p:cNvPr>
          <p:cNvSpPr txBox="1"/>
          <p:nvPr/>
        </p:nvSpPr>
        <p:spPr>
          <a:xfrm>
            <a:off x="609600" y="5651500"/>
            <a:ext cx="10972800" cy="276999"/>
          </a:xfrm>
          <a:prstGeom prst="rect">
            <a:avLst/>
          </a:prstGeom>
          <a:noFill/>
        </p:spPr>
        <p:txBody>
          <a:bodyPr vert="horz" wrap="square" lIns="0" tIns="0" rIns="0" bIns="0" rtlCol="0">
            <a:noAutofit/>
          </a:bodyPr>
          <a:lstStyle/>
          <a:p>
            <a:pPr>
              <a:spcAft>
                <a:spcPts val="700"/>
              </a:spcAft>
            </a:pPr>
            <a:r>
              <a:rPr lang="en-ID" sz="1700">
                <a:solidFill>
                  <a:srgbClr val="162338"/>
                </a:solidFill>
                <a:latin typeface="Aptos" panose="020B0004020202020204" pitchFamily="34" charset="0"/>
              </a:rPr>
              <a:t>Pemeriksaan hasil tersimpan. Penghematan storage bukan benchmark kecepatan kueri.</a:t>
            </a:r>
          </a:p>
        </p:txBody>
      </p:sp>
      <p:graphicFrame>
        <p:nvGraphicFramePr>
          <p:cNvPr id="7" name="Table 6">
            <a:extLst>
              <a:ext uri="{FF2B5EF4-FFF2-40B4-BE49-F238E27FC236}">
                <a16:creationId xmlns:a16="http://schemas.microsoft.com/office/drawing/2014/main" id="{342397A9-077A-6FAF-8A68-C28E2B31C9E7}"/>
              </a:ext>
            </a:extLst>
          </p:cNvPr>
          <p:cNvGraphicFramePr>
            <a:graphicFrameLocks noGrp="1"/>
          </p:cNvGraphicFramePr>
          <p:nvPr>
            <p:extLst>
              <p:ext uri="{D42A27DB-BD31-4B8C-83A1-F6EECF244321}">
                <p14:modId xmlns:p14="http://schemas.microsoft.com/office/powerpoint/2010/main" val="953201166"/>
              </p:ext>
            </p:extLst>
          </p:nvPr>
        </p:nvGraphicFramePr>
        <p:xfrm>
          <a:off x="609600" y="2730500"/>
          <a:ext cx="10972800" cy="1397000"/>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85685517"/>
                    </a:ext>
                  </a:extLst>
                </a:gridCol>
                <a:gridCol w="3657600">
                  <a:extLst>
                    <a:ext uri="{9D8B030D-6E8A-4147-A177-3AD203B41FA5}">
                      <a16:colId xmlns:a16="http://schemas.microsoft.com/office/drawing/2014/main" val="2733991194"/>
                    </a:ext>
                  </a:extLst>
                </a:gridCol>
                <a:gridCol w="3657600">
                  <a:extLst>
                    <a:ext uri="{9D8B030D-6E8A-4147-A177-3AD203B41FA5}">
                      <a16:colId xmlns:a16="http://schemas.microsoft.com/office/drawing/2014/main" val="3883804450"/>
                    </a:ext>
                  </a:extLst>
                </a:gridCol>
              </a:tblGrid>
              <a:tr h="698500">
                <a:tc>
                  <a:txBody>
                    <a:bodyPr/>
                    <a:lstStyle/>
                    <a:p>
                      <a:r>
                        <a:rPr lang="en-ID" sz="2300" b="1">
                          <a:solidFill>
                            <a:srgbClr val="FFFFFF"/>
                          </a:solidFill>
                          <a:latin typeface="Aptos" panose="020B0004020202020204" pitchFamily="34" charset="0"/>
                        </a:rPr>
                        <a:t>CSV</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2300" b="1">
                          <a:solidFill>
                            <a:srgbClr val="FFFFFF"/>
                          </a:solidFill>
                          <a:latin typeface="Aptos" panose="020B0004020202020204" pitchFamily="34" charset="0"/>
                        </a:rPr>
                        <a:t>Parquet</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2300" b="1">
                          <a:solidFill>
                            <a:srgbClr val="FFFFFF"/>
                          </a:solidFill>
                          <a:latin typeface="Aptos" panose="020B0004020202020204" pitchFamily="34" charset="0"/>
                        </a:rPr>
                        <a:t>Penghematan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extLst>
                  <a:ext uri="{0D108BD9-81ED-4DB2-BD59-A6C34878D82A}">
                    <a16:rowId xmlns:a16="http://schemas.microsoft.com/office/drawing/2014/main" val="1120859887"/>
                  </a:ext>
                </a:extLst>
              </a:tr>
              <a:tr h="698500">
                <a:tc>
                  <a:txBody>
                    <a:bodyPr/>
                    <a:lstStyle/>
                    <a:p>
                      <a:r>
                        <a:rPr lang="en-ID" sz="2300" b="0">
                          <a:solidFill>
                            <a:srgbClr val="162338"/>
                          </a:solidFill>
                          <a:latin typeface="Aptos" panose="020B0004020202020204" pitchFamily="34" charset="0"/>
                        </a:rPr>
                        <a:t>120,341 MiB</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300" b="0">
                          <a:solidFill>
                            <a:srgbClr val="162338"/>
                          </a:solidFill>
                          <a:latin typeface="Aptos" panose="020B0004020202020204" pitchFamily="34" charset="0"/>
                        </a:rPr>
                        <a:t>54,236 MiB</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300" b="0">
                          <a:solidFill>
                            <a:srgbClr val="162338"/>
                          </a:solidFill>
                          <a:latin typeface="Aptos" panose="020B0004020202020204" pitchFamily="34" charset="0"/>
                        </a:rPr>
                        <a:t>54,93%</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3451549855"/>
                  </a:ext>
                </a:extLst>
              </a:tr>
            </a:tbl>
          </a:graphicData>
        </a:graphic>
      </p:graphicFrame>
      <p:sp>
        <p:nvSpPr>
          <p:cNvPr id="8" name="TextBox 7">
            <a:extLst>
              <a:ext uri="{FF2B5EF4-FFF2-40B4-BE49-F238E27FC236}">
                <a16:creationId xmlns:a16="http://schemas.microsoft.com/office/drawing/2014/main" id="{457E8E42-42CC-4F3D-3AEC-826BD79C8F19}"/>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07 / 11</a:t>
            </a:r>
          </a:p>
        </p:txBody>
      </p:sp>
    </p:spTree>
    <p:extLst>
      <p:ext uri="{BB962C8B-B14F-4D97-AF65-F5344CB8AC3E}">
        <p14:creationId xmlns:p14="http://schemas.microsoft.com/office/powerpoint/2010/main" val="35026566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DA8648D-7F5B-2C05-F6FF-BE88F5499DA8}"/>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it-IT" sz="3200" b="1">
                <a:solidFill>
                  <a:srgbClr val="162338"/>
                </a:solidFill>
                <a:latin typeface="Aptos" panose="020B0004020202020204" pitchFamily="34" charset="0"/>
              </a:rPr>
              <a:t>Tata kelola dan perlindungan data</a:t>
            </a:r>
            <a:endParaRPr lang="en-ID" sz="3200" b="1">
              <a:solidFill>
                <a:srgbClr val="162338"/>
              </a:solidFill>
              <a:latin typeface="Aptos" panose="020B0004020202020204" pitchFamily="34" charset="0"/>
            </a:endParaRPr>
          </a:p>
        </p:txBody>
      </p:sp>
      <p:sp>
        <p:nvSpPr>
          <p:cNvPr id="3" name="TextBox 2">
            <a:extLst>
              <a:ext uri="{FF2B5EF4-FFF2-40B4-BE49-F238E27FC236}">
                <a16:creationId xmlns:a16="http://schemas.microsoft.com/office/drawing/2014/main" id="{8695B37A-B84A-9D71-0D3D-772C450A471F}"/>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Sumber: laporan Bab 3 dan .gitignore. Kontrol rancangan perlu diuji.</a:t>
            </a:r>
          </a:p>
        </p:txBody>
      </p:sp>
      <p:sp>
        <p:nvSpPr>
          <p:cNvPr id="4" name="TextBox 3">
            <a:extLst>
              <a:ext uri="{FF2B5EF4-FFF2-40B4-BE49-F238E27FC236}">
                <a16:creationId xmlns:a16="http://schemas.microsoft.com/office/drawing/2014/main" id="{484A8772-DD4F-1BB1-1CD3-86D07C7DBC91}"/>
              </a:ext>
            </a:extLst>
          </p:cNvPr>
          <p:cNvSpPr txBox="1"/>
          <p:nvPr/>
        </p:nvSpPr>
        <p:spPr>
          <a:xfrm>
            <a:off x="609600" y="5562600"/>
            <a:ext cx="10972800" cy="276999"/>
          </a:xfrm>
          <a:prstGeom prst="rect">
            <a:avLst/>
          </a:prstGeom>
          <a:noFill/>
        </p:spPr>
        <p:txBody>
          <a:bodyPr vert="horz" wrap="square" lIns="0" tIns="0" rIns="0" bIns="0" rtlCol="0">
            <a:noAutofit/>
          </a:bodyPr>
          <a:lstStyle/>
          <a:p>
            <a:pPr>
              <a:spcAft>
                <a:spcPts val="700"/>
              </a:spcAft>
            </a:pPr>
            <a:r>
              <a:rPr lang="en-ID" sz="2400" b="1">
                <a:solidFill>
                  <a:srgbClr val="162338"/>
                </a:solidFill>
                <a:latin typeface="Aptos" panose="020B0004020202020204" pitchFamily="34" charset="0"/>
              </a:rPr>
              <a:t>ID berbentuk hash tidak otomatis menjamin anonimitas.</a:t>
            </a:r>
          </a:p>
        </p:txBody>
      </p:sp>
      <p:graphicFrame>
        <p:nvGraphicFramePr>
          <p:cNvPr id="5" name="Table 4">
            <a:extLst>
              <a:ext uri="{FF2B5EF4-FFF2-40B4-BE49-F238E27FC236}">
                <a16:creationId xmlns:a16="http://schemas.microsoft.com/office/drawing/2014/main" id="{4983522E-51B4-8B31-441F-DB3E99672D32}"/>
              </a:ext>
            </a:extLst>
          </p:cNvPr>
          <p:cNvGraphicFramePr>
            <a:graphicFrameLocks noGrp="1"/>
          </p:cNvGraphicFramePr>
          <p:nvPr>
            <p:extLst>
              <p:ext uri="{D42A27DB-BD31-4B8C-83A1-F6EECF244321}">
                <p14:modId xmlns:p14="http://schemas.microsoft.com/office/powerpoint/2010/main" val="2459423226"/>
              </p:ext>
            </p:extLst>
          </p:nvPr>
        </p:nvGraphicFramePr>
        <p:xfrm>
          <a:off x="609600" y="1612900"/>
          <a:ext cx="10972800" cy="3517900"/>
        </p:xfrm>
        <a:graphic>
          <a:graphicData uri="http://schemas.openxmlformats.org/drawingml/2006/table">
            <a:tbl>
              <a:tblPr firstRow="1" bandRow="1">
                <a:tableStyleId>{5C22544A-7EE6-4342-B048-85BDC9FD1C3A}</a:tableStyleId>
              </a:tblPr>
              <a:tblGrid>
                <a:gridCol w="5486400">
                  <a:extLst>
                    <a:ext uri="{9D8B030D-6E8A-4147-A177-3AD203B41FA5}">
                      <a16:colId xmlns:a16="http://schemas.microsoft.com/office/drawing/2014/main" val="1145444512"/>
                    </a:ext>
                  </a:extLst>
                </a:gridCol>
                <a:gridCol w="5486400">
                  <a:extLst>
                    <a:ext uri="{9D8B030D-6E8A-4147-A177-3AD203B41FA5}">
                      <a16:colId xmlns:a16="http://schemas.microsoft.com/office/drawing/2014/main" val="202946243"/>
                    </a:ext>
                  </a:extLst>
                </a:gridCol>
              </a:tblGrid>
              <a:tr h="879475">
                <a:tc>
                  <a:txBody>
                    <a:bodyPr/>
                    <a:lstStyle/>
                    <a:p>
                      <a:r>
                        <a:rPr lang="en-ID" sz="2100" b="1">
                          <a:solidFill>
                            <a:srgbClr val="FFFFFF"/>
                          </a:solidFill>
                          <a:latin typeface="Aptos" panose="020B0004020202020204" pitchFamily="34" charset="0"/>
                        </a:rPr>
                        <a:t>Praktik prototipe</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2100" b="1">
                          <a:solidFill>
                            <a:srgbClr val="FFFFFF"/>
                          </a:solidFill>
                          <a:latin typeface="Aptos" panose="020B0004020202020204" pitchFamily="34" charset="0"/>
                        </a:rPr>
                        <a:t>Kontrol rancangan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extLst>
                  <a:ext uri="{0D108BD9-81ED-4DB2-BD59-A6C34878D82A}">
                    <a16:rowId xmlns:a16="http://schemas.microsoft.com/office/drawing/2014/main" val="523782761"/>
                  </a:ext>
                </a:extLst>
              </a:tr>
              <a:tr h="879475">
                <a:tc>
                  <a:txBody>
                    <a:bodyPr/>
                    <a:lstStyle/>
                    <a:p>
                      <a:r>
                        <a:rPr lang="en-ID" sz="2100" b="0">
                          <a:solidFill>
                            <a:srgbClr val="162338"/>
                          </a:solidFill>
                          <a:latin typeface="Aptos" panose="020B0004020202020204" pitchFamily="34" charset="0"/>
                        </a:rPr>
                        <a:t>Raw dan audit dipertahankan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100" b="0">
                          <a:solidFill>
                            <a:srgbClr val="162338"/>
                          </a:solidFill>
                          <a:latin typeface="Aptos" panose="020B0004020202020204" pitchFamily="34" charset="0"/>
                        </a:rPr>
                        <a:t>Akses sesuai peran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2647224708"/>
                  </a:ext>
                </a:extLst>
              </a:tr>
              <a:tr h="879475">
                <a:tc>
                  <a:txBody>
                    <a:bodyPr/>
                    <a:lstStyle/>
                    <a:p>
                      <a:r>
                        <a:rPr lang="en-ID" sz="2100" b="0">
                          <a:solidFill>
                            <a:srgbClr val="162338"/>
                          </a:solidFill>
                          <a:latin typeface="Aptos" panose="020B0004020202020204" pitchFamily="34" charset="0"/>
                        </a:rPr>
                        <a:t>Kode dan ringkasan agregat di Git</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100" b="0">
                          <a:solidFill>
                            <a:srgbClr val="162338"/>
                          </a:solidFill>
                          <a:latin typeface="Aptos" panose="020B0004020202020204" pitchFamily="34" charset="0"/>
                        </a:rPr>
                        <a:t>Retensi dan minimisasi data</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1259141080"/>
                  </a:ext>
                </a:extLst>
              </a:tr>
              <a:tr h="879475">
                <a:tc>
                  <a:txBody>
                    <a:bodyPr/>
                    <a:lstStyle/>
                    <a:p>
                      <a:r>
                        <a:rPr lang="en-ID" sz="2100" b="0">
                          <a:solidFill>
                            <a:srgbClr val="162338"/>
                          </a:solidFill>
                          <a:latin typeface="Aptos" panose="020B0004020202020204" pitchFamily="34" charset="0"/>
                        </a:rPr>
                        <a:t>Raw, credential, runtime dikecualikan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it-IT" sz="2100" b="0">
                          <a:solidFill>
                            <a:srgbClr val="162338"/>
                          </a:solidFill>
                          <a:latin typeface="Aptos" panose="020B0004020202020204" pitchFamily="34" charset="0"/>
                        </a:rPr>
                        <a:t>Pemeriksaan data pribadi pada teks</a:t>
                      </a:r>
                      <a:endParaRPr lang="en-ID" sz="2100" b="0">
                        <a:solidFill>
                          <a:srgbClr val="162338"/>
                        </a:solidFill>
                        <a:latin typeface="Aptos" panose="020B0004020202020204" pitchFamily="34" charset="0"/>
                      </a:endParaRP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56121780"/>
                  </a:ext>
                </a:extLst>
              </a:tr>
            </a:tbl>
          </a:graphicData>
        </a:graphic>
      </p:graphicFrame>
      <p:sp>
        <p:nvSpPr>
          <p:cNvPr id="6" name="TextBox 5">
            <a:extLst>
              <a:ext uri="{FF2B5EF4-FFF2-40B4-BE49-F238E27FC236}">
                <a16:creationId xmlns:a16="http://schemas.microsoft.com/office/drawing/2014/main" id="{7305FDCA-349B-0C24-367C-586951541648}"/>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08 / 11</a:t>
            </a:r>
          </a:p>
        </p:txBody>
      </p:sp>
    </p:spTree>
    <p:extLst>
      <p:ext uri="{BB962C8B-B14F-4D97-AF65-F5344CB8AC3E}">
        <p14:creationId xmlns:p14="http://schemas.microsoft.com/office/powerpoint/2010/main" val="1973563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0B06373-3EFD-87DA-DE7B-DA857DB09C7B}"/>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es-ES" sz="3200" b="1">
                <a:solidFill>
                  <a:srgbClr val="162338"/>
                </a:solidFill>
                <a:latin typeface="Aptos" panose="020B0004020202020204" pitchFamily="34" charset="0"/>
              </a:rPr>
              <a:t>Hasil model dan pemilihan ambang</a:t>
            </a:r>
            <a:endParaRPr lang="en-ID" sz="3200" b="1">
              <a:solidFill>
                <a:srgbClr val="162338"/>
              </a:solidFill>
              <a:latin typeface="Aptos" panose="020B0004020202020204" pitchFamily="34" charset="0"/>
            </a:endParaRPr>
          </a:p>
        </p:txBody>
      </p:sp>
      <p:sp>
        <p:nvSpPr>
          <p:cNvPr id="3" name="TextBox 2">
            <a:extLst>
              <a:ext uri="{FF2B5EF4-FFF2-40B4-BE49-F238E27FC236}">
                <a16:creationId xmlns:a16="http://schemas.microsoft.com/office/drawing/2014/main" id="{24858669-D3D0-EEA3-236E-8D43D953BBD5}"/>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Hasil demo model yang telah dijalankan. Sumber: evaluation/comparison/confusion reports.</a:t>
            </a:r>
          </a:p>
        </p:txBody>
      </p:sp>
      <p:sp>
        <p:nvSpPr>
          <p:cNvPr id="4" name="TextBox 3">
            <a:extLst>
              <a:ext uri="{FF2B5EF4-FFF2-40B4-BE49-F238E27FC236}">
                <a16:creationId xmlns:a16="http://schemas.microsoft.com/office/drawing/2014/main" id="{9B875562-437D-0499-0C6E-524D2FE9E072}"/>
              </a:ext>
            </a:extLst>
          </p:cNvPr>
          <p:cNvSpPr txBox="1"/>
          <p:nvPr/>
        </p:nvSpPr>
        <p:spPr>
          <a:xfrm>
            <a:off x="609600" y="1587500"/>
            <a:ext cx="10972800" cy="276999"/>
          </a:xfrm>
          <a:prstGeom prst="rect">
            <a:avLst/>
          </a:prstGeom>
          <a:noFill/>
        </p:spPr>
        <p:txBody>
          <a:bodyPr vert="horz" wrap="square" lIns="0" tIns="0" rIns="0" bIns="0" rtlCol="0">
            <a:noAutofit/>
          </a:bodyPr>
          <a:lstStyle/>
          <a:p>
            <a:pPr>
              <a:spcAft>
                <a:spcPts val="700"/>
              </a:spcAft>
            </a:pPr>
            <a:r>
              <a:rPr lang="en-ID" sz="2500" b="1">
                <a:solidFill>
                  <a:srgbClr val="007084"/>
                </a:solidFill>
                <a:latin typeface="Aptos" panose="020B0004020202020204" pitchFamily="34" charset="0"/>
              </a:rPr>
              <a:t>PASS: kandidat, populasi dan metrik test konsisten</a:t>
            </a:r>
          </a:p>
        </p:txBody>
      </p:sp>
      <p:sp>
        <p:nvSpPr>
          <p:cNvPr id="5" name="TextBox 4">
            <a:extLst>
              <a:ext uri="{FF2B5EF4-FFF2-40B4-BE49-F238E27FC236}">
                <a16:creationId xmlns:a16="http://schemas.microsoft.com/office/drawing/2014/main" id="{4897AE86-5181-366F-FCBF-26BA32A09AE2}"/>
              </a:ext>
            </a:extLst>
          </p:cNvPr>
          <p:cNvSpPr txBox="1"/>
          <p:nvPr/>
        </p:nvSpPr>
        <p:spPr>
          <a:xfrm>
            <a:off x="609600" y="5054600"/>
            <a:ext cx="10972800" cy="276999"/>
          </a:xfrm>
          <a:prstGeom prst="rect">
            <a:avLst/>
          </a:prstGeom>
          <a:noFill/>
        </p:spPr>
        <p:txBody>
          <a:bodyPr vert="horz" wrap="square" lIns="0" tIns="0" rIns="0" bIns="0" rtlCol="0">
            <a:noAutofit/>
          </a:bodyPr>
          <a:lstStyle/>
          <a:p>
            <a:pPr>
              <a:spcAft>
                <a:spcPts val="700"/>
              </a:spcAft>
            </a:pPr>
            <a:r>
              <a:rPr lang="sv-SE" sz="2100">
                <a:solidFill>
                  <a:srgbClr val="162338"/>
                </a:solidFill>
                <a:latin typeface="Aptos" panose="020B0004020202020204" pitchFamily="34" charset="0"/>
              </a:rPr>
              <a:t>RF tanpa bobot, ambang 0,099536. Validation F1: 0,2168.</a:t>
            </a:r>
            <a:endParaRPr lang="en-ID" sz="2100">
              <a:solidFill>
                <a:srgbClr val="162338"/>
              </a:solidFill>
              <a:latin typeface="Aptos" panose="020B0004020202020204" pitchFamily="34" charset="0"/>
            </a:endParaRPr>
          </a:p>
        </p:txBody>
      </p:sp>
      <p:sp>
        <p:nvSpPr>
          <p:cNvPr id="6" name="TextBox 5">
            <a:extLst>
              <a:ext uri="{FF2B5EF4-FFF2-40B4-BE49-F238E27FC236}">
                <a16:creationId xmlns:a16="http://schemas.microsoft.com/office/drawing/2014/main" id="{C8A600A6-724A-8A4E-DD2E-5F20FC24A6F2}"/>
              </a:ext>
            </a:extLst>
          </p:cNvPr>
          <p:cNvSpPr txBox="1"/>
          <p:nvPr/>
        </p:nvSpPr>
        <p:spPr>
          <a:xfrm>
            <a:off x="609600" y="5765800"/>
            <a:ext cx="10972800" cy="276999"/>
          </a:xfrm>
          <a:prstGeom prst="rect">
            <a:avLst/>
          </a:prstGeom>
          <a:noFill/>
        </p:spPr>
        <p:txBody>
          <a:bodyPr vert="horz" wrap="square" lIns="0" tIns="0" rIns="0" bIns="0" rtlCol="0">
            <a:noAutofit/>
          </a:bodyPr>
          <a:lstStyle/>
          <a:p>
            <a:pPr>
              <a:spcAft>
                <a:spcPts val="700"/>
              </a:spcAft>
            </a:pPr>
            <a:r>
              <a:rPr lang="en-ID" sz="2000">
                <a:solidFill>
                  <a:srgbClr val="162338"/>
                </a:solidFill>
                <a:latin typeface="Aptos" panose="020B0004020202020204" pitchFamily="34" charset="0"/>
              </a:rPr>
              <a:t>Precision terbatas. Model menjadi sinyal peninjauan.</a:t>
            </a:r>
          </a:p>
        </p:txBody>
      </p:sp>
      <p:graphicFrame>
        <p:nvGraphicFramePr>
          <p:cNvPr id="7" name="Table 6">
            <a:extLst>
              <a:ext uri="{FF2B5EF4-FFF2-40B4-BE49-F238E27FC236}">
                <a16:creationId xmlns:a16="http://schemas.microsoft.com/office/drawing/2014/main" id="{71D4A156-7ED4-DC24-C2F0-91A66F6AE67B}"/>
              </a:ext>
            </a:extLst>
          </p:cNvPr>
          <p:cNvGraphicFramePr>
            <a:graphicFrameLocks noGrp="1"/>
          </p:cNvGraphicFramePr>
          <p:nvPr>
            <p:extLst>
              <p:ext uri="{D42A27DB-BD31-4B8C-83A1-F6EECF244321}">
                <p14:modId xmlns:p14="http://schemas.microsoft.com/office/powerpoint/2010/main" val="464215110"/>
              </p:ext>
            </p:extLst>
          </p:nvPr>
        </p:nvGraphicFramePr>
        <p:xfrm>
          <a:off x="609600" y="2438400"/>
          <a:ext cx="10972800" cy="2324100"/>
        </p:xfrm>
        <a:graphic>
          <a:graphicData uri="http://schemas.openxmlformats.org/drawingml/2006/table">
            <a:tbl>
              <a:tblPr firstRow="1" bandRow="1">
                <a:tableStyleId>{5C22544A-7EE6-4342-B048-85BDC9FD1C3A}</a:tableStyleId>
              </a:tblPr>
              <a:tblGrid>
                <a:gridCol w="5080000">
                  <a:extLst>
                    <a:ext uri="{9D8B030D-6E8A-4147-A177-3AD203B41FA5}">
                      <a16:colId xmlns:a16="http://schemas.microsoft.com/office/drawing/2014/main" val="771932087"/>
                    </a:ext>
                  </a:extLst>
                </a:gridCol>
                <a:gridCol w="2946400">
                  <a:extLst>
                    <a:ext uri="{9D8B030D-6E8A-4147-A177-3AD203B41FA5}">
                      <a16:colId xmlns:a16="http://schemas.microsoft.com/office/drawing/2014/main" val="2169441725"/>
                    </a:ext>
                  </a:extLst>
                </a:gridCol>
                <a:gridCol w="2946400">
                  <a:extLst>
                    <a:ext uri="{9D8B030D-6E8A-4147-A177-3AD203B41FA5}">
                      <a16:colId xmlns:a16="http://schemas.microsoft.com/office/drawing/2014/main" val="4118800717"/>
                    </a:ext>
                  </a:extLst>
                </a:gridCol>
              </a:tblGrid>
              <a:tr h="581025">
                <a:tc>
                  <a:txBody>
                    <a:bodyPr/>
                    <a:lstStyle/>
                    <a:p>
                      <a:r>
                        <a:rPr lang="en-ID" sz="2000" b="1">
                          <a:solidFill>
                            <a:srgbClr val="FFFFFF"/>
                          </a:solidFill>
                          <a:latin typeface="Aptos" panose="020B0004020202020204" pitchFamily="34" charset="0"/>
                        </a:rPr>
                        <a:t>Metrik test</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2000" b="1">
                          <a:solidFill>
                            <a:srgbClr val="FFFFFF"/>
                          </a:solidFill>
                          <a:latin typeface="Aptos" panose="020B0004020202020204" pitchFamily="34" charset="0"/>
                        </a:rPr>
                        <a:t>Ambang 0,5</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2000" b="1">
                          <a:solidFill>
                            <a:srgbClr val="FFFFFF"/>
                          </a:solidFill>
                          <a:latin typeface="Aptos" panose="020B0004020202020204" pitchFamily="34" charset="0"/>
                        </a:rPr>
                        <a:t>Ambang pilihan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extLst>
                  <a:ext uri="{0D108BD9-81ED-4DB2-BD59-A6C34878D82A}">
                    <a16:rowId xmlns:a16="http://schemas.microsoft.com/office/drawing/2014/main" val="1562879944"/>
                  </a:ext>
                </a:extLst>
              </a:tr>
              <a:tr h="581025">
                <a:tc>
                  <a:txBody>
                    <a:bodyPr/>
                    <a:lstStyle/>
                    <a:p>
                      <a:r>
                        <a:rPr lang="en-ID" sz="2000" b="0">
                          <a:solidFill>
                            <a:srgbClr val="162338"/>
                          </a:solidFill>
                          <a:latin typeface="Aptos" panose="020B0004020202020204" pitchFamily="34" charset="0"/>
                        </a:rPr>
                        <a:t>Recall delay</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0,00%</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45,41%</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2651981594"/>
                  </a:ext>
                </a:extLst>
              </a:tr>
              <a:tr h="581025">
                <a:tc>
                  <a:txBody>
                    <a:bodyPr/>
                    <a:lstStyle/>
                    <a:p>
                      <a:r>
                        <a:rPr lang="en-ID" sz="2000" b="0">
                          <a:solidFill>
                            <a:srgbClr val="162338"/>
                          </a:solidFill>
                          <a:latin typeface="Aptos" panose="020B0004020202020204" pitchFamily="34" charset="0"/>
                        </a:rPr>
                        <a:t>Precision delay</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0,00%</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14,47%</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3799866154"/>
                  </a:ext>
                </a:extLst>
              </a:tr>
              <a:tr h="581025">
                <a:tc>
                  <a:txBody>
                    <a:bodyPr/>
                    <a:lstStyle/>
                    <a:p>
                      <a:r>
                        <a:rPr lang="en-ID" sz="2000" b="0">
                          <a:solidFill>
                            <a:srgbClr val="162338"/>
                          </a:solidFill>
                          <a:latin typeface="Aptos" panose="020B0004020202020204" pitchFamily="34" charset="0"/>
                        </a:rPr>
                        <a:t>False positive</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0</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4.186</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822315915"/>
                  </a:ext>
                </a:extLst>
              </a:tr>
            </a:tbl>
          </a:graphicData>
        </a:graphic>
      </p:graphicFrame>
      <p:sp>
        <p:nvSpPr>
          <p:cNvPr id="8" name="TextBox 7">
            <a:extLst>
              <a:ext uri="{FF2B5EF4-FFF2-40B4-BE49-F238E27FC236}">
                <a16:creationId xmlns:a16="http://schemas.microsoft.com/office/drawing/2014/main" id="{EA8B2693-7440-FC68-B4B8-808A6CF93D1D}"/>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09 / 11</a:t>
            </a:r>
          </a:p>
        </p:txBody>
      </p:sp>
    </p:spTree>
    <p:extLst>
      <p:ext uri="{BB962C8B-B14F-4D97-AF65-F5344CB8AC3E}">
        <p14:creationId xmlns:p14="http://schemas.microsoft.com/office/powerpoint/2010/main" val="30592280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9F0FC35-A3E3-D633-4E87-AA6B80D2DF76}"/>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en-ID" sz="3200" b="1">
                <a:solidFill>
                  <a:srgbClr val="162338"/>
                </a:solidFill>
                <a:latin typeface="Aptos" panose="020B0004020202020204" pitchFamily="34" charset="0"/>
              </a:rPr>
              <a:t>Hasil graf dan prioritas rute</a:t>
            </a:r>
          </a:p>
        </p:txBody>
      </p:sp>
      <p:sp>
        <p:nvSpPr>
          <p:cNvPr id="3" name="TextBox 2">
            <a:extLst>
              <a:ext uri="{FF2B5EF4-FFF2-40B4-BE49-F238E27FC236}">
                <a16:creationId xmlns:a16="http://schemas.microsoft.com/office/drawing/2014/main" id="{4D47F7DD-46BF-8F85-B0BC-74571B01D5D4}"/>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Hasil demo graf yang telah dijalankan. Sumber: audit graf dan laporan rute.</a:t>
            </a:r>
          </a:p>
        </p:txBody>
      </p:sp>
      <p:sp>
        <p:nvSpPr>
          <p:cNvPr id="4" name="TextBox 3">
            <a:extLst>
              <a:ext uri="{FF2B5EF4-FFF2-40B4-BE49-F238E27FC236}">
                <a16:creationId xmlns:a16="http://schemas.microsoft.com/office/drawing/2014/main" id="{48E9B64F-9902-F6AE-C04E-FDE5A9F93908}"/>
              </a:ext>
            </a:extLst>
          </p:cNvPr>
          <p:cNvSpPr txBox="1"/>
          <p:nvPr/>
        </p:nvSpPr>
        <p:spPr>
          <a:xfrm>
            <a:off x="609600" y="1574800"/>
            <a:ext cx="10972800" cy="276999"/>
          </a:xfrm>
          <a:prstGeom prst="rect">
            <a:avLst/>
          </a:prstGeom>
          <a:noFill/>
        </p:spPr>
        <p:txBody>
          <a:bodyPr vert="horz" wrap="square" lIns="0" tIns="0" rIns="0" bIns="0" rtlCol="0">
            <a:noAutofit/>
          </a:bodyPr>
          <a:lstStyle/>
          <a:p>
            <a:pPr>
              <a:spcAft>
                <a:spcPts val="700"/>
              </a:spcAft>
            </a:pPr>
            <a:r>
              <a:rPr lang="en-ID" sz="2700" b="1">
                <a:solidFill>
                  <a:srgbClr val="007084"/>
                </a:solidFill>
                <a:latin typeface="Aptos" panose="020B0004020202020204" pitchFamily="34" charset="0"/>
              </a:rPr>
              <a:t>PASS: 27 node dan 409 rute, jumlah populasi konsisten</a:t>
            </a:r>
          </a:p>
        </p:txBody>
      </p:sp>
      <p:sp>
        <p:nvSpPr>
          <p:cNvPr id="5" name="TextBox 4">
            <a:extLst>
              <a:ext uri="{FF2B5EF4-FFF2-40B4-BE49-F238E27FC236}">
                <a16:creationId xmlns:a16="http://schemas.microsoft.com/office/drawing/2014/main" id="{983C25A4-3A32-6CCA-8A94-66257C00D34E}"/>
              </a:ext>
            </a:extLst>
          </p:cNvPr>
          <p:cNvSpPr txBox="1"/>
          <p:nvPr/>
        </p:nvSpPr>
        <p:spPr>
          <a:xfrm>
            <a:off x="609600" y="5524500"/>
            <a:ext cx="10972800" cy="276999"/>
          </a:xfrm>
          <a:prstGeom prst="rect">
            <a:avLst/>
          </a:prstGeom>
          <a:noFill/>
        </p:spPr>
        <p:txBody>
          <a:bodyPr vert="horz" wrap="square" lIns="0" tIns="0" rIns="0" bIns="0" rtlCol="0">
            <a:noAutofit/>
          </a:bodyPr>
          <a:lstStyle/>
          <a:p>
            <a:pPr>
              <a:spcAft>
                <a:spcPts val="700"/>
              </a:spcAft>
            </a:pPr>
            <a:r>
              <a:rPr lang="en-ID" sz="2100">
                <a:solidFill>
                  <a:srgbClr val="162338"/>
                </a:solidFill>
                <a:latin typeface="Aptos" panose="020B0004020202020204" pitchFamily="34" charset="0"/>
              </a:rPr>
              <a:t>Graf menggambarkan asal–tujuan, belum mencatat transit atau lokasi hub.</a:t>
            </a:r>
          </a:p>
        </p:txBody>
      </p:sp>
      <p:graphicFrame>
        <p:nvGraphicFramePr>
          <p:cNvPr id="6" name="Table 5">
            <a:extLst>
              <a:ext uri="{FF2B5EF4-FFF2-40B4-BE49-F238E27FC236}">
                <a16:creationId xmlns:a16="http://schemas.microsoft.com/office/drawing/2014/main" id="{1BCA83C1-097D-017F-A9EA-0202D59D9132}"/>
              </a:ext>
            </a:extLst>
          </p:cNvPr>
          <p:cNvGraphicFramePr>
            <a:graphicFrameLocks noGrp="1"/>
          </p:cNvGraphicFramePr>
          <p:nvPr>
            <p:extLst>
              <p:ext uri="{D42A27DB-BD31-4B8C-83A1-F6EECF244321}">
                <p14:modId xmlns:p14="http://schemas.microsoft.com/office/powerpoint/2010/main" val="241607346"/>
              </p:ext>
            </p:extLst>
          </p:nvPr>
        </p:nvGraphicFramePr>
        <p:xfrm>
          <a:off x="609600" y="2882900"/>
          <a:ext cx="10972800" cy="2146300"/>
        </p:xfrm>
        <a:graphic>
          <a:graphicData uri="http://schemas.openxmlformats.org/drawingml/2006/table">
            <a:tbl>
              <a:tblPr firstRow="1" bandRow="1">
                <a:tableStyleId>{5C22544A-7EE6-4342-B048-85BDC9FD1C3A}</a:tableStyleId>
              </a:tblPr>
              <a:tblGrid>
                <a:gridCol w="5207000">
                  <a:extLst>
                    <a:ext uri="{9D8B030D-6E8A-4147-A177-3AD203B41FA5}">
                      <a16:colId xmlns:a16="http://schemas.microsoft.com/office/drawing/2014/main" val="3674778831"/>
                    </a:ext>
                  </a:extLst>
                </a:gridCol>
                <a:gridCol w="2870200">
                  <a:extLst>
                    <a:ext uri="{9D8B030D-6E8A-4147-A177-3AD203B41FA5}">
                      <a16:colId xmlns:a16="http://schemas.microsoft.com/office/drawing/2014/main" val="1390265409"/>
                    </a:ext>
                  </a:extLst>
                </a:gridCol>
                <a:gridCol w="2895600">
                  <a:extLst>
                    <a:ext uri="{9D8B030D-6E8A-4147-A177-3AD203B41FA5}">
                      <a16:colId xmlns:a16="http://schemas.microsoft.com/office/drawing/2014/main" val="3462929697"/>
                    </a:ext>
                  </a:extLst>
                </a:gridCol>
              </a:tblGrid>
              <a:tr h="715433">
                <a:tc>
                  <a:txBody>
                    <a:bodyPr/>
                    <a:lstStyle/>
                    <a:p>
                      <a:r>
                        <a:rPr lang="en-ID" sz="2400" b="1">
                          <a:solidFill>
                            <a:srgbClr val="FFFFFF"/>
                          </a:solidFill>
                          <a:latin typeface="Aptos" panose="020B0004020202020204" pitchFamily="34" charset="0"/>
                        </a:rPr>
                        <a:t>Populasi / rute</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2400" b="1">
                          <a:solidFill>
                            <a:srgbClr val="FFFFFF"/>
                          </a:solidFill>
                          <a:latin typeface="Aptos" panose="020B0004020202020204" pitchFamily="34" charset="0"/>
                        </a:rPr>
                        <a:t>Order</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2400" b="1">
                          <a:solidFill>
                            <a:srgbClr val="FFFFFF"/>
                          </a:solidFill>
                          <a:latin typeface="Aptos" panose="020B0004020202020204" pitchFamily="34" charset="0"/>
                        </a:rPr>
                        <a:t>Delay</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extLst>
                  <a:ext uri="{0D108BD9-81ED-4DB2-BD59-A6C34878D82A}">
                    <a16:rowId xmlns:a16="http://schemas.microsoft.com/office/drawing/2014/main" val="3303600691"/>
                  </a:ext>
                </a:extLst>
              </a:tr>
              <a:tr h="715433">
                <a:tc>
                  <a:txBody>
                    <a:bodyPr/>
                    <a:lstStyle/>
                    <a:p>
                      <a:r>
                        <a:rPr lang="en-ID" sz="2400" b="0">
                          <a:solidFill>
                            <a:srgbClr val="162338"/>
                          </a:solidFill>
                          <a:latin typeface="Aptos" panose="020B0004020202020204" pitchFamily="34" charset="0"/>
                        </a:rPr>
                        <a:t>Nasional</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400" b="0">
                          <a:solidFill>
                            <a:srgbClr val="162338"/>
                          </a:solidFill>
                          <a:latin typeface="Aptos" panose="020B0004020202020204" pitchFamily="34" charset="0"/>
                        </a:rPr>
                        <a:t>96.470</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400" b="0">
                          <a:solidFill>
                            <a:srgbClr val="162338"/>
                          </a:solidFill>
                          <a:latin typeface="Aptos" panose="020B0004020202020204" pitchFamily="34" charset="0"/>
                        </a:rPr>
                        <a:t>8,11%</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1734257616"/>
                  </a:ext>
                </a:extLst>
              </a:tr>
              <a:tr h="715433">
                <a:tc>
                  <a:txBody>
                    <a:bodyPr/>
                    <a:lstStyle/>
                    <a:p>
                      <a:r>
                        <a:rPr lang="en-ID" sz="2400" b="0">
                          <a:solidFill>
                            <a:srgbClr val="162338"/>
                          </a:solidFill>
                          <a:latin typeface="Aptos" panose="020B0004020202020204" pitchFamily="34" charset="0"/>
                        </a:rPr>
                        <a:t>SP–RJ</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400" b="0">
                          <a:solidFill>
                            <a:srgbClr val="162338"/>
                          </a:solidFill>
                          <a:latin typeface="Aptos" panose="020B0004020202020204" pitchFamily="34" charset="0"/>
                        </a:rPr>
                        <a:t>8.158</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400" b="0">
                          <a:solidFill>
                            <a:srgbClr val="162338"/>
                          </a:solidFill>
                          <a:latin typeface="Aptos" panose="020B0004020202020204" pitchFamily="34" charset="0"/>
                        </a:rPr>
                        <a:t>15,49%</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616802314"/>
                  </a:ext>
                </a:extLst>
              </a:tr>
            </a:tbl>
          </a:graphicData>
        </a:graphic>
      </p:graphicFrame>
      <p:sp>
        <p:nvSpPr>
          <p:cNvPr id="7" name="TextBox 6">
            <a:extLst>
              <a:ext uri="{FF2B5EF4-FFF2-40B4-BE49-F238E27FC236}">
                <a16:creationId xmlns:a16="http://schemas.microsoft.com/office/drawing/2014/main" id="{5838E6E0-6044-177D-D924-685F5341086E}"/>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10 / 11</a:t>
            </a:r>
          </a:p>
        </p:txBody>
      </p:sp>
    </p:spTree>
    <p:extLst>
      <p:ext uri="{BB962C8B-B14F-4D97-AF65-F5344CB8AC3E}">
        <p14:creationId xmlns:p14="http://schemas.microsoft.com/office/powerpoint/2010/main" val="42933275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FF6422B-0E9F-6B9C-77DC-CE65EE38341A}"/>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en-ID" sz="3200" b="1">
                <a:solidFill>
                  <a:srgbClr val="162338"/>
                </a:solidFill>
                <a:latin typeface="Aptos" panose="020B0004020202020204" pitchFamily="34" charset="0"/>
              </a:rPr>
              <a:t>Ringkasan validasi dan langkah berikutnya</a:t>
            </a:r>
          </a:p>
        </p:txBody>
      </p:sp>
      <p:sp>
        <p:nvSpPr>
          <p:cNvPr id="3" name="TextBox 2">
            <a:extLst>
              <a:ext uri="{FF2B5EF4-FFF2-40B4-BE49-F238E27FC236}">
                <a16:creationId xmlns:a16="http://schemas.microsoft.com/office/drawing/2014/main" id="{2C03C8C6-1F47-DAE4-7FB9-24FAFB5259EA}"/>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Pemeriksaan atas hasil tersimpan, bukan eksekusi live pada saat presentasi.</a:t>
            </a:r>
          </a:p>
        </p:txBody>
      </p:sp>
      <p:sp>
        <p:nvSpPr>
          <p:cNvPr id="4" name="TextBox 3">
            <a:extLst>
              <a:ext uri="{FF2B5EF4-FFF2-40B4-BE49-F238E27FC236}">
                <a16:creationId xmlns:a16="http://schemas.microsoft.com/office/drawing/2014/main" id="{9C9E9609-55AC-EA23-0307-C36409142606}"/>
              </a:ext>
            </a:extLst>
          </p:cNvPr>
          <p:cNvSpPr txBox="1"/>
          <p:nvPr/>
        </p:nvSpPr>
        <p:spPr>
          <a:xfrm>
            <a:off x="609600" y="1574800"/>
            <a:ext cx="10972800" cy="276999"/>
          </a:xfrm>
          <a:prstGeom prst="rect">
            <a:avLst/>
          </a:prstGeom>
          <a:noFill/>
        </p:spPr>
        <p:txBody>
          <a:bodyPr vert="horz" wrap="square" lIns="0" tIns="0" rIns="0" bIns="0" rtlCol="0">
            <a:noAutofit/>
          </a:bodyPr>
          <a:lstStyle/>
          <a:p>
            <a:pPr>
              <a:spcAft>
                <a:spcPts val="700"/>
              </a:spcAft>
            </a:pPr>
            <a:r>
              <a:rPr lang="en-ID" sz="2600" b="1">
                <a:solidFill>
                  <a:srgbClr val="162338"/>
                </a:solidFill>
                <a:latin typeface="Aptos" panose="020B0004020202020204" pitchFamily="34" charset="0"/>
              </a:rPr>
              <a:t>Hasil pemeriksaan yang sudah dijalankan</a:t>
            </a:r>
          </a:p>
        </p:txBody>
      </p:sp>
      <p:sp>
        <p:nvSpPr>
          <p:cNvPr id="5" name="TextBox 4">
            <a:extLst>
              <a:ext uri="{FF2B5EF4-FFF2-40B4-BE49-F238E27FC236}">
                <a16:creationId xmlns:a16="http://schemas.microsoft.com/office/drawing/2014/main" id="{4449CC73-0BB9-B99C-269E-57A34E8019CC}"/>
              </a:ext>
            </a:extLst>
          </p:cNvPr>
          <p:cNvSpPr txBox="1"/>
          <p:nvPr/>
        </p:nvSpPr>
        <p:spPr>
          <a:xfrm>
            <a:off x="609600" y="5219700"/>
            <a:ext cx="10972800" cy="276999"/>
          </a:xfrm>
          <a:prstGeom prst="rect">
            <a:avLst/>
          </a:prstGeom>
          <a:noFill/>
        </p:spPr>
        <p:txBody>
          <a:bodyPr vert="horz" wrap="square" lIns="0" tIns="0" rIns="0" bIns="0" rtlCol="0">
            <a:noAutofit/>
          </a:bodyPr>
          <a:lstStyle/>
          <a:p>
            <a:pPr>
              <a:spcAft>
                <a:spcPts val="700"/>
              </a:spcAft>
            </a:pPr>
            <a:r>
              <a:rPr lang="en-ID" sz="2400">
                <a:solidFill>
                  <a:srgbClr val="162338"/>
                </a:solidFill>
                <a:latin typeface="Aptos" panose="020B0004020202020204" pitchFamily="34" charset="0"/>
              </a:rPr>
              <a:t>Berikutnya: validasi temporal, biaya intervensi, dan kebutuhan dashboard.</a:t>
            </a:r>
          </a:p>
        </p:txBody>
      </p:sp>
      <p:graphicFrame>
        <p:nvGraphicFramePr>
          <p:cNvPr id="6" name="Table 5">
            <a:extLst>
              <a:ext uri="{FF2B5EF4-FFF2-40B4-BE49-F238E27FC236}">
                <a16:creationId xmlns:a16="http://schemas.microsoft.com/office/drawing/2014/main" id="{0309FC1D-6DEF-C882-A2C1-78792AB8CD01}"/>
              </a:ext>
            </a:extLst>
          </p:cNvPr>
          <p:cNvGraphicFramePr>
            <a:graphicFrameLocks noGrp="1"/>
          </p:cNvGraphicFramePr>
          <p:nvPr>
            <p:extLst>
              <p:ext uri="{D42A27DB-BD31-4B8C-83A1-F6EECF244321}">
                <p14:modId xmlns:p14="http://schemas.microsoft.com/office/powerpoint/2010/main" val="677128963"/>
              </p:ext>
            </p:extLst>
          </p:nvPr>
        </p:nvGraphicFramePr>
        <p:xfrm>
          <a:off x="609600" y="2552700"/>
          <a:ext cx="10972800" cy="2298700"/>
        </p:xfrm>
        <a:graphic>
          <a:graphicData uri="http://schemas.openxmlformats.org/drawingml/2006/table">
            <a:tbl>
              <a:tblPr firstRow="1" bandRow="1">
                <a:tableStyleId>{5C22544A-7EE6-4342-B048-85BDC9FD1C3A}</a:tableStyleId>
              </a:tblPr>
              <a:tblGrid>
                <a:gridCol w="2857500">
                  <a:extLst>
                    <a:ext uri="{9D8B030D-6E8A-4147-A177-3AD203B41FA5}">
                      <a16:colId xmlns:a16="http://schemas.microsoft.com/office/drawing/2014/main" val="3246972954"/>
                    </a:ext>
                  </a:extLst>
                </a:gridCol>
                <a:gridCol w="1714500">
                  <a:extLst>
                    <a:ext uri="{9D8B030D-6E8A-4147-A177-3AD203B41FA5}">
                      <a16:colId xmlns:a16="http://schemas.microsoft.com/office/drawing/2014/main" val="3354547185"/>
                    </a:ext>
                  </a:extLst>
                </a:gridCol>
                <a:gridCol w="6400800">
                  <a:extLst>
                    <a:ext uri="{9D8B030D-6E8A-4147-A177-3AD203B41FA5}">
                      <a16:colId xmlns:a16="http://schemas.microsoft.com/office/drawing/2014/main" val="3385650864"/>
                    </a:ext>
                  </a:extLst>
                </a:gridCol>
              </a:tblGrid>
              <a:tr h="574675">
                <a:tc>
                  <a:txBody>
                    <a:bodyPr/>
                    <a:lstStyle/>
                    <a:p>
                      <a:r>
                        <a:rPr lang="en-ID" sz="1900" b="1">
                          <a:solidFill>
                            <a:srgbClr val="FFFFFF"/>
                          </a:solidFill>
                          <a:latin typeface="Aptos" panose="020B0004020202020204" pitchFamily="34" charset="0"/>
                        </a:rPr>
                        <a:t>Pemeriksaan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1900" b="1">
                          <a:solidFill>
                            <a:srgbClr val="FFFFFF"/>
                          </a:solidFill>
                          <a:latin typeface="Aptos" panose="020B0004020202020204" pitchFamily="34" charset="0"/>
                        </a:rPr>
                        <a:t>Status</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1900" b="1">
                          <a:solidFill>
                            <a:srgbClr val="FFFFFF"/>
                          </a:solidFill>
                          <a:latin typeface="Aptos" panose="020B0004020202020204" pitchFamily="34" charset="0"/>
                        </a:rPr>
                        <a:t>Makna</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extLst>
                  <a:ext uri="{0D108BD9-81ED-4DB2-BD59-A6C34878D82A}">
                    <a16:rowId xmlns:a16="http://schemas.microsoft.com/office/drawing/2014/main" val="2609712774"/>
                  </a:ext>
                </a:extLst>
              </a:tr>
              <a:tr h="574675">
                <a:tc>
                  <a:txBody>
                    <a:bodyPr/>
                    <a:lstStyle/>
                    <a:p>
                      <a:r>
                        <a:rPr lang="en-ID" sz="1900" b="0">
                          <a:solidFill>
                            <a:srgbClr val="162338"/>
                          </a:solidFill>
                          <a:latin typeface="Aptos" panose="020B0004020202020204" pitchFamily="34" charset="0"/>
                        </a:rPr>
                        <a:t>Ingestion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900" b="0">
                          <a:solidFill>
                            <a:srgbClr val="162338"/>
                          </a:solidFill>
                          <a:latin typeface="Aptos" panose="020B0004020202020204" pitchFamily="34" charset="0"/>
                        </a:rPr>
                        <a:t>PASS</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900" b="0">
                          <a:solidFill>
                            <a:srgbClr val="162338"/>
                          </a:solidFill>
                          <a:latin typeface="Aptos" panose="020B0004020202020204" pitchFamily="34" charset="0"/>
                        </a:rPr>
                        <a:t>9 tabel dan ringkasan storage konsisten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4264673775"/>
                  </a:ext>
                </a:extLst>
              </a:tr>
              <a:tr h="574675">
                <a:tc>
                  <a:txBody>
                    <a:bodyPr/>
                    <a:lstStyle/>
                    <a:p>
                      <a:r>
                        <a:rPr lang="en-ID" sz="1900" b="0">
                          <a:solidFill>
                            <a:srgbClr val="162338"/>
                          </a:solidFill>
                          <a:latin typeface="Aptos" panose="020B0004020202020204" pitchFamily="34" charset="0"/>
                        </a:rPr>
                        <a:t>Model</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900" b="0">
                          <a:solidFill>
                            <a:srgbClr val="162338"/>
                          </a:solidFill>
                          <a:latin typeface="Aptos" panose="020B0004020202020204" pitchFamily="34" charset="0"/>
                        </a:rPr>
                        <a:t>PASS</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900" b="0">
                          <a:solidFill>
                            <a:srgbClr val="162338"/>
                          </a:solidFill>
                          <a:latin typeface="Aptos" panose="020B0004020202020204" pitchFamily="34" charset="0"/>
                        </a:rPr>
                        <a:t>Pemilihan dan metrik test konsisten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1856436771"/>
                  </a:ext>
                </a:extLst>
              </a:tr>
              <a:tr h="574675">
                <a:tc>
                  <a:txBody>
                    <a:bodyPr/>
                    <a:lstStyle/>
                    <a:p>
                      <a:r>
                        <a:rPr lang="en-ID" sz="1900" b="0">
                          <a:solidFill>
                            <a:srgbClr val="162338"/>
                          </a:solidFill>
                          <a:latin typeface="Aptos" panose="020B0004020202020204" pitchFamily="34" charset="0"/>
                        </a:rPr>
                        <a:t>Graf</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900" b="0">
                          <a:solidFill>
                            <a:srgbClr val="162338"/>
                          </a:solidFill>
                          <a:latin typeface="Aptos" panose="020B0004020202020204" pitchFamily="34" charset="0"/>
                        </a:rPr>
                        <a:t>PASS</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900" b="0">
                          <a:solidFill>
                            <a:srgbClr val="162338"/>
                          </a:solidFill>
                          <a:latin typeface="Aptos" panose="020B0004020202020204" pitchFamily="34" charset="0"/>
                        </a:rPr>
                        <a:t>Populasi dan persentase rute konsisten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1856783026"/>
                  </a:ext>
                </a:extLst>
              </a:tr>
            </a:tbl>
          </a:graphicData>
        </a:graphic>
      </p:graphicFrame>
      <p:sp>
        <p:nvSpPr>
          <p:cNvPr id="7" name="TextBox 6">
            <a:extLst>
              <a:ext uri="{FF2B5EF4-FFF2-40B4-BE49-F238E27FC236}">
                <a16:creationId xmlns:a16="http://schemas.microsoft.com/office/drawing/2014/main" id="{DFD5155E-D06D-7A9F-98A7-0AF292BAC1DA}"/>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11 / 11</a:t>
            </a:r>
          </a:p>
        </p:txBody>
      </p:sp>
    </p:spTree>
    <p:extLst>
      <p:ext uri="{BB962C8B-B14F-4D97-AF65-F5344CB8AC3E}">
        <p14:creationId xmlns:p14="http://schemas.microsoft.com/office/powerpoint/2010/main" val="32609267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2548</Words>
  <Application>Microsoft Office PowerPoint</Application>
  <PresentationFormat>Widescreen</PresentationFormat>
  <Paragraphs>302</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Yanlis Alim Sang Putra Lase</dc:creator>
  <cp:lastModifiedBy>Yanlis Alim Sang Putra Lase</cp:lastModifiedBy>
  <cp:revision>2</cp:revision>
  <dcterms:created xsi:type="dcterms:W3CDTF">2026-09-28T10:06:42Z</dcterms:created>
  <dcterms:modified xsi:type="dcterms:W3CDTF">2026-09-29T03:49:58Z</dcterms:modified>
</cp:coreProperties>
</file>