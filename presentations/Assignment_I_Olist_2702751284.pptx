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2F992-228E-4AE6-90B3-F87C58039635}" type="datetimeFigureOut">
              <a:rPr lang="en-ID" smtClean="0"/>
              <a:t>28/09/2026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8BF255-5BBF-4ABD-92A9-EEA6D8F4A0F9}" type="slidenum">
              <a:rPr lang="en-ID" smtClean="0"/>
              <a:t>‹#›</a:t>
            </a:fld>
            <a:endParaRPr lang="en-ID"/>
          </a:p>
        </p:txBody>
      </p:sp>
    </p:spTree>
    <p:extLst>
      <p:ext uri="{BB962C8B-B14F-4D97-AF65-F5344CB8AC3E}">
        <p14:creationId xmlns:p14="http://schemas.microsoft.com/office/powerpoint/2010/main" val="3633145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Analitik keterlambatan pengiriman Olist (00:00–00:20)</a:t>
            </a:r>
          </a:p>
          <a:p>
            <a:endParaRPr lang="en-ID"/>
          </a:p>
          <a:p>
            <a:r>
              <a:rPr lang="en-ID"/>
              <a:t>NARASI</a:t>
            </a:r>
          </a:p>
          <a:p>
            <a:r>
              <a:rPr lang="en-ID"/>
              <a:t>“Saya membahas rancangan analitik untuk keterlambatan pengiriman pada dataset historis Olist 2016–2018. Saya menjelaskan masalah dan keputusan rancangan, lalu menunjukkan pemeriksaan hasil proyek langsung di VS Code setelah presentasi.”</a:t>
            </a:r>
          </a:p>
          <a:p>
            <a:endParaRPr lang="en-ID"/>
          </a:p>
          <a:p>
            <a:endParaRPr lang="en-ID"/>
          </a:p>
        </p:txBody>
      </p:sp>
      <p:sp>
        <p:nvSpPr>
          <p:cNvPr id="4" name="Slide Number Placeholder 3"/>
          <p:cNvSpPr>
            <a:spLocks noGrp="1"/>
          </p:cNvSpPr>
          <p:nvPr>
            <p:ph type="sldNum" sz="quarter" idx="5"/>
          </p:nvPr>
        </p:nvSpPr>
        <p:spPr/>
        <p:txBody>
          <a:bodyPr/>
          <a:lstStyle/>
          <a:p>
            <a:fld id="{8B8BF255-5BBF-4ABD-92A9-EEA6D8F4A0F9}" type="slidenum">
              <a:rPr lang="en-ID" smtClean="0"/>
              <a:t>1</a:t>
            </a:fld>
            <a:endParaRPr lang="en-ID"/>
          </a:p>
        </p:txBody>
      </p:sp>
    </p:spTree>
    <p:extLst>
      <p:ext uri="{BB962C8B-B14F-4D97-AF65-F5344CB8AC3E}">
        <p14:creationId xmlns:p14="http://schemas.microsoft.com/office/powerpoint/2010/main" val="3816806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Masalah pengiriman dan pengguna hasil (00:20–01:15)</a:t>
            </a:r>
          </a:p>
          <a:p>
            <a:endParaRPr lang="en-ID"/>
          </a:p>
          <a:p>
            <a:r>
              <a:rPr lang="en-ID"/>
              <a:t>NARASI</a:t>
            </a:r>
          </a:p>
          <a:p>
            <a:r>
              <a:rPr lang="en-ID"/>
              <a:t>“Label terlambat membandingkan timestamp penerimaan dengan estimasi. Delapan order delivered tidak mempunyai tanggal label yang valid sehingga dikeluarkan. Perbedaan review dihitung per order yang mempunyai review, bukan seluruh order. Hubungan ini merupakan asosiasi. Tujuannya mendukung investigasi keterlambatan dan peninjauan order berisiko. Dampak penurunan keterlambatan harus diukur setelah intervensi pada populasi sebanding.”</a:t>
            </a:r>
          </a:p>
          <a:p>
            <a:endParaRPr lang="en-ID"/>
          </a:p>
          <a:p>
            <a:r>
              <a:rPr lang="en-ID"/>
              <a:t>Catatan sumber: laporan Bab 1; feature_preparation_audit.json, graph_preparation_audit.json, notebook 02 untuk agregasi review.</a:t>
            </a:r>
          </a:p>
        </p:txBody>
      </p:sp>
      <p:sp>
        <p:nvSpPr>
          <p:cNvPr id="4" name="Slide Number Placeholder 3"/>
          <p:cNvSpPr>
            <a:spLocks noGrp="1"/>
          </p:cNvSpPr>
          <p:nvPr>
            <p:ph type="sldNum" sz="quarter" idx="5"/>
          </p:nvPr>
        </p:nvSpPr>
        <p:spPr/>
        <p:txBody>
          <a:bodyPr/>
          <a:lstStyle/>
          <a:p>
            <a:fld id="{8B8BF255-5BBF-4ABD-92A9-EEA6D8F4A0F9}" type="slidenum">
              <a:rPr lang="en-ID" smtClean="0"/>
              <a:t>2</a:t>
            </a:fld>
            <a:endParaRPr lang="en-ID"/>
          </a:p>
        </p:txBody>
      </p:sp>
    </p:spTree>
    <p:extLst>
      <p:ext uri="{BB962C8B-B14F-4D97-AF65-F5344CB8AC3E}">
        <p14:creationId xmlns:p14="http://schemas.microsoft.com/office/powerpoint/2010/main" val="2963869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Konteks pasar dan kebutuhan bisnis (01:15–02:05)</a:t>
            </a:r>
          </a:p>
          <a:p>
            <a:endParaRPr lang="en-ID"/>
          </a:p>
          <a:p>
            <a:r>
              <a:rPr lang="en-ID"/>
              <a:t>NARASI</a:t>
            </a:r>
          </a:p>
          <a:p>
            <a:r>
              <a:rPr lang="en-ID"/>
              <a:t>“Survei DHL mencakup 29.000 pembeli online dan 5.800 bisnis di 29 negara. Dua puluh persen pembeli menyatakan pengiriman lebih cepat dapat mendorong penyelesaian pembelian. OECD membahas peran ulasan dan rating dalam kepercayaan platform. Sumber ini menjelaskan relevansi masalah, sementara prioritas operasional tetap memakai data Olist. Preferensi kecepatan berbeda dari terlambat terhadap estimasi. Studi ini belum mengukur penghematan biaya ataupun menetapkan target penurunan numerik.”</a:t>
            </a:r>
          </a:p>
          <a:p>
            <a:endParaRPr lang="en-ID"/>
          </a:p>
          <a:p>
            <a:r>
              <a:rPr lang="en-ID"/>
              <a:t>Catatan sumber untuk speaker notes: [DHL Group, 2 Juni 2026](https://group.dhl.com/en/media-relations/press-releases/2026/dhl-ecommerce-trends-report-2026-old-rules-do-not-apply-in-the-age-of-ai.html), [OECD, Unpacking E-commerce, 2019](https://doi.org/10.1787/23561431-en). Parafrase, jangan kutip panjang.</a:t>
            </a:r>
          </a:p>
        </p:txBody>
      </p:sp>
      <p:sp>
        <p:nvSpPr>
          <p:cNvPr id="4" name="Slide Number Placeholder 3"/>
          <p:cNvSpPr>
            <a:spLocks noGrp="1"/>
          </p:cNvSpPr>
          <p:nvPr>
            <p:ph type="sldNum" sz="quarter" idx="5"/>
          </p:nvPr>
        </p:nvSpPr>
        <p:spPr/>
        <p:txBody>
          <a:bodyPr/>
          <a:lstStyle/>
          <a:p>
            <a:fld id="{8B8BF255-5BBF-4ABD-92A9-EEA6D8F4A0F9}" type="slidenum">
              <a:rPr lang="en-ID" smtClean="0"/>
              <a:t>3</a:t>
            </a:fld>
            <a:endParaRPr lang="en-ID"/>
          </a:p>
        </p:txBody>
      </p:sp>
    </p:spTree>
    <p:extLst>
      <p:ext uri="{BB962C8B-B14F-4D97-AF65-F5344CB8AC3E}">
        <p14:creationId xmlns:p14="http://schemas.microsoft.com/office/powerpoint/2010/main" val="1672378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Pipeline dan status implementasi (02:05–03:10)</a:t>
            </a:r>
          </a:p>
          <a:p>
            <a:endParaRPr lang="en-ID"/>
          </a:p>
          <a:p>
            <a:r>
              <a:rPr lang="en-ID"/>
              <a:t>NARASI</a:t>
            </a:r>
          </a:p>
          <a:p>
            <a:r>
              <a:rPr lang="en-ID"/>
              <a:t>“Notebook 01 memvalidasi sembilan tabel dan menulis Parquet. Notebook 02 mengagregasi detail menjadi fitur per order sebelum join. Notebook 03 membentuk jaringan state asal seller dan tujuan customer. Semua berjalan lokal di Windows. Spark memakai local[4] pada satu mesin. NetworkX merupakan library graf dalam memori. Rancangan warehouse belum menjadi server SQL, dan audit JSON atau teks review belum menjadi document store. Saya menunda server tambahan sampai kebutuhan akses bersama dan kueri persisten benar-benar diuji.”</a:t>
            </a:r>
          </a:p>
          <a:p>
            <a:endParaRPr lang="en-ID"/>
          </a:p>
          <a:p>
            <a:r>
              <a:rPr lang="en-ID"/>
              <a:t>Catatan sumber: laporan Bab 2 dan 4; notebooks/README.md. Hindari menyebut simulasi empat database atau produksi cluster.</a:t>
            </a:r>
          </a:p>
        </p:txBody>
      </p:sp>
      <p:sp>
        <p:nvSpPr>
          <p:cNvPr id="4" name="Slide Number Placeholder 3"/>
          <p:cNvSpPr>
            <a:spLocks noGrp="1"/>
          </p:cNvSpPr>
          <p:nvPr>
            <p:ph type="sldNum" sz="quarter" idx="5"/>
          </p:nvPr>
        </p:nvSpPr>
        <p:spPr/>
        <p:txBody>
          <a:bodyPr/>
          <a:lstStyle/>
          <a:p>
            <a:fld id="{8B8BF255-5BBF-4ABD-92A9-EEA6D8F4A0F9}" type="slidenum">
              <a:rPr lang="en-ID" smtClean="0"/>
              <a:t>4</a:t>
            </a:fld>
            <a:endParaRPr lang="en-ID"/>
          </a:p>
        </p:txBody>
      </p:sp>
    </p:spTree>
    <p:extLst>
      <p:ext uri="{BB962C8B-B14F-4D97-AF65-F5344CB8AC3E}">
        <p14:creationId xmlns:p14="http://schemas.microsoft.com/office/powerpoint/2010/main" val="2242942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Kualitas data dan organisasi tabel (03:10–04:10)</a:t>
            </a:r>
          </a:p>
          <a:p>
            <a:endParaRPr lang="en-ID"/>
          </a:p>
          <a:p>
            <a:r>
              <a:rPr lang="en-ID"/>
              <a:t>NARASI</a:t>
            </a:r>
          </a:p>
          <a:p>
            <a:r>
              <a:rPr lang="en-ID"/>
              <a:t>“Validasi mencakup parsing, typed cast, ID dan key yang sesuai, jumlah baris, null profile, serta pemeriksaan hasil setelah penyalinan. Teks review yang kosong dan duplikasi geolocation diprofilkan. Keduanya tidak dihapus diam-diam dari raw. Item dan payment diagregasi sebelum join agar nilai tidak berulang. Uji ilustrasi join mentah memperlihatkan inflasi price 4,48 persen. Penghematan Parquet adalah ukuran storage, belum merupakan bukti kueri lebih cepat.”</a:t>
            </a:r>
          </a:p>
          <a:p>
            <a:endParaRPr lang="en-ID"/>
          </a:p>
          <a:p>
            <a:r>
              <a:rPr lang="en-ID"/>
              <a:t>Catatan sumber: ingestion_summary_report.csv, ingestion_null_profile.json, feature_preparation_audit.json, laporan bagian grain dan bukti join.</a:t>
            </a:r>
          </a:p>
        </p:txBody>
      </p:sp>
      <p:sp>
        <p:nvSpPr>
          <p:cNvPr id="4" name="Slide Number Placeholder 3"/>
          <p:cNvSpPr>
            <a:spLocks noGrp="1"/>
          </p:cNvSpPr>
          <p:nvPr>
            <p:ph type="sldNum" sz="quarter" idx="5"/>
          </p:nvPr>
        </p:nvSpPr>
        <p:spPr/>
        <p:txBody>
          <a:bodyPr/>
          <a:lstStyle/>
          <a:p>
            <a:fld id="{8B8BF255-5BBF-4ABD-92A9-EEA6D8F4A0F9}" type="slidenum">
              <a:rPr lang="en-ID" smtClean="0"/>
              <a:t>5</a:t>
            </a:fld>
            <a:endParaRPr lang="en-ID"/>
          </a:p>
        </p:txBody>
      </p:sp>
    </p:spTree>
    <p:extLst>
      <p:ext uri="{BB962C8B-B14F-4D97-AF65-F5344CB8AC3E}">
        <p14:creationId xmlns:p14="http://schemas.microsoft.com/office/powerpoint/2010/main" val="3051229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Tata kelola dan perlindungan data (04:10–05:00)</a:t>
            </a:r>
          </a:p>
          <a:p>
            <a:endParaRPr lang="en-ID"/>
          </a:p>
          <a:p>
            <a:r>
              <a:rPr lang="en-ID"/>
              <a:t>NARASI</a:t>
            </a:r>
          </a:p>
          <a:p>
            <a:r>
              <a:rPr lang="en-ID"/>
              <a:t>“ID yang terlihat seperti hash tidak otomatis menjamin anonimitas, dan teks ulasan dapat memuat data pribadi. Prototipe mempertahankan sumber untuk audit, sementara Git mengecualikan raw, runtime, credential dan output besar. Untuk penggunaan operasional saya merancang akses sesuai peran, kebijakan retensi dan pemeriksaan informasi pribadi pada teks. Kontrol rancangan ini perlu implementasi dan pengujian. Saya tidak mengklaim prototipe sudah membuktikan kepatuhan hukum.”</a:t>
            </a:r>
          </a:p>
          <a:p>
            <a:endParaRPr lang="en-ID"/>
          </a:p>
          <a:p>
            <a:r>
              <a:rPr lang="en-ID"/>
              <a:t>Catatan sumber: laporan Bab 3 dan referensi hukum yang tercantum di sana. Jangan menampilkan ulasan pelanggan atau data pribadi selama demo.</a:t>
            </a:r>
          </a:p>
        </p:txBody>
      </p:sp>
      <p:sp>
        <p:nvSpPr>
          <p:cNvPr id="4" name="Slide Number Placeholder 3"/>
          <p:cNvSpPr>
            <a:spLocks noGrp="1"/>
          </p:cNvSpPr>
          <p:nvPr>
            <p:ph type="sldNum" sz="quarter" idx="5"/>
          </p:nvPr>
        </p:nvSpPr>
        <p:spPr/>
        <p:txBody>
          <a:bodyPr/>
          <a:lstStyle/>
          <a:p>
            <a:fld id="{8B8BF255-5BBF-4ABD-92A9-EEA6D8F4A0F9}" type="slidenum">
              <a:rPr lang="en-ID" smtClean="0"/>
              <a:t>6</a:t>
            </a:fld>
            <a:endParaRPr lang="en-ID"/>
          </a:p>
        </p:txBody>
      </p:sp>
    </p:spTree>
    <p:extLst>
      <p:ext uri="{BB962C8B-B14F-4D97-AF65-F5344CB8AC3E}">
        <p14:creationId xmlns:p14="http://schemas.microsoft.com/office/powerpoint/2010/main" val="3172637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Justifikasi teknologi dan grain (05:00–06:00)</a:t>
            </a:r>
          </a:p>
          <a:p>
            <a:endParaRPr lang="en-ID"/>
          </a:p>
          <a:p>
            <a:r>
              <a:rPr lang="en-ID"/>
              <a:t>NARASI</a:t>
            </a:r>
          </a:p>
          <a:p>
            <a:r>
              <a:rPr lang="en-ID"/>
              <a:t>“Pada sekitar 120 MiB, pandas masih layak. Saya memilih Spark untuk pembelajaran dan integrasi pipeline dalam satu framework, bukan karena VS Code mengharuskan Spark. VS Code mendukung keduanya. Fitur memakai satu baris per order karena label berada pada order. Rancangan dimensional memisahkan grain item, pengiriman, payment dan review. Pemindahan ke cluster memerlukan pengujian konfigurasi, keamanan dan performa. Pertumbuhan data bukan alasan untuk menyebut kode sudah production-ready.”</a:t>
            </a:r>
          </a:p>
          <a:p>
            <a:endParaRPr lang="en-ID"/>
          </a:p>
          <a:p>
            <a:r>
              <a:rPr lang="en-ID"/>
              <a:t>Catatan sumber: laporan bagian 2.4 dan docs/presentation-notes.md.</a:t>
            </a:r>
          </a:p>
        </p:txBody>
      </p:sp>
      <p:sp>
        <p:nvSpPr>
          <p:cNvPr id="4" name="Slide Number Placeholder 3"/>
          <p:cNvSpPr>
            <a:spLocks noGrp="1"/>
          </p:cNvSpPr>
          <p:nvPr>
            <p:ph type="sldNum" sz="quarter" idx="5"/>
          </p:nvPr>
        </p:nvSpPr>
        <p:spPr/>
        <p:txBody>
          <a:bodyPr/>
          <a:lstStyle/>
          <a:p>
            <a:fld id="{8B8BF255-5BBF-4ABD-92A9-EEA6D8F4A0F9}" type="slidenum">
              <a:rPr lang="en-ID" smtClean="0"/>
              <a:t>7</a:t>
            </a:fld>
            <a:endParaRPr lang="en-ID"/>
          </a:p>
        </p:txBody>
      </p:sp>
    </p:spTree>
    <p:extLst>
      <p:ext uri="{BB962C8B-B14F-4D97-AF65-F5344CB8AC3E}">
        <p14:creationId xmlns:p14="http://schemas.microsoft.com/office/powerpoint/2010/main" val="258982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Eksplorasi awal model dan graf (06:00–06:40)</a:t>
            </a:r>
          </a:p>
          <a:p>
            <a:endParaRPr lang="en-ID"/>
          </a:p>
          <a:p>
            <a:r>
              <a:rPr lang="en-ID"/>
              <a:t>NARASI</a:t>
            </a:r>
          </a:p>
          <a:p>
            <a:r>
              <a:rPr lang="en-ID"/>
              <a:t>“Model membandingkan RF tanpa bobot dan bobot kelas. Validation F1 memilih kandidat tanpa bobot dengan ambang lebih rendah. Pada test yang sama, recall meningkat dari nol pada ambang 0,5 menjadi 45,41 persen, tetapi precision hanya 14,47 persen. Graf memprioritaskan investigasi SP–RJ. Graf asal–tujuan ini tidak mencatat transit dan belum menentukan lokasi hub. Validasi temporal dan biaya intervensi menjadi pekerjaan selanjutnya.”</a:t>
            </a:r>
          </a:p>
          <a:p>
            <a:endParaRPr lang="en-ID"/>
          </a:p>
          <a:p>
            <a:r>
              <a:rPr lang="en-ID"/>
              <a:t>Catatan sumber: model_validation_comparison.csv, model_evaluation_report.json, seller_customer_routes_report.csv. Jangan menyebut recall training atau validation sebagai hasil test.</a:t>
            </a:r>
          </a:p>
        </p:txBody>
      </p:sp>
      <p:sp>
        <p:nvSpPr>
          <p:cNvPr id="4" name="Slide Number Placeholder 3"/>
          <p:cNvSpPr>
            <a:spLocks noGrp="1"/>
          </p:cNvSpPr>
          <p:nvPr>
            <p:ph type="sldNum" sz="quarter" idx="5"/>
          </p:nvPr>
        </p:nvSpPr>
        <p:spPr/>
        <p:txBody>
          <a:bodyPr/>
          <a:lstStyle/>
          <a:p>
            <a:fld id="{8B8BF255-5BBF-4ABD-92A9-EEA6D8F4A0F9}" type="slidenum">
              <a:rPr lang="en-ID" smtClean="0"/>
              <a:t>8</a:t>
            </a:fld>
            <a:endParaRPr lang="en-ID"/>
          </a:p>
        </p:txBody>
      </p:sp>
    </p:spTree>
    <p:extLst>
      <p:ext uri="{BB962C8B-B14F-4D97-AF65-F5344CB8AC3E}">
        <p14:creationId xmlns:p14="http://schemas.microsoft.com/office/powerpoint/2010/main" val="3359030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TARGET WAKTU: Pemeriksaan hasil di VS Code (06:40–07:00)</a:t>
            </a:r>
          </a:p>
          <a:p>
            <a:endParaRPr lang="en-ID"/>
          </a:p>
          <a:p>
            <a:r>
              <a:rPr lang="en-ID"/>
              <a:t>NARASI</a:t>
            </a:r>
          </a:p>
          <a:p>
            <a:r>
              <a:rPr lang="en-ID"/>
              <a:t>“Saya beralih ke VS Code dalam video yang sama. Script read-only akan memeriksa konsistensi file hasil yang sudah tersimpan. Demo ini menjalankan kode pemeriksaan secara langsung. Saya tidak menjalankan ulang ingestion atau pelatihan penuh dalam dua menit.”</a:t>
            </a:r>
          </a:p>
          <a:p>
            <a:endParaRPr lang="en-ID"/>
          </a:p>
          <a:p>
            <a:endParaRPr lang="en-ID"/>
          </a:p>
          <a:p>
            <a:endParaRPr lang="en-ID"/>
          </a:p>
          <a:p>
            <a:r>
              <a:rPr lang="en-ID"/>
              <a:t>## Live demo (07:00–09:00)
Siapkan terminal PowerShell di root proyek, font cukup besar, Explorer dan notebook 02 sudah terbuka. Tutup akun, notifikasi, tab pribadi, serta panel yang menampilkan credential. Pertahankan rekaman saat berpindah dari slide ke VS Code.
Perintah berikut memakai interpreter lokal dan hanya membaca ringkasan agregat. Bisa memakai `python` atau `py -3.11` pada laptop lain karena script tidak membutuhkan package tambahan.
**07:00–07:30:** jalankan:
```powershell
.\.venv\Scripts\python.exe demo_assignment1.py --section ingestion
```
Jelaskan sembilan tabel, status round-trip yang tercatat, serta total penghematan storage. Script memeriksa konsistensi ringkasan, bukan membaca ulang seluruh Parquet. Untuk memperlihatkan logika aslinya, tunjukkan bagian validasi notebook 01 tanpa Run All.
**07:30–08:20:** jalankan:
```powershell
.\.venv\Scripts\python.exe demo_assignment1.py --section model
```
Tunjukkan bahwa kandidat/threshold cocok dengan tabel validation, jumlah split cocok, CSV/JSON confusion matrix sama, dan metrik dihitung ulang dari confusion matrix. Jelaskan kompromi recall dengan false positive. Buka bagian pemilihan ambang notebook 02 bila waktunya cukup. Pemeriksaan ringkasan tidak membuktikan tidak ada overlap order atau leakage; notebook/manifest mendukung pemeriksaan tersebut.
**08:20–09:00:** jalankan:
```powershell
.\.venv\Scripts\python.exe demo_assignment1.py --section graph
```
Tunjukkan jumlah rute/node, konsistensi total order dan SP–RJ. Script menjumlahkan rute dan memeriksa persentase terhadap count. Model memiliki 96.455 order eligible, sedangkan graf dan label valid 96.470; selisih 15 merupakan eksklusi predictor, bukan error populasi. Tutup dengan batas graf asal–tujuan.
Jika butuh satu perintah untuk latihan/pemeriksaan:
```powershell
.\.venv\Scripts\python.exe demo_assignment1.py
```
Jika muncul FAIL, hentikan persiapan rekaman dan periksa sumber ketidaksesuaian. Jangan mengubah angka agar demo lolos. Script tidak mengganti hasil notebook. Jalankan ulang pipeline hanya bila hasil memang belum mutakhir, kemudian latihan ulang.
## Penutup (09:00–09:15)
“Studi ini menyiapkan baseline, pipeline bertipe dan rancangan solusi yang dapat diaudit. Langkah berikutnya adalah validasi temporal dan penilaian biaya intervensi sebelum tindakan operasional, serta pengembangan dashboard berdasarkan kebutuhan pengguna. Terima kasih.”
</a:t>
            </a:r>
          </a:p>
        </p:txBody>
      </p:sp>
      <p:sp>
        <p:nvSpPr>
          <p:cNvPr id="4" name="Slide Number Placeholder 3"/>
          <p:cNvSpPr>
            <a:spLocks noGrp="1"/>
          </p:cNvSpPr>
          <p:nvPr>
            <p:ph type="sldNum" sz="quarter" idx="5"/>
          </p:nvPr>
        </p:nvSpPr>
        <p:spPr/>
        <p:txBody>
          <a:bodyPr/>
          <a:lstStyle/>
          <a:p>
            <a:fld id="{8B8BF255-5BBF-4ABD-92A9-EEA6D8F4A0F9}" type="slidenum">
              <a:rPr lang="en-ID" smtClean="0"/>
              <a:t>9</a:t>
            </a:fld>
            <a:endParaRPr lang="en-ID"/>
          </a:p>
        </p:txBody>
      </p:sp>
    </p:spTree>
    <p:extLst>
      <p:ext uri="{BB962C8B-B14F-4D97-AF65-F5344CB8AC3E}">
        <p14:creationId xmlns:p14="http://schemas.microsoft.com/office/powerpoint/2010/main" val="3372316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BF816-A026-8C81-F2D7-AE88F55CB6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57966BE0-6083-4712-A3AB-FAB66AB6F9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56528251-F194-F7A5-26BD-C4E28587410F}"/>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5" name="Footer Placeholder 4">
            <a:extLst>
              <a:ext uri="{FF2B5EF4-FFF2-40B4-BE49-F238E27FC236}">
                <a16:creationId xmlns:a16="http://schemas.microsoft.com/office/drawing/2014/main" id="{422F4F2A-9D5E-904E-0CC1-9093A412005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4D21AC1-08A7-1B96-0766-D3F9123050CD}"/>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1409957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44D22-9265-5608-21EF-48F14251B7F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95D08E2B-F482-3592-FA2F-751E6C1A2F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407364C-4A99-CF4D-6DA9-FC3901E0ED1E}"/>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5" name="Footer Placeholder 4">
            <a:extLst>
              <a:ext uri="{FF2B5EF4-FFF2-40B4-BE49-F238E27FC236}">
                <a16:creationId xmlns:a16="http://schemas.microsoft.com/office/drawing/2014/main" id="{4B5E3051-6AA1-4DE1-BA6A-2F851A2F81F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DA079E1-1F98-A1F9-95D3-AC0CFB8331C5}"/>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2203954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3CF22-BB68-5EE5-1AA2-80F28BEBDE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4BD99A73-2806-F339-C99A-362F8FC4AC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209D56-5DF6-3C3D-3130-662C566DBF3B}"/>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5" name="Footer Placeholder 4">
            <a:extLst>
              <a:ext uri="{FF2B5EF4-FFF2-40B4-BE49-F238E27FC236}">
                <a16:creationId xmlns:a16="http://schemas.microsoft.com/office/drawing/2014/main" id="{12A891D3-EB7B-5540-9470-CA3ACE60FFC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61E3927-862C-965F-ECF5-255EF6A5E8BF}"/>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236254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3C8D-FC48-8221-9BBC-700CF4DD6EC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83C03441-C27D-6586-9EB8-D6A0F18363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9093A311-9A69-5095-C22E-1DB4484B2C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27EC6651-03B5-1352-92BE-CBD9D59FB323}"/>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6" name="Footer Placeholder 5">
            <a:extLst>
              <a:ext uri="{FF2B5EF4-FFF2-40B4-BE49-F238E27FC236}">
                <a16:creationId xmlns:a16="http://schemas.microsoft.com/office/drawing/2014/main" id="{016141B0-E7A0-07E4-7BBE-B82E17E5DAE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0091AE7-1E70-AA34-FF17-6E06E8345540}"/>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3278553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3987F-DDC1-9C03-6912-5BE1DA0E9818}"/>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914854FD-0BF2-4283-BF71-89C2234A0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A9389B-F5FD-D8B3-58F6-E9D855DBB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4B1FC745-F8EC-E2DD-837E-70E59003FB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23E185-0356-B201-5C71-09742743CC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14B505EF-9714-C805-21FC-11CC73644A12}"/>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8" name="Footer Placeholder 7">
            <a:extLst>
              <a:ext uri="{FF2B5EF4-FFF2-40B4-BE49-F238E27FC236}">
                <a16:creationId xmlns:a16="http://schemas.microsoft.com/office/drawing/2014/main" id="{5463DD18-3D6D-D6FF-DC2A-E3A80DF8DB98}"/>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CB29257F-14D6-60F1-0194-B1787029B48F}"/>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2197183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F7EB-67AD-4E8A-AA53-F7EEDEC79601}"/>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18E3D594-5BCD-273C-EDBA-0D9DADF72F63}"/>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4" name="Footer Placeholder 3">
            <a:extLst>
              <a:ext uri="{FF2B5EF4-FFF2-40B4-BE49-F238E27FC236}">
                <a16:creationId xmlns:a16="http://schemas.microsoft.com/office/drawing/2014/main" id="{7DAEB8F9-3AFE-0521-80C4-EF02033C260F}"/>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9C58E2B-F10B-9D46-4C51-A1ED18FA9081}"/>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2696119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B48220-C427-D630-49A9-C833E7F52E34}"/>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3" name="Footer Placeholder 2">
            <a:extLst>
              <a:ext uri="{FF2B5EF4-FFF2-40B4-BE49-F238E27FC236}">
                <a16:creationId xmlns:a16="http://schemas.microsoft.com/office/drawing/2014/main" id="{81A5E30C-6F0D-F1CB-319F-F31905CF488C}"/>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28750590-7EF7-4650-289E-E9F2A6119F70}"/>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3435140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AB0A-5BDF-3B38-227F-A0180C6B1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F0C9FBEE-6B7F-D083-2370-81CA6F5D93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0A722B6F-7428-552B-2BCC-945AA6821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12336-6207-B3E8-0C3F-D76B841499E0}"/>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6" name="Footer Placeholder 5">
            <a:extLst>
              <a:ext uri="{FF2B5EF4-FFF2-40B4-BE49-F238E27FC236}">
                <a16:creationId xmlns:a16="http://schemas.microsoft.com/office/drawing/2014/main" id="{F419BAA5-6E1E-A4FA-66DA-48FAEC80DED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E24A54D-57DF-2F8B-FB62-AED2308BA550}"/>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4053104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57537-8348-B33D-D28A-0237916739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D101D773-5BB9-61A3-F6A6-51A1DF6B5B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D7DF706E-5193-9B76-27B0-2D761645B6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B0F65-2275-DDB1-F878-3CB6520A27DD}"/>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6" name="Footer Placeholder 5">
            <a:extLst>
              <a:ext uri="{FF2B5EF4-FFF2-40B4-BE49-F238E27FC236}">
                <a16:creationId xmlns:a16="http://schemas.microsoft.com/office/drawing/2014/main" id="{00B367BD-1B62-B8CE-748F-1E73AD1BA61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F74BD498-3757-C306-1835-AE0937D0434C}"/>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1525491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0724-3687-A6BE-C696-A1D9297D8943}"/>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FF131EA0-D378-C2D8-A226-F95D746B63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D5612FD-8F21-4AA0-DD40-4B2580C18D24}"/>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5" name="Footer Placeholder 4">
            <a:extLst>
              <a:ext uri="{FF2B5EF4-FFF2-40B4-BE49-F238E27FC236}">
                <a16:creationId xmlns:a16="http://schemas.microsoft.com/office/drawing/2014/main" id="{1772176F-6F48-C1FE-99B7-CD218DAC016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E821E1C-185E-E695-A125-B81DAB1F3739}"/>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267928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E8AA09-6E73-99C3-C8A9-F0E42B0E4A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34EEE759-8BD9-5F9C-313B-090F5AA125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D230B8A-C91C-17F9-3358-C06CB4A0E46C}"/>
              </a:ext>
            </a:extLst>
          </p:cNvPr>
          <p:cNvSpPr>
            <a:spLocks noGrp="1"/>
          </p:cNvSpPr>
          <p:nvPr>
            <p:ph type="dt" sz="half" idx="10"/>
          </p:nvPr>
        </p:nvSpPr>
        <p:spPr/>
        <p:txBody>
          <a:bodyPr/>
          <a:lstStyle/>
          <a:p>
            <a:fld id="{B76DA5E1-D8D6-45DB-8E5E-C931D7747B70}" type="datetimeFigureOut">
              <a:rPr lang="en-ID" smtClean="0"/>
              <a:t>28/09/2026</a:t>
            </a:fld>
            <a:endParaRPr lang="en-ID"/>
          </a:p>
        </p:txBody>
      </p:sp>
      <p:sp>
        <p:nvSpPr>
          <p:cNvPr id="5" name="Footer Placeholder 4">
            <a:extLst>
              <a:ext uri="{FF2B5EF4-FFF2-40B4-BE49-F238E27FC236}">
                <a16:creationId xmlns:a16="http://schemas.microsoft.com/office/drawing/2014/main" id="{AB26EB0E-20A4-57C9-8430-DA310AD9C1C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9D58B54-2363-22A8-88F8-20574D850EA8}"/>
              </a:ext>
            </a:extLst>
          </p:cNvPr>
          <p:cNvSpPr>
            <a:spLocks noGrp="1"/>
          </p:cNvSpPr>
          <p:nvPr>
            <p:ph type="sldNum" sz="quarter" idx="12"/>
          </p:nvPr>
        </p:nvSpPr>
        <p:spPr/>
        <p:txBody>
          <a:bodyPr/>
          <a:lstStyle/>
          <a:p>
            <a:fld id="{7BAEB462-1804-4C42-BB14-B5F44F633B89}" type="slidenum">
              <a:rPr lang="en-ID" smtClean="0"/>
              <a:t>‹#›</a:t>
            </a:fld>
            <a:endParaRPr lang="en-ID"/>
          </a:p>
        </p:txBody>
      </p:sp>
    </p:spTree>
    <p:extLst>
      <p:ext uri="{BB962C8B-B14F-4D97-AF65-F5344CB8AC3E}">
        <p14:creationId xmlns:p14="http://schemas.microsoft.com/office/powerpoint/2010/main" val="952449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C6F44C-13F3-29D9-4888-A267CB17A4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C9BBBA3-D135-65A4-A6D2-442240B30A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39B2ED7-D8BE-059B-A4DC-D94AFDC063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6DA5E1-D8D6-45DB-8E5E-C931D7747B70}" type="datetimeFigureOut">
              <a:rPr lang="en-ID" smtClean="0"/>
              <a:t>28/09/2026</a:t>
            </a:fld>
            <a:endParaRPr lang="en-ID"/>
          </a:p>
        </p:txBody>
      </p:sp>
      <p:sp>
        <p:nvSpPr>
          <p:cNvPr id="5" name="Footer Placeholder 4">
            <a:extLst>
              <a:ext uri="{FF2B5EF4-FFF2-40B4-BE49-F238E27FC236}">
                <a16:creationId xmlns:a16="http://schemas.microsoft.com/office/drawing/2014/main" id="{3B1387E4-B242-55F7-CCDD-B4735738D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2CFE2DDD-74D6-7438-3E5C-36F7745299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AEB462-1804-4C42-BB14-B5F44F633B89}" type="slidenum">
              <a:rPr lang="en-ID" smtClean="0"/>
              <a:t>‹#›</a:t>
            </a:fld>
            <a:endParaRPr lang="en-ID"/>
          </a:p>
        </p:txBody>
      </p:sp>
    </p:spTree>
    <p:extLst>
      <p:ext uri="{BB962C8B-B14F-4D97-AF65-F5344CB8AC3E}">
        <p14:creationId xmlns:p14="http://schemas.microsoft.com/office/powerpoint/2010/main" val="1901345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338"/>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3DE9DD-377C-BB6E-B8F4-0C748B718C82}"/>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BEC9D6"/>
                </a:solidFill>
                <a:latin typeface="Aptos" panose="020B0004020202020204" pitchFamily="34" charset="0"/>
              </a:rPr>
              <a:t>COMP8035041   Assignment I</a:t>
            </a:r>
          </a:p>
        </p:txBody>
      </p:sp>
      <p:sp>
        <p:nvSpPr>
          <p:cNvPr id="4" name="TextBox 3">
            <a:extLst>
              <a:ext uri="{FF2B5EF4-FFF2-40B4-BE49-F238E27FC236}">
                <a16:creationId xmlns:a16="http://schemas.microsoft.com/office/drawing/2014/main" id="{3C920429-7A5A-9C9D-E020-501D6370596E}"/>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BEC9D6"/>
                </a:solidFill>
                <a:latin typeface="Aptos" panose="020B0004020202020204" pitchFamily="34" charset="0"/>
              </a:rPr>
              <a:t>01 / 09</a:t>
            </a:r>
          </a:p>
        </p:txBody>
      </p:sp>
      <p:sp>
        <p:nvSpPr>
          <p:cNvPr id="5" name="TextBox 4">
            <a:extLst>
              <a:ext uri="{FF2B5EF4-FFF2-40B4-BE49-F238E27FC236}">
                <a16:creationId xmlns:a16="http://schemas.microsoft.com/office/drawing/2014/main" id="{6C563C97-EACC-7D2A-8413-A471233289A0}"/>
              </a:ext>
            </a:extLst>
          </p:cNvPr>
          <p:cNvSpPr txBox="1"/>
          <p:nvPr/>
        </p:nvSpPr>
        <p:spPr>
          <a:xfrm>
            <a:off x="736600" y="1574800"/>
            <a:ext cx="10718800" cy="276999"/>
          </a:xfrm>
          <a:prstGeom prst="rect">
            <a:avLst/>
          </a:prstGeom>
          <a:noFill/>
        </p:spPr>
        <p:txBody>
          <a:bodyPr vert="horz" wrap="square" lIns="0" tIns="0" rIns="0" bIns="0" rtlCol="0">
            <a:noAutofit/>
          </a:bodyPr>
          <a:lstStyle/>
          <a:p>
            <a:pPr>
              <a:spcAft>
                <a:spcPts val="700"/>
              </a:spcAft>
            </a:pPr>
            <a:r>
              <a:rPr lang="en-ID" sz="4600" b="1">
                <a:solidFill>
                  <a:srgbClr val="FFFFFF"/>
                </a:solidFill>
                <a:latin typeface="Aptos" panose="020B0004020202020204" pitchFamily="34" charset="0"/>
              </a:rPr>
              <a:t>Analitik keterlambatan</a:t>
            </a:r>
          </a:p>
          <a:p>
            <a:pPr>
              <a:spcAft>
                <a:spcPts val="700"/>
              </a:spcAft>
            </a:pPr>
            <a:r>
              <a:rPr lang="en-ID" sz="4600" b="1">
                <a:solidFill>
                  <a:srgbClr val="FFFFFF"/>
                </a:solidFill>
                <a:latin typeface="Aptos" panose="020B0004020202020204" pitchFamily="34" charset="0"/>
              </a:rPr>
              <a:t>pengiriman Olist</a:t>
            </a:r>
          </a:p>
        </p:txBody>
      </p:sp>
      <p:sp>
        <p:nvSpPr>
          <p:cNvPr id="6" name="TextBox 5">
            <a:extLst>
              <a:ext uri="{FF2B5EF4-FFF2-40B4-BE49-F238E27FC236}">
                <a16:creationId xmlns:a16="http://schemas.microsoft.com/office/drawing/2014/main" id="{100624A3-B792-D9EC-B901-652BB9CED887}"/>
              </a:ext>
            </a:extLst>
          </p:cNvPr>
          <p:cNvSpPr txBox="1"/>
          <p:nvPr/>
        </p:nvSpPr>
        <p:spPr>
          <a:xfrm>
            <a:off x="762000" y="3911600"/>
            <a:ext cx="10414000" cy="276999"/>
          </a:xfrm>
          <a:prstGeom prst="rect">
            <a:avLst/>
          </a:prstGeom>
          <a:noFill/>
        </p:spPr>
        <p:txBody>
          <a:bodyPr vert="horz" wrap="square" lIns="0" tIns="0" rIns="0" bIns="0" rtlCol="0">
            <a:noAutofit/>
          </a:bodyPr>
          <a:lstStyle/>
          <a:p>
            <a:pPr>
              <a:spcAft>
                <a:spcPts val="700"/>
              </a:spcAft>
            </a:pPr>
            <a:r>
              <a:rPr lang="it-IT" sz="2400">
                <a:solidFill>
                  <a:srgbClr val="B8E5DD"/>
                </a:solidFill>
                <a:latin typeface="Aptos" panose="020B0004020202020204" pitchFamily="34" charset="0"/>
              </a:rPr>
              <a:t>Rancangan solusi dan persiapan data</a:t>
            </a:r>
            <a:endParaRPr lang="en-ID" sz="2400">
              <a:solidFill>
                <a:srgbClr val="B8E5DD"/>
              </a:solidFill>
              <a:latin typeface="Aptos" panose="020B0004020202020204" pitchFamily="34" charset="0"/>
            </a:endParaRPr>
          </a:p>
        </p:txBody>
      </p:sp>
      <p:sp>
        <p:nvSpPr>
          <p:cNvPr id="7" name="TextBox 6">
            <a:extLst>
              <a:ext uri="{FF2B5EF4-FFF2-40B4-BE49-F238E27FC236}">
                <a16:creationId xmlns:a16="http://schemas.microsoft.com/office/drawing/2014/main" id="{1543448E-EC64-5E81-FDCC-8029777001B0}"/>
              </a:ext>
            </a:extLst>
          </p:cNvPr>
          <p:cNvSpPr txBox="1"/>
          <p:nvPr/>
        </p:nvSpPr>
        <p:spPr>
          <a:xfrm>
            <a:off x="762000" y="4953000"/>
            <a:ext cx="10414000" cy="276999"/>
          </a:xfrm>
          <a:prstGeom prst="rect">
            <a:avLst/>
          </a:prstGeom>
          <a:noFill/>
        </p:spPr>
        <p:txBody>
          <a:bodyPr vert="horz" wrap="square" lIns="0" tIns="0" rIns="0" bIns="0" rtlCol="0">
            <a:noAutofit/>
          </a:bodyPr>
          <a:lstStyle/>
          <a:p>
            <a:pPr>
              <a:spcAft>
                <a:spcPts val="700"/>
              </a:spcAft>
            </a:pPr>
            <a:r>
              <a:rPr lang="en-ID" sz="2000">
                <a:solidFill>
                  <a:srgbClr val="FFFFFF"/>
                </a:solidFill>
                <a:latin typeface="Aptos" panose="020B0004020202020204" pitchFamily="34" charset="0"/>
              </a:rPr>
              <a:t>Yanlis Alim Sang Putra Lase</a:t>
            </a:r>
          </a:p>
          <a:p>
            <a:pPr>
              <a:spcAft>
                <a:spcPts val="700"/>
              </a:spcAft>
            </a:pPr>
            <a:r>
              <a:rPr lang="en-ID" sz="2000">
                <a:solidFill>
                  <a:srgbClr val="FFFFFF"/>
                </a:solidFill>
                <a:latin typeface="Aptos" panose="020B0004020202020204" pitchFamily="34" charset="0"/>
              </a:rPr>
              <a:t>2702751284</a:t>
            </a:r>
          </a:p>
        </p:txBody>
      </p:sp>
    </p:spTree>
    <p:extLst>
      <p:ext uri="{BB962C8B-B14F-4D97-AF65-F5344CB8AC3E}">
        <p14:creationId xmlns:p14="http://schemas.microsoft.com/office/powerpoint/2010/main" val="259568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7123C3-944D-B013-5447-5F31B504DBC5}"/>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panose="020B0004020202020204" pitchFamily="34" charset="0"/>
              </a:rPr>
              <a:t>Masalah pengiriman dan pengguna hasil</a:t>
            </a:r>
          </a:p>
        </p:txBody>
      </p:sp>
      <p:sp>
        <p:nvSpPr>
          <p:cNvPr id="3" name="TextBox 2">
            <a:extLst>
              <a:ext uri="{FF2B5EF4-FFF2-40B4-BE49-F238E27FC236}">
                <a16:creationId xmlns:a16="http://schemas.microsoft.com/office/drawing/2014/main" id="{253213B4-418D-085B-1A0B-A431F053799B}"/>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US" sz="1100">
                <a:solidFill>
                  <a:srgbClr val="5D6675"/>
                </a:solidFill>
                <a:latin typeface="Aptos" panose="020B0004020202020204" pitchFamily="34" charset="0"/>
              </a:rPr>
              <a:t>Sumber: laporan Bab 1 dan audit notebook 02/03. Review per order dengan review.</a:t>
            </a:r>
            <a:endParaRPr lang="en-ID" sz="1100">
              <a:solidFill>
                <a:srgbClr val="5D6675"/>
              </a:solidFill>
              <a:latin typeface="Aptos" panose="020B0004020202020204" pitchFamily="34" charset="0"/>
            </a:endParaRPr>
          </a:p>
        </p:txBody>
      </p:sp>
      <p:sp>
        <p:nvSpPr>
          <p:cNvPr id="4" name="TextBox 3">
            <a:extLst>
              <a:ext uri="{FF2B5EF4-FFF2-40B4-BE49-F238E27FC236}">
                <a16:creationId xmlns:a16="http://schemas.microsoft.com/office/drawing/2014/main" id="{99DC5866-0CC0-DAFD-DFB2-0C7CDD291F62}"/>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02 / 09</a:t>
            </a:r>
          </a:p>
        </p:txBody>
      </p:sp>
      <p:sp>
        <p:nvSpPr>
          <p:cNvPr id="5" name="TextBox 4">
            <a:extLst>
              <a:ext uri="{FF2B5EF4-FFF2-40B4-BE49-F238E27FC236}">
                <a16:creationId xmlns:a16="http://schemas.microsoft.com/office/drawing/2014/main" id="{5398848A-5900-FACA-7C9B-B4D480370227}"/>
              </a:ext>
            </a:extLst>
          </p:cNvPr>
          <p:cNvSpPr txBox="1"/>
          <p:nvPr/>
        </p:nvSpPr>
        <p:spPr>
          <a:xfrm>
            <a:off x="609600" y="1536700"/>
            <a:ext cx="3683000" cy="276999"/>
          </a:xfrm>
          <a:prstGeom prst="rect">
            <a:avLst/>
          </a:prstGeom>
          <a:noFill/>
        </p:spPr>
        <p:txBody>
          <a:bodyPr vert="horz" wrap="square" lIns="0" tIns="0" rIns="0" bIns="0" rtlCol="0">
            <a:noAutofit/>
          </a:bodyPr>
          <a:lstStyle/>
          <a:p>
            <a:pPr>
              <a:spcAft>
                <a:spcPts val="700"/>
              </a:spcAft>
            </a:pPr>
            <a:r>
              <a:rPr lang="en-ID" sz="5600" b="1">
                <a:solidFill>
                  <a:srgbClr val="007084"/>
                </a:solidFill>
                <a:latin typeface="Aptos" panose="020B0004020202020204" pitchFamily="34" charset="0"/>
              </a:rPr>
              <a:t>8,11%</a:t>
            </a:r>
          </a:p>
        </p:txBody>
      </p:sp>
      <p:sp>
        <p:nvSpPr>
          <p:cNvPr id="6" name="TextBox 5">
            <a:extLst>
              <a:ext uri="{FF2B5EF4-FFF2-40B4-BE49-F238E27FC236}">
                <a16:creationId xmlns:a16="http://schemas.microsoft.com/office/drawing/2014/main" id="{AE856BFA-D657-5276-2EFF-E9E3183CDEEC}"/>
              </a:ext>
            </a:extLst>
          </p:cNvPr>
          <p:cNvSpPr txBox="1"/>
          <p:nvPr/>
        </p:nvSpPr>
        <p:spPr>
          <a:xfrm>
            <a:off x="635000" y="2603500"/>
            <a:ext cx="4165600" cy="276999"/>
          </a:xfrm>
          <a:prstGeom prst="rect">
            <a:avLst/>
          </a:prstGeom>
          <a:noFill/>
        </p:spPr>
        <p:txBody>
          <a:bodyPr vert="horz" wrap="square" lIns="0" tIns="0" rIns="0" bIns="0" rtlCol="0">
            <a:noAutofit/>
          </a:bodyPr>
          <a:lstStyle/>
          <a:p>
            <a:pPr>
              <a:spcAft>
                <a:spcPts val="700"/>
              </a:spcAft>
            </a:pPr>
            <a:r>
              <a:rPr lang="en-ID" sz="2000">
                <a:solidFill>
                  <a:srgbClr val="162338"/>
                </a:solidFill>
                <a:latin typeface="Aptos" panose="020B0004020202020204" pitchFamily="34" charset="0"/>
              </a:rPr>
              <a:t>7.826 dari 96.470 order</a:t>
            </a:r>
          </a:p>
          <a:p>
            <a:pPr>
              <a:spcAft>
                <a:spcPts val="700"/>
              </a:spcAft>
            </a:pPr>
            <a:r>
              <a:rPr lang="en-ID" sz="2000">
                <a:solidFill>
                  <a:srgbClr val="162338"/>
                </a:solidFill>
                <a:latin typeface="Aptos" panose="020B0004020202020204" pitchFamily="34" charset="0"/>
              </a:rPr>
              <a:t>terlambat terhadap estimasi</a:t>
            </a:r>
          </a:p>
        </p:txBody>
      </p:sp>
      <p:graphicFrame>
        <p:nvGraphicFramePr>
          <p:cNvPr id="7" name="Table 6">
            <a:extLst>
              <a:ext uri="{FF2B5EF4-FFF2-40B4-BE49-F238E27FC236}">
                <a16:creationId xmlns:a16="http://schemas.microsoft.com/office/drawing/2014/main" id="{1439D92B-00F6-FB10-DEAC-96062B4C160D}"/>
              </a:ext>
            </a:extLst>
          </p:cNvPr>
          <p:cNvGraphicFramePr>
            <a:graphicFrameLocks noGrp="1"/>
          </p:cNvGraphicFramePr>
          <p:nvPr>
            <p:extLst>
              <p:ext uri="{D42A27DB-BD31-4B8C-83A1-F6EECF244321}">
                <p14:modId xmlns:p14="http://schemas.microsoft.com/office/powerpoint/2010/main" val="745092073"/>
              </p:ext>
            </p:extLst>
          </p:nvPr>
        </p:nvGraphicFramePr>
        <p:xfrm>
          <a:off x="5232400" y="1562100"/>
          <a:ext cx="6350000" cy="18415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475327497"/>
                    </a:ext>
                  </a:extLst>
                </a:gridCol>
                <a:gridCol w="2032000">
                  <a:extLst>
                    <a:ext uri="{9D8B030D-6E8A-4147-A177-3AD203B41FA5}">
                      <a16:colId xmlns:a16="http://schemas.microsoft.com/office/drawing/2014/main" val="4145896726"/>
                    </a:ext>
                  </a:extLst>
                </a:gridCol>
              </a:tblGrid>
              <a:tr h="613833">
                <a:tc>
                  <a:txBody>
                    <a:bodyPr/>
                    <a:lstStyle/>
                    <a:p>
                      <a:r>
                        <a:rPr lang="en-ID" sz="2000" b="1">
                          <a:solidFill>
                            <a:srgbClr val="FFFFFF"/>
                          </a:solidFill>
                          <a:latin typeface="Aptos" panose="020B0004020202020204" pitchFamily="34" charset="0"/>
                        </a:rPr>
                        <a:t>Review rata-rata</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2000" b="1">
                          <a:solidFill>
                            <a:srgbClr val="FFFFFF"/>
                          </a:solidFill>
                          <a:latin typeface="Aptos" panose="020B0004020202020204" pitchFamily="34" charset="0"/>
                        </a:rPr>
                        <a:t>Skor</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3005183906"/>
                  </a:ext>
                </a:extLst>
              </a:tr>
              <a:tr h="613833">
                <a:tc>
                  <a:txBody>
                    <a:bodyPr/>
                    <a:lstStyle/>
                    <a:p>
                      <a:r>
                        <a:rPr lang="en-ID" sz="2000" b="0">
                          <a:solidFill>
                            <a:srgbClr val="162338"/>
                          </a:solidFill>
                          <a:latin typeface="Aptos" panose="020B0004020202020204" pitchFamily="34" charset="0"/>
                        </a:rPr>
                        <a:t>Tepat waktu</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4,2943</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2192575817"/>
                  </a:ext>
                </a:extLst>
              </a:tr>
              <a:tr h="613833">
                <a:tc>
                  <a:txBody>
                    <a:bodyPr/>
                    <a:lstStyle/>
                    <a:p>
                      <a:r>
                        <a:rPr lang="en-ID" sz="2000" b="0">
                          <a:solidFill>
                            <a:srgbClr val="162338"/>
                          </a:solidFill>
                          <a:latin typeface="Aptos" panose="020B0004020202020204" pitchFamily="34" charset="0"/>
                        </a:rPr>
                        <a:t>Terlambat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2,5665</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3591164721"/>
                  </a:ext>
                </a:extLst>
              </a:tr>
            </a:tbl>
          </a:graphicData>
        </a:graphic>
      </p:graphicFrame>
      <p:graphicFrame>
        <p:nvGraphicFramePr>
          <p:cNvPr id="8" name="Table 7">
            <a:extLst>
              <a:ext uri="{FF2B5EF4-FFF2-40B4-BE49-F238E27FC236}">
                <a16:creationId xmlns:a16="http://schemas.microsoft.com/office/drawing/2014/main" id="{A950E225-FEBA-FE1C-D8F0-D18ECC88B678}"/>
              </a:ext>
            </a:extLst>
          </p:cNvPr>
          <p:cNvGraphicFramePr>
            <a:graphicFrameLocks noGrp="1"/>
          </p:cNvGraphicFramePr>
          <p:nvPr>
            <p:extLst>
              <p:ext uri="{D42A27DB-BD31-4B8C-83A1-F6EECF244321}">
                <p14:modId xmlns:p14="http://schemas.microsoft.com/office/powerpoint/2010/main" val="2943046305"/>
              </p:ext>
            </p:extLst>
          </p:nvPr>
        </p:nvGraphicFramePr>
        <p:xfrm>
          <a:off x="609600" y="3810000"/>
          <a:ext cx="10972800" cy="1968500"/>
        </p:xfrm>
        <a:graphic>
          <a:graphicData uri="http://schemas.openxmlformats.org/drawingml/2006/table">
            <a:tbl>
              <a:tblPr firstRow="1" bandRow="1">
                <a:tableStyleId>{5C22544A-7EE6-4342-B048-85BDC9FD1C3A}</a:tableStyleId>
              </a:tblPr>
              <a:tblGrid>
                <a:gridCol w="3937000">
                  <a:extLst>
                    <a:ext uri="{9D8B030D-6E8A-4147-A177-3AD203B41FA5}">
                      <a16:colId xmlns:a16="http://schemas.microsoft.com/office/drawing/2014/main" val="2972990579"/>
                    </a:ext>
                  </a:extLst>
                </a:gridCol>
                <a:gridCol w="7035800">
                  <a:extLst>
                    <a:ext uri="{9D8B030D-6E8A-4147-A177-3AD203B41FA5}">
                      <a16:colId xmlns:a16="http://schemas.microsoft.com/office/drawing/2014/main" val="516437223"/>
                    </a:ext>
                  </a:extLst>
                </a:gridCol>
              </a:tblGrid>
              <a:tr h="492125">
                <a:tc>
                  <a:txBody>
                    <a:bodyPr/>
                    <a:lstStyle/>
                    <a:p>
                      <a:r>
                        <a:rPr lang="en-ID" sz="1800" b="1">
                          <a:solidFill>
                            <a:srgbClr val="FFFFFF"/>
                          </a:solidFill>
                          <a:latin typeface="Aptos" panose="020B0004020202020204" pitchFamily="34" charset="0"/>
                        </a:rPr>
                        <a:t>Pengguna</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800" b="1">
                          <a:solidFill>
                            <a:srgbClr val="FFFFFF"/>
                          </a:solidFill>
                          <a:latin typeface="Aptos" panose="020B0004020202020204" pitchFamily="34" charset="0"/>
                        </a:rPr>
                        <a:t>Keputusan yang didukung</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3211268452"/>
                  </a:ext>
                </a:extLst>
              </a:tr>
              <a:tr h="492125">
                <a:tc>
                  <a:txBody>
                    <a:bodyPr/>
                    <a:lstStyle/>
                    <a:p>
                      <a:r>
                        <a:rPr lang="en-ID" sz="1800" b="0">
                          <a:solidFill>
                            <a:srgbClr val="162338"/>
                          </a:solidFill>
                          <a:latin typeface="Aptos" panose="020B0004020202020204" pitchFamily="34" charset="0"/>
                        </a:rPr>
                        <a:t>Logistics</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800" b="0">
                          <a:solidFill>
                            <a:srgbClr val="162338"/>
                          </a:solidFill>
                          <a:latin typeface="Aptos" panose="020B0004020202020204" pitchFamily="34" charset="0"/>
                        </a:rPr>
                        <a:t>Investigasi rute pengiriman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994667586"/>
                  </a:ext>
                </a:extLst>
              </a:tr>
              <a:tr h="492125">
                <a:tc>
                  <a:txBody>
                    <a:bodyPr/>
                    <a:lstStyle/>
                    <a:p>
                      <a:r>
                        <a:rPr lang="en-ID" sz="1800" b="0">
                          <a:solidFill>
                            <a:srgbClr val="162338"/>
                          </a:solidFill>
                          <a:latin typeface="Aptos" panose="020B0004020202020204" pitchFamily="34" charset="0"/>
                        </a:rPr>
                        <a:t>Merchant Performance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800" b="0">
                          <a:solidFill>
                            <a:srgbClr val="162338"/>
                          </a:solidFill>
                          <a:latin typeface="Aptos" panose="020B0004020202020204" pitchFamily="34" charset="0"/>
                        </a:rPr>
                        <a:t>Peninjauan risiko order setelah approval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2629293383"/>
                  </a:ext>
                </a:extLst>
              </a:tr>
              <a:tr h="492125">
                <a:tc>
                  <a:txBody>
                    <a:bodyPr/>
                    <a:lstStyle/>
                    <a:p>
                      <a:r>
                        <a:rPr lang="en-ID" sz="1800" b="0">
                          <a:solidFill>
                            <a:srgbClr val="162338"/>
                          </a:solidFill>
                          <a:latin typeface="Aptos" panose="020B0004020202020204" pitchFamily="34" charset="0"/>
                        </a:rPr>
                        <a:t>Executive Management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800" b="0">
                          <a:solidFill>
                            <a:srgbClr val="162338"/>
                          </a:solidFill>
                          <a:latin typeface="Aptos" panose="020B0004020202020204" pitchFamily="34" charset="0"/>
                        </a:rPr>
                        <a:t>Pemantauan performa agregat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42749913"/>
                  </a:ext>
                </a:extLst>
              </a:tr>
            </a:tbl>
          </a:graphicData>
        </a:graphic>
      </p:graphicFrame>
      <p:sp>
        <p:nvSpPr>
          <p:cNvPr id="9" name="TextBox 8">
            <a:extLst>
              <a:ext uri="{FF2B5EF4-FFF2-40B4-BE49-F238E27FC236}">
                <a16:creationId xmlns:a16="http://schemas.microsoft.com/office/drawing/2014/main" id="{A7B35017-FFF3-4C45-FD6B-A84CE590760C}"/>
              </a:ext>
            </a:extLst>
          </p:cNvPr>
          <p:cNvSpPr txBox="1"/>
          <p:nvPr/>
        </p:nvSpPr>
        <p:spPr>
          <a:xfrm>
            <a:off x="609600" y="5930900"/>
            <a:ext cx="10972800" cy="276999"/>
          </a:xfrm>
          <a:prstGeom prst="rect">
            <a:avLst/>
          </a:prstGeom>
          <a:noFill/>
        </p:spPr>
        <p:txBody>
          <a:bodyPr vert="horz" wrap="square" lIns="0" tIns="0" rIns="0" bIns="0" rtlCol="0">
            <a:noAutofit/>
          </a:bodyPr>
          <a:lstStyle/>
          <a:p>
            <a:pPr>
              <a:spcAft>
                <a:spcPts val="700"/>
              </a:spcAft>
            </a:pPr>
            <a:r>
              <a:rPr lang="en-ID" sz="1500">
                <a:solidFill>
                  <a:srgbClr val="5D6675"/>
                </a:solidFill>
                <a:latin typeface="Aptos" panose="020B0004020202020204" pitchFamily="34" charset="0"/>
              </a:rPr>
              <a:t>Perbedaan review menunjukkan asosiasi. Dampak intervensi belum diukur.</a:t>
            </a:r>
          </a:p>
        </p:txBody>
      </p:sp>
    </p:spTree>
    <p:extLst>
      <p:ext uri="{BB962C8B-B14F-4D97-AF65-F5344CB8AC3E}">
        <p14:creationId xmlns:p14="http://schemas.microsoft.com/office/powerpoint/2010/main" val="3678323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BAA391-8DF0-898C-4ADF-B0BFF81CDFA9}"/>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panose="020B0004020202020204" pitchFamily="34" charset="0"/>
              </a:rPr>
              <a:t>Konteks pasar dan kebutuhan bisnis</a:t>
            </a:r>
          </a:p>
        </p:txBody>
      </p:sp>
      <p:sp>
        <p:nvSpPr>
          <p:cNvPr id="3" name="TextBox 2">
            <a:extLst>
              <a:ext uri="{FF2B5EF4-FFF2-40B4-BE49-F238E27FC236}">
                <a16:creationId xmlns:a16="http://schemas.microsoft.com/office/drawing/2014/main" id="{CF0A461E-BC07-9A8D-BEB0-71A99EFD723C}"/>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Sumber: DHL Group (2026), OECD (2019). Rincian dan tautan ada di speaker notes.</a:t>
            </a:r>
          </a:p>
        </p:txBody>
      </p:sp>
      <p:sp>
        <p:nvSpPr>
          <p:cNvPr id="4" name="TextBox 3">
            <a:extLst>
              <a:ext uri="{FF2B5EF4-FFF2-40B4-BE49-F238E27FC236}">
                <a16:creationId xmlns:a16="http://schemas.microsoft.com/office/drawing/2014/main" id="{EA82D686-62CE-C2A6-5CB0-4DC0DB0254C6}"/>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03 / 09</a:t>
            </a:r>
          </a:p>
        </p:txBody>
      </p:sp>
      <p:sp>
        <p:nvSpPr>
          <p:cNvPr id="5" name="TextBox 4">
            <a:extLst>
              <a:ext uri="{FF2B5EF4-FFF2-40B4-BE49-F238E27FC236}">
                <a16:creationId xmlns:a16="http://schemas.microsoft.com/office/drawing/2014/main" id="{B8FAEBC5-C84F-5A36-A483-0C033A14041E}"/>
              </a:ext>
            </a:extLst>
          </p:cNvPr>
          <p:cNvSpPr txBox="1"/>
          <p:nvPr/>
        </p:nvSpPr>
        <p:spPr>
          <a:xfrm>
            <a:off x="609600" y="1701800"/>
            <a:ext cx="4191000" cy="276999"/>
          </a:xfrm>
          <a:prstGeom prst="rect">
            <a:avLst/>
          </a:prstGeom>
          <a:noFill/>
        </p:spPr>
        <p:txBody>
          <a:bodyPr vert="horz" wrap="square" lIns="0" tIns="0" rIns="0" bIns="0" rtlCol="0">
            <a:noAutofit/>
          </a:bodyPr>
          <a:lstStyle/>
          <a:p>
            <a:pPr>
              <a:spcAft>
                <a:spcPts val="700"/>
              </a:spcAft>
            </a:pPr>
            <a:r>
              <a:rPr lang="en-ID" sz="6400" b="1">
                <a:solidFill>
                  <a:srgbClr val="007084"/>
                </a:solidFill>
                <a:latin typeface="Aptos" panose="020B0004020202020204" pitchFamily="34" charset="0"/>
              </a:rPr>
              <a:t>20%</a:t>
            </a:r>
          </a:p>
        </p:txBody>
      </p:sp>
      <p:sp>
        <p:nvSpPr>
          <p:cNvPr id="6" name="TextBox 5">
            <a:extLst>
              <a:ext uri="{FF2B5EF4-FFF2-40B4-BE49-F238E27FC236}">
                <a16:creationId xmlns:a16="http://schemas.microsoft.com/office/drawing/2014/main" id="{905111F6-9099-690C-C68C-C3E4979D813C}"/>
              </a:ext>
            </a:extLst>
          </p:cNvPr>
          <p:cNvSpPr txBox="1"/>
          <p:nvPr/>
        </p:nvSpPr>
        <p:spPr>
          <a:xfrm>
            <a:off x="635000" y="3200400"/>
            <a:ext cx="4826000" cy="276999"/>
          </a:xfrm>
          <a:prstGeom prst="rect">
            <a:avLst/>
          </a:prstGeom>
          <a:noFill/>
        </p:spPr>
        <p:txBody>
          <a:bodyPr vert="horz" wrap="square" lIns="0" tIns="0" rIns="0" bIns="0" rtlCol="0">
            <a:noAutofit/>
          </a:bodyPr>
          <a:lstStyle/>
          <a:p>
            <a:pPr>
              <a:spcAft>
                <a:spcPts val="700"/>
              </a:spcAft>
            </a:pPr>
            <a:r>
              <a:rPr lang="en-ID" sz="2100">
                <a:solidFill>
                  <a:srgbClr val="162338"/>
                </a:solidFill>
                <a:latin typeface="Aptos" panose="020B0004020202020204" pitchFamily="34" charset="0"/>
              </a:rPr>
              <a:t>pembeli dalam survei DHL menyatakan</a:t>
            </a:r>
          </a:p>
          <a:p>
            <a:pPr>
              <a:spcAft>
                <a:spcPts val="700"/>
              </a:spcAft>
            </a:pPr>
            <a:r>
              <a:rPr lang="en-ID" sz="2100">
                <a:solidFill>
                  <a:srgbClr val="162338"/>
                </a:solidFill>
                <a:latin typeface="Aptos" panose="020B0004020202020204" pitchFamily="34" charset="0"/>
              </a:rPr>
              <a:t>pengiriman lebih cepat dapat</a:t>
            </a:r>
          </a:p>
          <a:p>
            <a:pPr>
              <a:spcAft>
                <a:spcPts val="700"/>
              </a:spcAft>
            </a:pPr>
            <a:r>
              <a:rPr lang="en-ID" sz="2100">
                <a:solidFill>
                  <a:srgbClr val="162338"/>
                </a:solidFill>
                <a:latin typeface="Aptos" panose="020B0004020202020204" pitchFamily="34" charset="0"/>
              </a:rPr>
              <a:t>mendorong penyelesaian pembelian</a:t>
            </a:r>
          </a:p>
        </p:txBody>
      </p:sp>
      <p:sp>
        <p:nvSpPr>
          <p:cNvPr id="7" name="TextBox 6">
            <a:extLst>
              <a:ext uri="{FF2B5EF4-FFF2-40B4-BE49-F238E27FC236}">
                <a16:creationId xmlns:a16="http://schemas.microsoft.com/office/drawing/2014/main" id="{F80E5507-3060-1C37-9912-9D4D84CF62EB}"/>
              </a:ext>
            </a:extLst>
          </p:cNvPr>
          <p:cNvSpPr txBox="1"/>
          <p:nvPr/>
        </p:nvSpPr>
        <p:spPr>
          <a:xfrm>
            <a:off x="5994400" y="1752600"/>
            <a:ext cx="5397500" cy="276999"/>
          </a:xfrm>
          <a:prstGeom prst="rect">
            <a:avLst/>
          </a:prstGeom>
          <a:noFill/>
        </p:spPr>
        <p:txBody>
          <a:bodyPr vert="horz" wrap="square" lIns="0" tIns="0" rIns="0" bIns="0" rtlCol="0">
            <a:noAutofit/>
          </a:bodyPr>
          <a:lstStyle/>
          <a:p>
            <a:pPr>
              <a:spcAft>
                <a:spcPts val="700"/>
              </a:spcAft>
            </a:pPr>
            <a:r>
              <a:rPr lang="en-ID" sz="2500" b="1">
                <a:solidFill>
                  <a:srgbClr val="162338"/>
                </a:solidFill>
                <a:latin typeface="Aptos" panose="020B0004020202020204" pitchFamily="34" charset="0"/>
              </a:rPr>
              <a:t>Kepercayaan pada platform</a:t>
            </a:r>
          </a:p>
        </p:txBody>
      </p:sp>
      <p:sp>
        <p:nvSpPr>
          <p:cNvPr id="8" name="TextBox 7">
            <a:extLst>
              <a:ext uri="{FF2B5EF4-FFF2-40B4-BE49-F238E27FC236}">
                <a16:creationId xmlns:a16="http://schemas.microsoft.com/office/drawing/2014/main" id="{B38965F2-1ABA-B7A4-3B2F-ABAFC7C3AF43}"/>
              </a:ext>
            </a:extLst>
          </p:cNvPr>
          <p:cNvSpPr txBox="1"/>
          <p:nvPr/>
        </p:nvSpPr>
        <p:spPr>
          <a:xfrm>
            <a:off x="5994400" y="2590800"/>
            <a:ext cx="5397500" cy="276999"/>
          </a:xfrm>
          <a:prstGeom prst="rect">
            <a:avLst/>
          </a:prstGeom>
          <a:noFill/>
        </p:spPr>
        <p:txBody>
          <a:bodyPr vert="horz" wrap="square" lIns="0" tIns="0" rIns="0" bIns="0" rtlCol="0">
            <a:noAutofit/>
          </a:bodyPr>
          <a:lstStyle/>
          <a:p>
            <a:pPr>
              <a:spcAft>
                <a:spcPts val="700"/>
              </a:spcAft>
            </a:pPr>
            <a:r>
              <a:rPr lang="en-ID" sz="2300">
                <a:solidFill>
                  <a:srgbClr val="162338"/>
                </a:solidFill>
                <a:latin typeface="Aptos" panose="020B0004020202020204" pitchFamily="34" charset="0"/>
              </a:rPr>
              <a:t>OECD menjelaskan peran ulasan dan rating dalam kepercayaan pengguna.</a:t>
            </a:r>
          </a:p>
        </p:txBody>
      </p:sp>
      <p:sp>
        <p:nvSpPr>
          <p:cNvPr id="9" name="TextBox 8">
            <a:extLst>
              <a:ext uri="{FF2B5EF4-FFF2-40B4-BE49-F238E27FC236}">
                <a16:creationId xmlns:a16="http://schemas.microsoft.com/office/drawing/2014/main" id="{F973A0D9-E78B-9F03-F851-09A1C1190544}"/>
              </a:ext>
            </a:extLst>
          </p:cNvPr>
          <p:cNvSpPr txBox="1"/>
          <p:nvPr/>
        </p:nvSpPr>
        <p:spPr>
          <a:xfrm>
            <a:off x="5994400" y="4203700"/>
            <a:ext cx="5397500" cy="276999"/>
          </a:xfrm>
          <a:prstGeom prst="rect">
            <a:avLst/>
          </a:prstGeom>
          <a:noFill/>
        </p:spPr>
        <p:txBody>
          <a:bodyPr vert="horz" wrap="square" lIns="0" tIns="0" rIns="0" bIns="0" rtlCol="0">
            <a:noAutofit/>
          </a:bodyPr>
          <a:lstStyle/>
          <a:p>
            <a:pPr>
              <a:spcAft>
                <a:spcPts val="700"/>
              </a:spcAft>
            </a:pPr>
            <a:r>
              <a:rPr lang="nn-NO" sz="2200">
                <a:solidFill>
                  <a:srgbClr val="162338"/>
                </a:solidFill>
                <a:latin typeface="Aptos" panose="020B0004020202020204" pitchFamily="34" charset="0"/>
              </a:rPr>
              <a:t>Prioritas studi</a:t>
            </a:r>
          </a:p>
          <a:p>
            <a:pPr>
              <a:spcAft>
                <a:spcPts val="700"/>
              </a:spcAft>
            </a:pPr>
            <a:r>
              <a:rPr lang="nn-NO" sz="2200">
                <a:solidFill>
                  <a:srgbClr val="162338"/>
                </a:solidFill>
                <a:latin typeface="Aptos" panose="020B0004020202020204" pitchFamily="34" charset="0"/>
              </a:rPr>
              <a:t>Investigasi delay dan peninjauan risiko berdasarkan baseline Olist.</a:t>
            </a:r>
            <a:endParaRPr lang="en-ID" sz="2200">
              <a:solidFill>
                <a:srgbClr val="162338"/>
              </a:solidFill>
              <a:latin typeface="Aptos" panose="020B0004020202020204" pitchFamily="34" charset="0"/>
            </a:endParaRPr>
          </a:p>
        </p:txBody>
      </p:sp>
      <p:sp>
        <p:nvSpPr>
          <p:cNvPr id="10" name="TextBox 9">
            <a:extLst>
              <a:ext uri="{FF2B5EF4-FFF2-40B4-BE49-F238E27FC236}">
                <a16:creationId xmlns:a16="http://schemas.microsoft.com/office/drawing/2014/main" id="{92DB3D0C-9ECD-C3FF-4E8B-85EFE38E2CEC}"/>
              </a:ext>
            </a:extLst>
          </p:cNvPr>
          <p:cNvSpPr txBox="1"/>
          <p:nvPr/>
        </p:nvSpPr>
        <p:spPr>
          <a:xfrm>
            <a:off x="609600" y="5753100"/>
            <a:ext cx="10972800" cy="276999"/>
          </a:xfrm>
          <a:prstGeom prst="rect">
            <a:avLst/>
          </a:prstGeom>
          <a:noFill/>
        </p:spPr>
        <p:txBody>
          <a:bodyPr vert="horz" wrap="square" lIns="0" tIns="0" rIns="0" bIns="0" rtlCol="0">
            <a:noAutofit/>
          </a:bodyPr>
          <a:lstStyle/>
          <a:p>
            <a:pPr>
              <a:spcAft>
                <a:spcPts val="700"/>
              </a:spcAft>
            </a:pPr>
            <a:r>
              <a:rPr lang="en-ID">
                <a:solidFill>
                  <a:srgbClr val="5D6675"/>
                </a:solidFill>
                <a:latin typeface="Aptos" panose="020B0004020202020204" pitchFamily="34" charset="0"/>
              </a:rPr>
              <a:t>Konteks global berbeda dari data Olist 2016–2018.</a:t>
            </a:r>
          </a:p>
        </p:txBody>
      </p:sp>
    </p:spTree>
    <p:extLst>
      <p:ext uri="{BB962C8B-B14F-4D97-AF65-F5344CB8AC3E}">
        <p14:creationId xmlns:p14="http://schemas.microsoft.com/office/powerpoint/2010/main" val="132692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A92680-87D2-1596-0D95-A6D9B5802607}"/>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panose="020B0004020202020204" pitchFamily="34" charset="0"/>
              </a:rPr>
              <a:t>Pipeline dan status implementasi</a:t>
            </a:r>
          </a:p>
        </p:txBody>
      </p:sp>
      <p:sp>
        <p:nvSpPr>
          <p:cNvPr id="3" name="TextBox 2">
            <a:extLst>
              <a:ext uri="{FF2B5EF4-FFF2-40B4-BE49-F238E27FC236}">
                <a16:creationId xmlns:a16="http://schemas.microsoft.com/office/drawing/2014/main" id="{B08F5657-E4ED-F17D-79F9-59D35B23E614}"/>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Sumber: laporan Bab 2/4, notebooks/README.md. Eksekusi Windows lokal, Spark local[4].</a:t>
            </a:r>
          </a:p>
        </p:txBody>
      </p:sp>
      <p:sp>
        <p:nvSpPr>
          <p:cNvPr id="4" name="TextBox 3">
            <a:extLst>
              <a:ext uri="{FF2B5EF4-FFF2-40B4-BE49-F238E27FC236}">
                <a16:creationId xmlns:a16="http://schemas.microsoft.com/office/drawing/2014/main" id="{0A95399F-D8D3-CA3D-F6C3-9011C8989277}"/>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04 / 09</a:t>
            </a:r>
          </a:p>
        </p:txBody>
      </p:sp>
      <p:graphicFrame>
        <p:nvGraphicFramePr>
          <p:cNvPr id="5" name="Table 4">
            <a:extLst>
              <a:ext uri="{FF2B5EF4-FFF2-40B4-BE49-F238E27FC236}">
                <a16:creationId xmlns:a16="http://schemas.microsoft.com/office/drawing/2014/main" id="{5268CC0B-CEF4-DA7D-1001-E43A21C84464}"/>
              </a:ext>
            </a:extLst>
          </p:cNvPr>
          <p:cNvGraphicFramePr>
            <a:graphicFrameLocks noGrp="1"/>
          </p:cNvGraphicFramePr>
          <p:nvPr>
            <p:extLst>
              <p:ext uri="{D42A27DB-BD31-4B8C-83A1-F6EECF244321}">
                <p14:modId xmlns:p14="http://schemas.microsoft.com/office/powerpoint/2010/main" val="855351038"/>
              </p:ext>
            </p:extLst>
          </p:nvPr>
        </p:nvGraphicFramePr>
        <p:xfrm>
          <a:off x="609600" y="1612900"/>
          <a:ext cx="10972800" cy="40005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918594348"/>
                    </a:ext>
                  </a:extLst>
                </a:gridCol>
                <a:gridCol w="5676900">
                  <a:extLst>
                    <a:ext uri="{9D8B030D-6E8A-4147-A177-3AD203B41FA5}">
                      <a16:colId xmlns:a16="http://schemas.microsoft.com/office/drawing/2014/main" val="4244033647"/>
                    </a:ext>
                  </a:extLst>
                </a:gridCol>
                <a:gridCol w="2755900">
                  <a:extLst>
                    <a:ext uri="{9D8B030D-6E8A-4147-A177-3AD203B41FA5}">
                      <a16:colId xmlns:a16="http://schemas.microsoft.com/office/drawing/2014/main" val="1910897874"/>
                    </a:ext>
                  </a:extLst>
                </a:gridCol>
              </a:tblGrid>
              <a:tr h="666750">
                <a:tc>
                  <a:txBody>
                    <a:bodyPr/>
                    <a:lstStyle/>
                    <a:p>
                      <a:r>
                        <a:rPr lang="en-ID" sz="1900" b="1">
                          <a:solidFill>
                            <a:srgbClr val="FFFFFF"/>
                          </a:solidFill>
                          <a:latin typeface="Aptos" panose="020B0004020202020204" pitchFamily="34" charset="0"/>
                        </a:rPr>
                        <a:t>Tahap</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900" b="1">
                          <a:solidFill>
                            <a:srgbClr val="FFFFFF"/>
                          </a:solidFill>
                          <a:latin typeface="Aptos" panose="020B0004020202020204" pitchFamily="34" charset="0"/>
                        </a:rPr>
                        <a:t>Teknologi / hasil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900" b="1">
                          <a:solidFill>
                            <a:srgbClr val="FFFFFF"/>
                          </a:solidFill>
                          <a:latin typeface="Aptos" panose="020B0004020202020204" pitchFamily="34" charset="0"/>
                        </a:rPr>
                        <a:t>Status</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2238417568"/>
                  </a:ext>
                </a:extLst>
              </a:tr>
              <a:tr h="666750">
                <a:tc>
                  <a:txBody>
                    <a:bodyPr/>
                    <a:lstStyle/>
                    <a:p>
                      <a:r>
                        <a:rPr lang="en-ID" sz="1900" b="0">
                          <a:solidFill>
                            <a:srgbClr val="162338"/>
                          </a:solidFill>
                          <a:latin typeface="Aptos" panose="020B0004020202020204" pitchFamily="34" charset="0"/>
                        </a:rPr>
                        <a:t>01. Ingestion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Sembilan CSV, validasi dan Parquet Snappy</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Terimplementasi</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756391832"/>
                  </a:ext>
                </a:extLst>
              </a:tr>
              <a:tr h="666750">
                <a:tc>
                  <a:txBody>
                    <a:bodyPr/>
                    <a:lstStyle/>
                    <a:p>
                      <a:r>
                        <a:rPr lang="en-ID" sz="1900" b="0">
                          <a:solidFill>
                            <a:srgbClr val="162338"/>
                          </a:solidFill>
                          <a:latin typeface="Aptos" panose="020B0004020202020204" pitchFamily="34" charset="0"/>
                        </a:rPr>
                        <a:t>02. Fitur dan ML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US" sz="1900" b="0">
                          <a:solidFill>
                            <a:srgbClr val="162338"/>
                          </a:solidFill>
                          <a:latin typeface="Aptos" panose="020B0004020202020204" pitchFamily="34" charset="0"/>
                        </a:rPr>
                        <a:t>Fitur per order, Random Forest MLlib</a:t>
                      </a:r>
                      <a:endParaRPr lang="en-ID" sz="19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Eksplorasi awal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017938840"/>
                  </a:ext>
                </a:extLst>
              </a:tr>
              <a:tr h="666750">
                <a:tc>
                  <a:txBody>
                    <a:bodyPr/>
                    <a:lstStyle/>
                    <a:p>
                      <a:r>
                        <a:rPr lang="en-ID" sz="1900" b="0">
                          <a:solidFill>
                            <a:srgbClr val="162338"/>
                          </a:solidFill>
                          <a:latin typeface="Aptos" panose="020B0004020202020204" pitchFamily="34" charset="0"/>
                        </a:rPr>
                        <a:t>03. Graf</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NetworkX, state asal seller dan tujuan customer</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Eksplorasi awal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2409060933"/>
                  </a:ext>
                </a:extLst>
              </a:tr>
              <a:tr h="666750">
                <a:tc>
                  <a:txBody>
                    <a:bodyPr/>
                    <a:lstStyle/>
                    <a:p>
                      <a:r>
                        <a:rPr lang="en-ID" sz="1900" b="0">
                          <a:solidFill>
                            <a:srgbClr val="162338"/>
                          </a:solidFill>
                          <a:latin typeface="Aptos" panose="020B0004020202020204" pitchFamily="34" charset="0"/>
                        </a:rPr>
                        <a:t>Warehouse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Rancangan dimensional dengan grain terpisah</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Konseptual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915537644"/>
                  </a:ext>
                </a:extLst>
              </a:tr>
              <a:tr h="666750">
                <a:tc>
                  <a:txBody>
                    <a:bodyPr/>
                    <a:lstStyle/>
                    <a:p>
                      <a:r>
                        <a:rPr lang="en-ID" sz="1900" b="0">
                          <a:solidFill>
                            <a:srgbClr val="162338"/>
                          </a:solidFill>
                          <a:latin typeface="Aptos" panose="020B0004020202020204" pitchFamily="34" charset="0"/>
                        </a:rPr>
                        <a:t>Pengembangan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NoSQL, graph database fisik dan dashboard</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Rencana</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3921945033"/>
                  </a:ext>
                </a:extLst>
              </a:tr>
            </a:tbl>
          </a:graphicData>
        </a:graphic>
      </p:graphicFrame>
      <p:sp>
        <p:nvSpPr>
          <p:cNvPr id="6" name="TextBox 5">
            <a:extLst>
              <a:ext uri="{FF2B5EF4-FFF2-40B4-BE49-F238E27FC236}">
                <a16:creationId xmlns:a16="http://schemas.microsoft.com/office/drawing/2014/main" id="{9818D220-62FF-ADBB-AC20-AE578E2757A8}"/>
              </a:ext>
            </a:extLst>
          </p:cNvPr>
          <p:cNvSpPr txBox="1"/>
          <p:nvPr/>
        </p:nvSpPr>
        <p:spPr>
          <a:xfrm>
            <a:off x="609600" y="5829300"/>
            <a:ext cx="10972800" cy="276999"/>
          </a:xfrm>
          <a:prstGeom prst="rect">
            <a:avLst/>
          </a:prstGeom>
          <a:noFill/>
        </p:spPr>
        <p:txBody>
          <a:bodyPr vert="horz" wrap="square" lIns="0" tIns="0" rIns="0" bIns="0" rtlCol="0">
            <a:noAutofit/>
          </a:bodyPr>
          <a:lstStyle/>
          <a:p>
            <a:pPr>
              <a:spcAft>
                <a:spcPts val="700"/>
              </a:spcAft>
            </a:pPr>
            <a:r>
              <a:rPr lang="en-ID">
                <a:solidFill>
                  <a:srgbClr val="5D6675"/>
                </a:solidFill>
                <a:latin typeface="Aptos" panose="020B0004020202020204" pitchFamily="34" charset="0"/>
              </a:rPr>
              <a:t>Prototipe satu mesin. Deployment tambahan mengikuti kebutuhan yang diuji.</a:t>
            </a:r>
          </a:p>
        </p:txBody>
      </p:sp>
    </p:spTree>
    <p:extLst>
      <p:ext uri="{BB962C8B-B14F-4D97-AF65-F5344CB8AC3E}">
        <p14:creationId xmlns:p14="http://schemas.microsoft.com/office/powerpoint/2010/main" val="384771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068E3F-1258-EB53-F65E-911E0EADFEF0}"/>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panose="020B0004020202020204" pitchFamily="34" charset="0"/>
              </a:rPr>
              <a:t>Kualitas data dan organisasi tabel</a:t>
            </a:r>
          </a:p>
        </p:txBody>
      </p:sp>
      <p:sp>
        <p:nvSpPr>
          <p:cNvPr id="3" name="TextBox 2">
            <a:extLst>
              <a:ext uri="{FF2B5EF4-FFF2-40B4-BE49-F238E27FC236}">
                <a16:creationId xmlns:a16="http://schemas.microsoft.com/office/drawing/2014/main" id="{410F9A63-7507-7DD9-95A1-7EC4FACD4BEB}"/>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Sumber: ingestion_summary_report.csv dan laporan bukti grain/join. Ukuran dalam MiB.</a:t>
            </a:r>
          </a:p>
        </p:txBody>
      </p:sp>
      <p:sp>
        <p:nvSpPr>
          <p:cNvPr id="4" name="TextBox 3">
            <a:extLst>
              <a:ext uri="{FF2B5EF4-FFF2-40B4-BE49-F238E27FC236}">
                <a16:creationId xmlns:a16="http://schemas.microsoft.com/office/drawing/2014/main" id="{591DC3CF-1FF7-541C-385A-9956CD54414D}"/>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05 / 09</a:t>
            </a:r>
          </a:p>
        </p:txBody>
      </p:sp>
      <p:graphicFrame>
        <p:nvGraphicFramePr>
          <p:cNvPr id="5" name="Table 4">
            <a:extLst>
              <a:ext uri="{FF2B5EF4-FFF2-40B4-BE49-F238E27FC236}">
                <a16:creationId xmlns:a16="http://schemas.microsoft.com/office/drawing/2014/main" id="{CF9A27A9-068C-F536-B9AA-6991B97D42CC}"/>
              </a:ext>
            </a:extLst>
          </p:cNvPr>
          <p:cNvGraphicFramePr>
            <a:graphicFrameLocks noGrp="1"/>
          </p:cNvGraphicFramePr>
          <p:nvPr>
            <p:extLst>
              <p:ext uri="{D42A27DB-BD31-4B8C-83A1-F6EECF244321}">
                <p14:modId xmlns:p14="http://schemas.microsoft.com/office/powerpoint/2010/main" val="364958782"/>
              </p:ext>
            </p:extLst>
          </p:nvPr>
        </p:nvGraphicFramePr>
        <p:xfrm>
          <a:off x="609600" y="1587500"/>
          <a:ext cx="10972800" cy="14478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416094275"/>
                    </a:ext>
                  </a:extLst>
                </a:gridCol>
                <a:gridCol w="3657600">
                  <a:extLst>
                    <a:ext uri="{9D8B030D-6E8A-4147-A177-3AD203B41FA5}">
                      <a16:colId xmlns:a16="http://schemas.microsoft.com/office/drawing/2014/main" val="815935312"/>
                    </a:ext>
                  </a:extLst>
                </a:gridCol>
                <a:gridCol w="3657600">
                  <a:extLst>
                    <a:ext uri="{9D8B030D-6E8A-4147-A177-3AD203B41FA5}">
                      <a16:colId xmlns:a16="http://schemas.microsoft.com/office/drawing/2014/main" val="505506521"/>
                    </a:ext>
                  </a:extLst>
                </a:gridCol>
              </a:tblGrid>
              <a:tr h="723900">
                <a:tc>
                  <a:txBody>
                    <a:bodyPr/>
                    <a:lstStyle/>
                    <a:p>
                      <a:r>
                        <a:rPr lang="en-ID" sz="2300" b="1">
                          <a:solidFill>
                            <a:srgbClr val="FFFFFF"/>
                          </a:solidFill>
                          <a:latin typeface="Aptos" panose="020B0004020202020204" pitchFamily="34" charset="0"/>
                        </a:rPr>
                        <a:t>CSV raw</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2300" b="1">
                          <a:solidFill>
                            <a:srgbClr val="FFFFFF"/>
                          </a:solidFill>
                          <a:latin typeface="Aptos" panose="020B0004020202020204" pitchFamily="34" charset="0"/>
                        </a:rPr>
                        <a:t>Parquet Snappy</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2300" b="1">
                          <a:solidFill>
                            <a:srgbClr val="FFFFFF"/>
                          </a:solidFill>
                          <a:latin typeface="Aptos" panose="020B0004020202020204" pitchFamily="34" charset="0"/>
                        </a:rPr>
                        <a:t>Penghematan storage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1151311469"/>
                  </a:ext>
                </a:extLst>
              </a:tr>
              <a:tr h="723900">
                <a:tc>
                  <a:txBody>
                    <a:bodyPr/>
                    <a:lstStyle/>
                    <a:p>
                      <a:r>
                        <a:rPr lang="en-ID" sz="2300" b="0">
                          <a:solidFill>
                            <a:srgbClr val="162338"/>
                          </a:solidFill>
                          <a:latin typeface="Aptos" panose="020B0004020202020204" pitchFamily="34" charset="0"/>
                        </a:rPr>
                        <a:t>120,341 MiB</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300" b="0">
                          <a:solidFill>
                            <a:srgbClr val="162338"/>
                          </a:solidFill>
                          <a:latin typeface="Aptos" panose="020B0004020202020204" pitchFamily="34" charset="0"/>
                        </a:rPr>
                        <a:t>54,236 MiB</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300" b="0">
                          <a:solidFill>
                            <a:srgbClr val="162338"/>
                          </a:solidFill>
                          <a:latin typeface="Aptos" panose="020B0004020202020204" pitchFamily="34" charset="0"/>
                        </a:rPr>
                        <a:t>54,93%</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715519140"/>
                  </a:ext>
                </a:extLst>
              </a:tr>
            </a:tbl>
          </a:graphicData>
        </a:graphic>
      </p:graphicFrame>
      <p:sp>
        <p:nvSpPr>
          <p:cNvPr id="6" name="TextBox 5">
            <a:extLst>
              <a:ext uri="{FF2B5EF4-FFF2-40B4-BE49-F238E27FC236}">
                <a16:creationId xmlns:a16="http://schemas.microsoft.com/office/drawing/2014/main" id="{0E76F060-B073-E2A0-7044-A6AC9A933AAB}"/>
              </a:ext>
            </a:extLst>
          </p:cNvPr>
          <p:cNvSpPr txBox="1"/>
          <p:nvPr/>
        </p:nvSpPr>
        <p:spPr>
          <a:xfrm>
            <a:off x="609600" y="3429000"/>
            <a:ext cx="10972800" cy="276999"/>
          </a:xfrm>
          <a:prstGeom prst="rect">
            <a:avLst/>
          </a:prstGeom>
          <a:noFill/>
        </p:spPr>
        <p:txBody>
          <a:bodyPr vert="horz" wrap="square" lIns="0" tIns="0" rIns="0" bIns="0" rtlCol="0">
            <a:noAutofit/>
          </a:bodyPr>
          <a:lstStyle/>
          <a:p>
            <a:pPr>
              <a:spcAft>
                <a:spcPts val="700"/>
              </a:spcAft>
            </a:pPr>
            <a:r>
              <a:rPr lang="en-US" sz="2300" b="1">
                <a:solidFill>
                  <a:srgbClr val="162338"/>
                </a:solidFill>
                <a:latin typeface="Aptos" panose="020B0004020202020204" pitchFamily="34" charset="0"/>
              </a:rPr>
              <a:t>01  Raw tetap utuh untuk audit</a:t>
            </a:r>
            <a:endParaRPr lang="en-ID" sz="2300" b="1">
              <a:solidFill>
                <a:srgbClr val="162338"/>
              </a:solidFill>
              <a:latin typeface="Aptos" panose="020B0004020202020204" pitchFamily="34" charset="0"/>
            </a:endParaRPr>
          </a:p>
        </p:txBody>
      </p:sp>
      <p:sp>
        <p:nvSpPr>
          <p:cNvPr id="7" name="TextBox 6">
            <a:extLst>
              <a:ext uri="{FF2B5EF4-FFF2-40B4-BE49-F238E27FC236}">
                <a16:creationId xmlns:a16="http://schemas.microsoft.com/office/drawing/2014/main" id="{623EDC23-024B-AB69-D7FC-B3BFB29A5C73}"/>
              </a:ext>
            </a:extLst>
          </p:cNvPr>
          <p:cNvSpPr txBox="1"/>
          <p:nvPr/>
        </p:nvSpPr>
        <p:spPr>
          <a:xfrm>
            <a:off x="609600" y="4076700"/>
            <a:ext cx="10972800" cy="276999"/>
          </a:xfrm>
          <a:prstGeom prst="rect">
            <a:avLst/>
          </a:prstGeom>
          <a:noFill/>
        </p:spPr>
        <p:txBody>
          <a:bodyPr vert="horz" wrap="square" lIns="0" tIns="0" rIns="0" bIns="0" rtlCol="0">
            <a:noAutofit/>
          </a:bodyPr>
          <a:lstStyle/>
          <a:p>
            <a:pPr>
              <a:spcAft>
                <a:spcPts val="700"/>
              </a:spcAft>
            </a:pPr>
            <a:r>
              <a:rPr lang="en-ID" sz="2300">
                <a:solidFill>
                  <a:srgbClr val="162338"/>
                </a:solidFill>
                <a:latin typeface="Aptos" panose="020B0004020202020204" pitchFamily="34" charset="0"/>
              </a:rPr>
              <a:t>02  Validasi tipe, ID/key, jumlah baris dan null profile</a:t>
            </a:r>
          </a:p>
        </p:txBody>
      </p:sp>
      <p:sp>
        <p:nvSpPr>
          <p:cNvPr id="8" name="TextBox 7">
            <a:extLst>
              <a:ext uri="{FF2B5EF4-FFF2-40B4-BE49-F238E27FC236}">
                <a16:creationId xmlns:a16="http://schemas.microsoft.com/office/drawing/2014/main" id="{FA267776-F964-950C-B389-0B85AAFA480A}"/>
              </a:ext>
            </a:extLst>
          </p:cNvPr>
          <p:cNvSpPr txBox="1"/>
          <p:nvPr/>
        </p:nvSpPr>
        <p:spPr>
          <a:xfrm>
            <a:off x="609600" y="4724400"/>
            <a:ext cx="10972800" cy="276999"/>
          </a:xfrm>
          <a:prstGeom prst="rect">
            <a:avLst/>
          </a:prstGeom>
          <a:noFill/>
        </p:spPr>
        <p:txBody>
          <a:bodyPr vert="horz" wrap="square" lIns="0" tIns="0" rIns="0" bIns="0" rtlCol="0">
            <a:noAutofit/>
          </a:bodyPr>
          <a:lstStyle/>
          <a:p>
            <a:pPr>
              <a:spcAft>
                <a:spcPts val="700"/>
              </a:spcAft>
            </a:pPr>
            <a:r>
              <a:rPr lang="en-US" sz="2300">
                <a:solidFill>
                  <a:srgbClr val="162338"/>
                </a:solidFill>
                <a:latin typeface="Aptos" panose="020B0004020202020204" pitchFamily="34" charset="0"/>
              </a:rPr>
              <a:t>03  Agregasi item/payment sebelum join pada grain order</a:t>
            </a:r>
            <a:endParaRPr lang="en-ID" sz="2300">
              <a:solidFill>
                <a:srgbClr val="162338"/>
              </a:solidFill>
              <a:latin typeface="Aptos" panose="020B0004020202020204" pitchFamily="34" charset="0"/>
            </a:endParaRPr>
          </a:p>
        </p:txBody>
      </p:sp>
      <p:sp>
        <p:nvSpPr>
          <p:cNvPr id="9" name="TextBox 8">
            <a:extLst>
              <a:ext uri="{FF2B5EF4-FFF2-40B4-BE49-F238E27FC236}">
                <a16:creationId xmlns:a16="http://schemas.microsoft.com/office/drawing/2014/main" id="{A6F81631-F7E1-EB5D-F68C-7413FD05CFDD}"/>
              </a:ext>
            </a:extLst>
          </p:cNvPr>
          <p:cNvSpPr txBox="1"/>
          <p:nvPr/>
        </p:nvSpPr>
        <p:spPr>
          <a:xfrm>
            <a:off x="609600" y="5422900"/>
            <a:ext cx="10972800" cy="276999"/>
          </a:xfrm>
          <a:prstGeom prst="rect">
            <a:avLst/>
          </a:prstGeom>
          <a:noFill/>
        </p:spPr>
        <p:txBody>
          <a:bodyPr vert="horz" wrap="square" lIns="0" tIns="0" rIns="0" bIns="0" rtlCol="0">
            <a:noAutofit/>
          </a:bodyPr>
          <a:lstStyle/>
          <a:p>
            <a:pPr>
              <a:spcAft>
                <a:spcPts val="700"/>
              </a:spcAft>
            </a:pPr>
            <a:r>
              <a:rPr lang="en-ID">
                <a:solidFill>
                  <a:srgbClr val="5D6675"/>
                </a:solidFill>
                <a:latin typeface="Aptos" panose="020B0004020202020204" pitchFamily="34" charset="0"/>
              </a:rPr>
              <a:t>Ilustrasi join mentah: price meningkat 4,48%. Pipeline mencegah pengulangan nilai.</a:t>
            </a:r>
          </a:p>
        </p:txBody>
      </p:sp>
    </p:spTree>
    <p:extLst>
      <p:ext uri="{BB962C8B-B14F-4D97-AF65-F5344CB8AC3E}">
        <p14:creationId xmlns:p14="http://schemas.microsoft.com/office/powerpoint/2010/main" val="1663749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3213E6-045B-E513-61A6-729B55DD15DD}"/>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it-IT" sz="3200" b="1">
                <a:solidFill>
                  <a:srgbClr val="162338"/>
                </a:solidFill>
                <a:latin typeface="Aptos" panose="020B0004020202020204" pitchFamily="34" charset="0"/>
              </a:rPr>
              <a:t>Tata kelola dan perlindungan data</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BA0439DE-7578-3888-B15D-D68DC9884084}"/>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Sumber: laporan Bab 3 dan .gitignore. Kontrol rancangan memerlukan implementasi/pengujian.</a:t>
            </a:r>
          </a:p>
        </p:txBody>
      </p:sp>
      <p:sp>
        <p:nvSpPr>
          <p:cNvPr id="4" name="TextBox 3">
            <a:extLst>
              <a:ext uri="{FF2B5EF4-FFF2-40B4-BE49-F238E27FC236}">
                <a16:creationId xmlns:a16="http://schemas.microsoft.com/office/drawing/2014/main" id="{FA3BBDEA-A5B1-781D-3B0F-5035F239BEB3}"/>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06 / 09</a:t>
            </a:r>
          </a:p>
        </p:txBody>
      </p:sp>
      <p:graphicFrame>
        <p:nvGraphicFramePr>
          <p:cNvPr id="5" name="Table 4">
            <a:extLst>
              <a:ext uri="{FF2B5EF4-FFF2-40B4-BE49-F238E27FC236}">
                <a16:creationId xmlns:a16="http://schemas.microsoft.com/office/drawing/2014/main" id="{0AA4B5C4-B2A8-F71D-DCC2-397CF0E81CBE}"/>
              </a:ext>
            </a:extLst>
          </p:cNvPr>
          <p:cNvGraphicFramePr>
            <a:graphicFrameLocks noGrp="1"/>
          </p:cNvGraphicFramePr>
          <p:nvPr>
            <p:extLst>
              <p:ext uri="{D42A27DB-BD31-4B8C-83A1-F6EECF244321}">
                <p14:modId xmlns:p14="http://schemas.microsoft.com/office/powerpoint/2010/main" val="2870230993"/>
              </p:ext>
            </p:extLst>
          </p:nvPr>
        </p:nvGraphicFramePr>
        <p:xfrm>
          <a:off x="609600" y="1612900"/>
          <a:ext cx="10972800" cy="34036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909392126"/>
                    </a:ext>
                  </a:extLst>
                </a:gridCol>
                <a:gridCol w="5486400">
                  <a:extLst>
                    <a:ext uri="{9D8B030D-6E8A-4147-A177-3AD203B41FA5}">
                      <a16:colId xmlns:a16="http://schemas.microsoft.com/office/drawing/2014/main" val="2021029419"/>
                    </a:ext>
                  </a:extLst>
                </a:gridCol>
              </a:tblGrid>
              <a:tr h="850900">
                <a:tc>
                  <a:txBody>
                    <a:bodyPr/>
                    <a:lstStyle/>
                    <a:p>
                      <a:r>
                        <a:rPr lang="en-ID" sz="2100" b="1">
                          <a:solidFill>
                            <a:srgbClr val="FFFFFF"/>
                          </a:solidFill>
                          <a:latin typeface="Aptos" panose="020B0004020202020204" pitchFamily="34" charset="0"/>
                        </a:rPr>
                        <a:t>Praktik prototipe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2100" b="1">
                          <a:solidFill>
                            <a:srgbClr val="FFFFFF"/>
                          </a:solidFill>
                          <a:latin typeface="Aptos" panose="020B0004020202020204" pitchFamily="34" charset="0"/>
                        </a:rPr>
                        <a:t>Kontrol rancangan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17264672"/>
                  </a:ext>
                </a:extLst>
              </a:tr>
              <a:tr h="850900">
                <a:tc>
                  <a:txBody>
                    <a:bodyPr/>
                    <a:lstStyle/>
                    <a:p>
                      <a:r>
                        <a:rPr lang="en-ID" sz="2100" b="0">
                          <a:solidFill>
                            <a:srgbClr val="162338"/>
                          </a:solidFill>
                          <a:latin typeface="Aptos" panose="020B0004020202020204" pitchFamily="34" charset="0"/>
                        </a:rPr>
                        <a:t>Raw dipertahankan untuk audit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100" b="0">
                          <a:solidFill>
                            <a:srgbClr val="162338"/>
                          </a:solidFill>
                          <a:latin typeface="Aptos" panose="020B0004020202020204" pitchFamily="34" charset="0"/>
                        </a:rPr>
                        <a:t>Akses data sesuai peran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448814173"/>
                  </a:ext>
                </a:extLst>
              </a:tr>
              <a:tr h="850900">
                <a:tc>
                  <a:txBody>
                    <a:bodyPr/>
                    <a:lstStyle/>
                    <a:p>
                      <a:r>
                        <a:rPr lang="nn-NO" sz="2100" b="0">
                          <a:solidFill>
                            <a:srgbClr val="162338"/>
                          </a:solidFill>
                          <a:latin typeface="Aptos" panose="020B0004020202020204" pitchFamily="34" charset="0"/>
                        </a:rPr>
                        <a:t>Ringkasan agregat dan kode di Git</a:t>
                      </a:r>
                      <a:endParaRPr lang="en-ID" sz="21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100" b="0">
                          <a:solidFill>
                            <a:srgbClr val="162338"/>
                          </a:solidFill>
                          <a:latin typeface="Aptos" panose="020B0004020202020204" pitchFamily="34" charset="0"/>
                        </a:rPr>
                        <a:t>Kebijakan retensi dan minimisasi data</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609432813"/>
                  </a:ext>
                </a:extLst>
              </a:tr>
              <a:tr h="850900">
                <a:tc>
                  <a:txBody>
                    <a:bodyPr/>
                    <a:lstStyle/>
                    <a:p>
                      <a:r>
                        <a:rPr lang="it-IT" sz="2100" b="0">
                          <a:solidFill>
                            <a:srgbClr val="162338"/>
                          </a:solidFill>
                          <a:latin typeface="Aptos" panose="020B0004020202020204" pitchFamily="34" charset="0"/>
                        </a:rPr>
                        <a:t>Raw, credential dan runtime tidak di Git</a:t>
                      </a:r>
                      <a:endParaRPr lang="en-ID" sz="21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100" b="0">
                          <a:solidFill>
                            <a:srgbClr val="162338"/>
                          </a:solidFill>
                          <a:latin typeface="Aptos" panose="020B0004020202020204" pitchFamily="34" charset="0"/>
                        </a:rPr>
                        <a:t>Pemeriksaan informasi pribadi pada teks ulasan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4101999355"/>
                  </a:ext>
                </a:extLst>
              </a:tr>
            </a:tbl>
          </a:graphicData>
        </a:graphic>
      </p:graphicFrame>
      <p:sp>
        <p:nvSpPr>
          <p:cNvPr id="6" name="TextBox 5">
            <a:extLst>
              <a:ext uri="{FF2B5EF4-FFF2-40B4-BE49-F238E27FC236}">
                <a16:creationId xmlns:a16="http://schemas.microsoft.com/office/drawing/2014/main" id="{E2DBB811-F2DA-7BDA-7269-1535C52BDBD1}"/>
              </a:ext>
            </a:extLst>
          </p:cNvPr>
          <p:cNvSpPr txBox="1"/>
          <p:nvPr/>
        </p:nvSpPr>
        <p:spPr>
          <a:xfrm>
            <a:off x="609600" y="5346700"/>
            <a:ext cx="10972800" cy="276999"/>
          </a:xfrm>
          <a:prstGeom prst="rect">
            <a:avLst/>
          </a:prstGeom>
          <a:noFill/>
        </p:spPr>
        <p:txBody>
          <a:bodyPr vert="horz" wrap="square" lIns="0" tIns="0" rIns="0" bIns="0" rtlCol="0">
            <a:noAutofit/>
          </a:bodyPr>
          <a:lstStyle/>
          <a:p>
            <a:pPr>
              <a:spcAft>
                <a:spcPts val="700"/>
              </a:spcAft>
            </a:pPr>
            <a:r>
              <a:rPr lang="en-ID" sz="2300" b="1">
                <a:solidFill>
                  <a:srgbClr val="162338"/>
                </a:solidFill>
                <a:latin typeface="Aptos" panose="020B0004020202020204" pitchFamily="34" charset="0"/>
              </a:rPr>
              <a:t>ID berbentuk hash tidak otomatis menjamin anonimitas.</a:t>
            </a:r>
          </a:p>
        </p:txBody>
      </p:sp>
      <p:sp>
        <p:nvSpPr>
          <p:cNvPr id="7" name="TextBox 6">
            <a:extLst>
              <a:ext uri="{FF2B5EF4-FFF2-40B4-BE49-F238E27FC236}">
                <a16:creationId xmlns:a16="http://schemas.microsoft.com/office/drawing/2014/main" id="{7F3B1EF5-2190-29B2-C018-06FCD5D8A72F}"/>
              </a:ext>
            </a:extLst>
          </p:cNvPr>
          <p:cNvSpPr txBox="1"/>
          <p:nvPr/>
        </p:nvSpPr>
        <p:spPr>
          <a:xfrm>
            <a:off x="609600" y="5854700"/>
            <a:ext cx="10972800" cy="276999"/>
          </a:xfrm>
          <a:prstGeom prst="rect">
            <a:avLst/>
          </a:prstGeom>
          <a:noFill/>
        </p:spPr>
        <p:txBody>
          <a:bodyPr vert="horz" wrap="square" lIns="0" tIns="0" rIns="0" bIns="0" rtlCol="0">
            <a:noAutofit/>
          </a:bodyPr>
          <a:lstStyle/>
          <a:p>
            <a:pPr>
              <a:spcAft>
                <a:spcPts val="700"/>
              </a:spcAft>
            </a:pPr>
            <a:r>
              <a:rPr lang="nb-NO">
                <a:solidFill>
                  <a:srgbClr val="5D6675"/>
                </a:solidFill>
                <a:latin typeface="Aptos" panose="020B0004020202020204" pitchFamily="34" charset="0"/>
              </a:rPr>
              <a:t>Prototipe belum membuktikan kepatuhan operasional.</a:t>
            </a:r>
            <a:endParaRPr lang="en-ID">
              <a:solidFill>
                <a:srgbClr val="5D6675"/>
              </a:solidFill>
              <a:latin typeface="Aptos" panose="020B0004020202020204" pitchFamily="34" charset="0"/>
            </a:endParaRPr>
          </a:p>
        </p:txBody>
      </p:sp>
    </p:spTree>
    <p:extLst>
      <p:ext uri="{BB962C8B-B14F-4D97-AF65-F5344CB8AC3E}">
        <p14:creationId xmlns:p14="http://schemas.microsoft.com/office/powerpoint/2010/main" val="203972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2C884B-0CF3-03CA-2348-DC4D8FBDD885}"/>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panose="020B0004020202020204" pitchFamily="34" charset="0"/>
              </a:rPr>
              <a:t>Justifikasi teknologi dan grain</a:t>
            </a:r>
          </a:p>
        </p:txBody>
      </p:sp>
      <p:sp>
        <p:nvSpPr>
          <p:cNvPr id="3" name="TextBox 2">
            <a:extLst>
              <a:ext uri="{FF2B5EF4-FFF2-40B4-BE49-F238E27FC236}">
                <a16:creationId xmlns:a16="http://schemas.microsoft.com/office/drawing/2014/main" id="{8ACC7088-E7FE-EDB2-24EF-C1CE696F0829}"/>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sv-SE" sz="1100">
                <a:solidFill>
                  <a:srgbClr val="5D6675"/>
                </a:solidFill>
                <a:latin typeface="Aptos" panose="020B0004020202020204" pitchFamily="34" charset="0"/>
              </a:rPr>
              <a:t>Sumber: laporan bagian 2.4. pandas tetap layak untuk dataset sekitar 120 MiB.</a:t>
            </a:r>
            <a:endParaRPr lang="en-ID" sz="1100">
              <a:solidFill>
                <a:srgbClr val="5D6675"/>
              </a:solidFill>
              <a:latin typeface="Aptos" panose="020B0004020202020204" pitchFamily="34" charset="0"/>
            </a:endParaRPr>
          </a:p>
        </p:txBody>
      </p:sp>
      <p:sp>
        <p:nvSpPr>
          <p:cNvPr id="4" name="TextBox 3">
            <a:extLst>
              <a:ext uri="{FF2B5EF4-FFF2-40B4-BE49-F238E27FC236}">
                <a16:creationId xmlns:a16="http://schemas.microsoft.com/office/drawing/2014/main" id="{39E5B0DC-7789-702E-DCC3-AE0323D3189F}"/>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07 / 09</a:t>
            </a:r>
          </a:p>
        </p:txBody>
      </p:sp>
      <p:graphicFrame>
        <p:nvGraphicFramePr>
          <p:cNvPr id="5" name="Table 4">
            <a:extLst>
              <a:ext uri="{FF2B5EF4-FFF2-40B4-BE49-F238E27FC236}">
                <a16:creationId xmlns:a16="http://schemas.microsoft.com/office/drawing/2014/main" id="{AF95F995-6F4F-83F0-FE2E-D954C7349DE4}"/>
              </a:ext>
            </a:extLst>
          </p:cNvPr>
          <p:cNvGraphicFramePr>
            <a:graphicFrameLocks noGrp="1"/>
          </p:cNvGraphicFramePr>
          <p:nvPr>
            <p:extLst>
              <p:ext uri="{D42A27DB-BD31-4B8C-83A1-F6EECF244321}">
                <p14:modId xmlns:p14="http://schemas.microsoft.com/office/powerpoint/2010/main" val="3647815659"/>
              </p:ext>
            </p:extLst>
          </p:nvPr>
        </p:nvGraphicFramePr>
        <p:xfrm>
          <a:off x="609600" y="1574800"/>
          <a:ext cx="10972800" cy="383540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4169231089"/>
                    </a:ext>
                  </a:extLst>
                </a:gridCol>
                <a:gridCol w="4648200">
                  <a:extLst>
                    <a:ext uri="{9D8B030D-6E8A-4147-A177-3AD203B41FA5}">
                      <a16:colId xmlns:a16="http://schemas.microsoft.com/office/drawing/2014/main" val="2517263289"/>
                    </a:ext>
                  </a:extLst>
                </a:gridCol>
                <a:gridCol w="4191000">
                  <a:extLst>
                    <a:ext uri="{9D8B030D-6E8A-4147-A177-3AD203B41FA5}">
                      <a16:colId xmlns:a16="http://schemas.microsoft.com/office/drawing/2014/main" val="4070197866"/>
                    </a:ext>
                  </a:extLst>
                </a:gridCol>
              </a:tblGrid>
              <a:tr h="767080">
                <a:tc>
                  <a:txBody>
                    <a:bodyPr/>
                    <a:lstStyle/>
                    <a:p>
                      <a:r>
                        <a:rPr lang="en-ID" sz="1900" b="1">
                          <a:solidFill>
                            <a:srgbClr val="FFFFFF"/>
                          </a:solidFill>
                          <a:latin typeface="Aptos" panose="020B0004020202020204" pitchFamily="34" charset="0"/>
                        </a:rPr>
                        <a:t>Pilihan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900" b="1">
                          <a:solidFill>
                            <a:srgbClr val="FFFFFF"/>
                          </a:solidFill>
                          <a:latin typeface="Aptos" panose="020B0004020202020204" pitchFamily="34" charset="0"/>
                        </a:rPr>
                        <a:t>Alasan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900" b="1">
                          <a:solidFill>
                            <a:srgbClr val="FFFFFF"/>
                          </a:solidFill>
                          <a:latin typeface="Aptos" panose="020B0004020202020204" pitchFamily="34" charset="0"/>
                        </a:rPr>
                        <a:t>Batas saat ini</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1640938758"/>
                  </a:ext>
                </a:extLst>
              </a:tr>
              <a:tr h="767080">
                <a:tc>
                  <a:txBody>
                    <a:bodyPr/>
                    <a:lstStyle/>
                    <a:p>
                      <a:r>
                        <a:rPr lang="en-ID" sz="1900" b="0">
                          <a:solidFill>
                            <a:srgbClr val="162338"/>
                          </a:solidFill>
                          <a:latin typeface="Aptos" panose="020B0004020202020204" pitchFamily="34" charset="0"/>
                        </a:rPr>
                        <a:t>PySpark</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Pembelajaran dan integrasi DataFrame/MLlib</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fi-FI" sz="1900" b="0">
                          <a:solidFill>
                            <a:srgbClr val="162338"/>
                          </a:solidFill>
                          <a:latin typeface="Aptos" panose="020B0004020202020204" pitchFamily="34" charset="0"/>
                        </a:rPr>
                        <a:t>Runtime Java lebih kompleks, satu mesin</a:t>
                      </a:r>
                      <a:endParaRPr lang="en-ID" sz="19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2353603659"/>
                  </a:ext>
                </a:extLst>
              </a:tr>
              <a:tr h="767080">
                <a:tc>
                  <a:txBody>
                    <a:bodyPr/>
                    <a:lstStyle/>
                    <a:p>
                      <a:r>
                        <a:rPr lang="en-ID" sz="1900" b="0">
                          <a:solidFill>
                            <a:srgbClr val="162338"/>
                          </a:solidFill>
                          <a:latin typeface="Aptos" panose="020B0004020202020204" pitchFamily="34" charset="0"/>
                        </a:rPr>
                        <a:t>Parquet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nl-NL" sz="1900" b="0">
                          <a:solidFill>
                            <a:srgbClr val="162338"/>
                          </a:solidFill>
                          <a:latin typeface="Aptos" panose="020B0004020202020204" pitchFamily="34" charset="0"/>
                        </a:rPr>
                        <a:t>Tabel bertipe dan format columnar</a:t>
                      </a:r>
                      <a:endParaRPr lang="en-ID" sz="19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Percepatan kueri belum diuji</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3920248879"/>
                  </a:ext>
                </a:extLst>
              </a:tr>
              <a:tr h="767080">
                <a:tc>
                  <a:txBody>
                    <a:bodyPr/>
                    <a:lstStyle/>
                    <a:p>
                      <a:r>
                        <a:rPr lang="en-ID" sz="1900" b="0">
                          <a:solidFill>
                            <a:srgbClr val="162338"/>
                          </a:solidFill>
                          <a:latin typeface="Aptos" panose="020B0004020202020204" pitchFamily="34" charset="0"/>
                        </a:rPr>
                        <a:t>NetworkX</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Eksplorasi 27 state dan 409 rute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Graf dalam memori, tanpa transit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063501642"/>
                  </a:ext>
                </a:extLst>
              </a:tr>
              <a:tr h="767080">
                <a:tc>
                  <a:txBody>
                    <a:bodyPr/>
                    <a:lstStyle/>
                    <a:p>
                      <a:r>
                        <a:rPr lang="en-ID" sz="1900" b="0">
                          <a:solidFill>
                            <a:srgbClr val="162338"/>
                          </a:solidFill>
                          <a:latin typeface="Aptos" panose="020B0004020202020204" pitchFamily="34" charset="0"/>
                        </a:rPr>
                        <a:t>Dimensional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US" sz="1900" b="0">
                          <a:solidFill>
                            <a:srgbClr val="162338"/>
                          </a:solidFill>
                          <a:latin typeface="Aptos" panose="020B0004020202020204" pitchFamily="34" charset="0"/>
                        </a:rPr>
                        <a:t>Pisahkan grain item, pengiriman, payment dan review</a:t>
                      </a:r>
                      <a:endParaRPr lang="en-ID" sz="19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900" b="0">
                          <a:solidFill>
                            <a:srgbClr val="162338"/>
                          </a:solidFill>
                          <a:latin typeface="Aptos" panose="020B0004020202020204" pitchFamily="34" charset="0"/>
                        </a:rPr>
                        <a:t>Warehouse masih konseptual</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622063266"/>
                  </a:ext>
                </a:extLst>
              </a:tr>
            </a:tbl>
          </a:graphicData>
        </a:graphic>
      </p:graphicFrame>
      <p:sp>
        <p:nvSpPr>
          <p:cNvPr id="6" name="TextBox 5">
            <a:extLst>
              <a:ext uri="{FF2B5EF4-FFF2-40B4-BE49-F238E27FC236}">
                <a16:creationId xmlns:a16="http://schemas.microsoft.com/office/drawing/2014/main" id="{054191E7-DA31-697A-48C4-B2B35A8D5285}"/>
              </a:ext>
            </a:extLst>
          </p:cNvPr>
          <p:cNvSpPr txBox="1"/>
          <p:nvPr/>
        </p:nvSpPr>
        <p:spPr>
          <a:xfrm>
            <a:off x="609600" y="5702300"/>
            <a:ext cx="10972800" cy="276999"/>
          </a:xfrm>
          <a:prstGeom prst="rect">
            <a:avLst/>
          </a:prstGeom>
          <a:noFill/>
        </p:spPr>
        <p:txBody>
          <a:bodyPr vert="horz" wrap="square" lIns="0" tIns="0" rIns="0" bIns="0" rtlCol="0">
            <a:noAutofit/>
          </a:bodyPr>
          <a:lstStyle/>
          <a:p>
            <a:pPr>
              <a:spcAft>
                <a:spcPts val="700"/>
              </a:spcAft>
            </a:pPr>
            <a:r>
              <a:rPr lang="en-ID" sz="1900">
                <a:solidFill>
                  <a:srgbClr val="5D6675"/>
                </a:solidFill>
                <a:latin typeface="Aptos" panose="020B0004020202020204" pitchFamily="34" charset="0"/>
              </a:rPr>
              <a:t>Fitur ML memakai satu baris per order karena label delay berada pada order.</a:t>
            </a:r>
          </a:p>
        </p:txBody>
      </p:sp>
    </p:spTree>
    <p:extLst>
      <p:ext uri="{BB962C8B-B14F-4D97-AF65-F5344CB8AC3E}">
        <p14:creationId xmlns:p14="http://schemas.microsoft.com/office/powerpoint/2010/main" val="2920680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76278E-3FE2-DD3E-03E0-25C71BF28004}"/>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panose="020B0004020202020204" pitchFamily="34" charset="0"/>
              </a:rPr>
              <a:t>Eksplorasi awal model dan graf</a:t>
            </a:r>
          </a:p>
        </p:txBody>
      </p:sp>
      <p:sp>
        <p:nvSpPr>
          <p:cNvPr id="3" name="TextBox 2">
            <a:extLst>
              <a:ext uri="{FF2B5EF4-FFF2-40B4-BE49-F238E27FC236}">
                <a16:creationId xmlns:a16="http://schemas.microsoft.com/office/drawing/2014/main" id="{64F229D8-1811-2AC9-B2FB-D04D54A5119F}"/>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Sumber: model_evaluation_report.json, model_validation_comparison.csv dan laporan rute.</a:t>
            </a:r>
          </a:p>
        </p:txBody>
      </p:sp>
      <p:sp>
        <p:nvSpPr>
          <p:cNvPr id="4" name="TextBox 3">
            <a:extLst>
              <a:ext uri="{FF2B5EF4-FFF2-40B4-BE49-F238E27FC236}">
                <a16:creationId xmlns:a16="http://schemas.microsoft.com/office/drawing/2014/main" id="{3D61C087-8236-D4AC-98A4-904E1D739A84}"/>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08 / 09</a:t>
            </a:r>
          </a:p>
        </p:txBody>
      </p:sp>
      <p:graphicFrame>
        <p:nvGraphicFramePr>
          <p:cNvPr id="5" name="Table 4">
            <a:extLst>
              <a:ext uri="{FF2B5EF4-FFF2-40B4-BE49-F238E27FC236}">
                <a16:creationId xmlns:a16="http://schemas.microsoft.com/office/drawing/2014/main" id="{96B5B2B7-8854-3F09-738C-D33477FD3657}"/>
              </a:ext>
            </a:extLst>
          </p:cNvPr>
          <p:cNvGraphicFramePr>
            <a:graphicFrameLocks noGrp="1"/>
          </p:cNvGraphicFramePr>
          <p:nvPr>
            <p:extLst>
              <p:ext uri="{D42A27DB-BD31-4B8C-83A1-F6EECF244321}">
                <p14:modId xmlns:p14="http://schemas.microsoft.com/office/powerpoint/2010/main" val="210257772"/>
              </p:ext>
            </p:extLst>
          </p:nvPr>
        </p:nvGraphicFramePr>
        <p:xfrm>
          <a:off x="609600" y="1549400"/>
          <a:ext cx="10972800" cy="24765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904552582"/>
                    </a:ext>
                  </a:extLst>
                </a:gridCol>
                <a:gridCol w="2667000">
                  <a:extLst>
                    <a:ext uri="{9D8B030D-6E8A-4147-A177-3AD203B41FA5}">
                      <a16:colId xmlns:a16="http://schemas.microsoft.com/office/drawing/2014/main" val="2708229351"/>
                    </a:ext>
                  </a:extLst>
                </a:gridCol>
                <a:gridCol w="3124200">
                  <a:extLst>
                    <a:ext uri="{9D8B030D-6E8A-4147-A177-3AD203B41FA5}">
                      <a16:colId xmlns:a16="http://schemas.microsoft.com/office/drawing/2014/main" val="3590976833"/>
                    </a:ext>
                  </a:extLst>
                </a:gridCol>
              </a:tblGrid>
              <a:tr h="619125">
                <a:tc>
                  <a:txBody>
                    <a:bodyPr/>
                    <a:lstStyle/>
                    <a:p>
                      <a:r>
                        <a:rPr lang="fi-FI" sz="2000" b="1">
                          <a:solidFill>
                            <a:srgbClr val="FFFFFF"/>
                          </a:solidFill>
                          <a:latin typeface="Aptos" panose="020B0004020202020204" pitchFamily="34" charset="0"/>
                        </a:rPr>
                        <a:t>Test pada partisi yang sama</a:t>
                      </a:r>
                      <a:endParaRPr lang="en-ID" sz="2000" b="1">
                        <a:solidFill>
                          <a:srgbClr val="FFFFFF"/>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2000" b="1">
                          <a:solidFill>
                            <a:srgbClr val="FFFFFF"/>
                          </a:solidFill>
                          <a:latin typeface="Aptos" panose="020B0004020202020204" pitchFamily="34" charset="0"/>
                        </a:rPr>
                        <a:t>Ambang 0,5</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2000" b="1">
                          <a:solidFill>
                            <a:srgbClr val="FFFFFF"/>
                          </a:solidFill>
                          <a:latin typeface="Aptos" panose="020B0004020202020204" pitchFamily="34" charset="0"/>
                        </a:rPr>
                        <a:t>Ambang 0,099536</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567939281"/>
                  </a:ext>
                </a:extLst>
              </a:tr>
              <a:tr h="619125">
                <a:tc>
                  <a:txBody>
                    <a:bodyPr/>
                    <a:lstStyle/>
                    <a:p>
                      <a:r>
                        <a:rPr lang="en-ID" sz="2000" b="0">
                          <a:solidFill>
                            <a:srgbClr val="162338"/>
                          </a:solidFill>
                          <a:latin typeface="Aptos" panose="020B0004020202020204" pitchFamily="34" charset="0"/>
                        </a:rPr>
                        <a:t>Recall keterlambatan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0,00%</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45,41%</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770765986"/>
                  </a:ext>
                </a:extLst>
              </a:tr>
              <a:tr h="619125">
                <a:tc>
                  <a:txBody>
                    <a:bodyPr/>
                    <a:lstStyle/>
                    <a:p>
                      <a:r>
                        <a:rPr lang="en-ID" sz="2000" b="0">
                          <a:solidFill>
                            <a:srgbClr val="162338"/>
                          </a:solidFill>
                          <a:latin typeface="Aptos" panose="020B0004020202020204" pitchFamily="34" charset="0"/>
                        </a:rPr>
                        <a:t>Precision keterlambatan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0,00%</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14,47%</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322139011"/>
                  </a:ext>
                </a:extLst>
              </a:tr>
              <a:tr h="619125">
                <a:tc>
                  <a:txBody>
                    <a:bodyPr/>
                    <a:lstStyle/>
                    <a:p>
                      <a:r>
                        <a:rPr lang="en-ID" sz="2000" b="0">
                          <a:solidFill>
                            <a:srgbClr val="162338"/>
                          </a:solidFill>
                          <a:latin typeface="Aptos" panose="020B0004020202020204" pitchFamily="34" charset="0"/>
                        </a:rPr>
                        <a:t>False positive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0</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2000" b="0">
                          <a:solidFill>
                            <a:srgbClr val="162338"/>
                          </a:solidFill>
                          <a:latin typeface="Aptos" panose="020B0004020202020204" pitchFamily="34" charset="0"/>
                        </a:rPr>
                        <a:t>4.186</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660966169"/>
                  </a:ext>
                </a:extLst>
              </a:tr>
            </a:tbl>
          </a:graphicData>
        </a:graphic>
      </p:graphicFrame>
      <p:sp>
        <p:nvSpPr>
          <p:cNvPr id="6" name="TextBox 5">
            <a:extLst>
              <a:ext uri="{FF2B5EF4-FFF2-40B4-BE49-F238E27FC236}">
                <a16:creationId xmlns:a16="http://schemas.microsoft.com/office/drawing/2014/main" id="{AF7B0A04-2A95-2D03-A581-B778C76204B5}"/>
              </a:ext>
            </a:extLst>
          </p:cNvPr>
          <p:cNvSpPr txBox="1"/>
          <p:nvPr/>
        </p:nvSpPr>
        <p:spPr>
          <a:xfrm>
            <a:off x="609600" y="4254500"/>
            <a:ext cx="10972800" cy="276999"/>
          </a:xfrm>
          <a:prstGeom prst="rect">
            <a:avLst/>
          </a:prstGeom>
          <a:noFill/>
        </p:spPr>
        <p:txBody>
          <a:bodyPr vert="horz" wrap="square" lIns="0" tIns="0" rIns="0" bIns="0" rtlCol="0">
            <a:noAutofit/>
          </a:bodyPr>
          <a:lstStyle/>
          <a:p>
            <a:pPr>
              <a:spcAft>
                <a:spcPts val="700"/>
              </a:spcAft>
            </a:pPr>
            <a:r>
              <a:rPr lang="sv-SE" sz="2200">
                <a:solidFill>
                  <a:srgbClr val="162338"/>
                </a:solidFill>
                <a:latin typeface="Aptos" panose="020B0004020202020204" pitchFamily="34" charset="0"/>
              </a:rPr>
              <a:t>RF tanpa bobot menang berdasarkan validation F1.</a:t>
            </a:r>
            <a:endParaRPr lang="en-ID" sz="2200">
              <a:solidFill>
                <a:srgbClr val="162338"/>
              </a:solidFill>
              <a:latin typeface="Aptos" panose="020B0004020202020204" pitchFamily="34" charset="0"/>
            </a:endParaRPr>
          </a:p>
        </p:txBody>
      </p:sp>
      <p:sp>
        <p:nvSpPr>
          <p:cNvPr id="7" name="TextBox 6">
            <a:extLst>
              <a:ext uri="{FF2B5EF4-FFF2-40B4-BE49-F238E27FC236}">
                <a16:creationId xmlns:a16="http://schemas.microsoft.com/office/drawing/2014/main" id="{AEB529FE-477E-58DB-E3C9-FF5DCF081DAC}"/>
              </a:ext>
            </a:extLst>
          </p:cNvPr>
          <p:cNvSpPr txBox="1"/>
          <p:nvPr/>
        </p:nvSpPr>
        <p:spPr>
          <a:xfrm>
            <a:off x="609600" y="4876800"/>
            <a:ext cx="10972800" cy="276999"/>
          </a:xfrm>
          <a:prstGeom prst="rect">
            <a:avLst/>
          </a:prstGeom>
          <a:noFill/>
        </p:spPr>
        <p:txBody>
          <a:bodyPr vert="horz" wrap="square" lIns="0" tIns="0" rIns="0" bIns="0" rtlCol="0">
            <a:noAutofit/>
          </a:bodyPr>
          <a:lstStyle/>
          <a:p>
            <a:pPr>
              <a:spcAft>
                <a:spcPts val="700"/>
              </a:spcAft>
            </a:pPr>
            <a:r>
              <a:rPr lang="en-US" sz="2900" b="1">
                <a:solidFill>
                  <a:srgbClr val="007084"/>
                </a:solidFill>
                <a:latin typeface="Aptos" panose="020B0004020202020204" pitchFamily="34" charset="0"/>
              </a:rPr>
              <a:t>SP–RJ: 8.158 order, delay 15,49%</a:t>
            </a:r>
            <a:endParaRPr lang="en-ID" sz="2900" b="1">
              <a:solidFill>
                <a:srgbClr val="007084"/>
              </a:solidFill>
              <a:latin typeface="Aptos" panose="020B0004020202020204" pitchFamily="34" charset="0"/>
            </a:endParaRPr>
          </a:p>
        </p:txBody>
      </p:sp>
      <p:sp>
        <p:nvSpPr>
          <p:cNvPr id="8" name="TextBox 7">
            <a:extLst>
              <a:ext uri="{FF2B5EF4-FFF2-40B4-BE49-F238E27FC236}">
                <a16:creationId xmlns:a16="http://schemas.microsoft.com/office/drawing/2014/main" id="{2391997F-F27F-A0E5-4EA5-5492079282F6}"/>
              </a:ext>
            </a:extLst>
          </p:cNvPr>
          <p:cNvSpPr txBox="1"/>
          <p:nvPr/>
        </p:nvSpPr>
        <p:spPr>
          <a:xfrm>
            <a:off x="609600" y="5626100"/>
            <a:ext cx="10972800" cy="276999"/>
          </a:xfrm>
          <a:prstGeom prst="rect">
            <a:avLst/>
          </a:prstGeom>
          <a:noFill/>
        </p:spPr>
        <p:txBody>
          <a:bodyPr vert="horz" wrap="square" lIns="0" tIns="0" rIns="0" bIns="0" rtlCol="0">
            <a:noAutofit/>
          </a:bodyPr>
          <a:lstStyle/>
          <a:p>
            <a:pPr>
              <a:spcAft>
                <a:spcPts val="700"/>
              </a:spcAft>
            </a:pPr>
            <a:r>
              <a:rPr lang="en-ID" sz="1700">
                <a:solidFill>
                  <a:srgbClr val="5D6675"/>
                </a:solidFill>
                <a:latin typeface="Aptos" panose="020B0004020202020204" pitchFamily="34" charset="0"/>
              </a:rPr>
              <a:t>Model sebagai sinyal peninjauan. Graf mencatat asal–tujuan.</a:t>
            </a:r>
          </a:p>
          <a:p>
            <a:pPr>
              <a:spcAft>
                <a:spcPts val="700"/>
              </a:spcAft>
            </a:pPr>
            <a:r>
              <a:rPr lang="en-ID" sz="1700">
                <a:solidFill>
                  <a:srgbClr val="5D6675"/>
                </a:solidFill>
                <a:latin typeface="Aptos" panose="020B0004020202020204" pitchFamily="34" charset="0"/>
              </a:rPr>
              <a:t>Validasi temporal dan biaya intervensi menjadi pekerjaan berikutnya.</a:t>
            </a:r>
          </a:p>
        </p:txBody>
      </p:sp>
    </p:spTree>
    <p:extLst>
      <p:ext uri="{BB962C8B-B14F-4D97-AF65-F5344CB8AC3E}">
        <p14:creationId xmlns:p14="http://schemas.microsoft.com/office/powerpoint/2010/main" val="3549448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9B36D1-E88A-1039-9D0B-3A9C3D89667E}"/>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it-IT" sz="3200" b="1">
                <a:solidFill>
                  <a:srgbClr val="162338"/>
                </a:solidFill>
                <a:latin typeface="Aptos" panose="020B0004020202020204" pitchFamily="34" charset="0"/>
              </a:rPr>
              <a:t>Pemeriksaan hasil di VS Code</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80B75637-88CA-48CF-FA8C-758D9CA1604F}"/>
              </a:ext>
            </a:extLst>
          </p:cNvPr>
          <p:cNvSpPr txBox="1"/>
          <p:nvPr/>
        </p:nvSpPr>
        <p:spPr>
          <a:xfrm>
            <a:off x="609600" y="6324600"/>
            <a:ext cx="10160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Demo 07:00–09:00, lalu penutup 15 detik. Rekaman berlanjut dalam video yang sama.</a:t>
            </a:r>
          </a:p>
        </p:txBody>
      </p:sp>
      <p:sp>
        <p:nvSpPr>
          <p:cNvPr id="4" name="TextBox 3">
            <a:extLst>
              <a:ext uri="{FF2B5EF4-FFF2-40B4-BE49-F238E27FC236}">
                <a16:creationId xmlns:a16="http://schemas.microsoft.com/office/drawing/2014/main" id="{B2E7B2A3-C7CE-19A8-28EE-2B6EE828C87B}"/>
              </a:ext>
            </a:extLst>
          </p:cNvPr>
          <p:cNvSpPr txBox="1"/>
          <p:nvPr/>
        </p:nvSpPr>
        <p:spPr>
          <a:xfrm>
            <a:off x="10909300" y="6324600"/>
            <a:ext cx="762000" cy="276999"/>
          </a:xfrm>
          <a:prstGeom prst="rect">
            <a:avLst/>
          </a:prstGeom>
          <a:noFill/>
        </p:spPr>
        <p:txBody>
          <a:bodyPr vert="horz" wrap="square" lIns="0" tIns="0" rIns="0" bIns="0" rtlCol="0">
            <a:noAutofit/>
          </a:bodyPr>
          <a:lstStyle/>
          <a:p>
            <a:pPr>
              <a:spcAft>
                <a:spcPts val="700"/>
              </a:spcAft>
            </a:pPr>
            <a:r>
              <a:rPr lang="en-ID" sz="1100">
                <a:solidFill>
                  <a:srgbClr val="5D6675"/>
                </a:solidFill>
                <a:latin typeface="Aptos" panose="020B0004020202020204" pitchFamily="34" charset="0"/>
              </a:rPr>
              <a:t>09 / 09</a:t>
            </a:r>
          </a:p>
        </p:txBody>
      </p:sp>
      <p:sp>
        <p:nvSpPr>
          <p:cNvPr id="5" name="TextBox 4">
            <a:extLst>
              <a:ext uri="{FF2B5EF4-FFF2-40B4-BE49-F238E27FC236}">
                <a16:creationId xmlns:a16="http://schemas.microsoft.com/office/drawing/2014/main" id="{7BB25001-2235-01CF-2EBC-2551CC8A3150}"/>
              </a:ext>
            </a:extLst>
          </p:cNvPr>
          <p:cNvSpPr txBox="1"/>
          <p:nvPr/>
        </p:nvSpPr>
        <p:spPr>
          <a:xfrm>
            <a:off x="609600" y="1549400"/>
            <a:ext cx="10972800" cy="276999"/>
          </a:xfrm>
          <a:prstGeom prst="rect">
            <a:avLst/>
          </a:prstGeom>
          <a:noFill/>
        </p:spPr>
        <p:txBody>
          <a:bodyPr vert="horz" wrap="square" lIns="0" tIns="0" rIns="0" bIns="0" rtlCol="0">
            <a:noAutofit/>
          </a:bodyPr>
          <a:lstStyle/>
          <a:p>
            <a:pPr>
              <a:spcAft>
                <a:spcPts val="700"/>
              </a:spcAft>
            </a:pPr>
            <a:r>
              <a:rPr lang="en-ID" sz="3400" b="1">
                <a:solidFill>
                  <a:srgbClr val="007084"/>
                </a:solidFill>
                <a:latin typeface="Aptos" panose="020B0004020202020204" pitchFamily="34" charset="0"/>
              </a:rPr>
              <a:t>Live demo 2 menit</a:t>
            </a:r>
          </a:p>
        </p:txBody>
      </p:sp>
      <p:graphicFrame>
        <p:nvGraphicFramePr>
          <p:cNvPr id="6" name="Table 5">
            <a:extLst>
              <a:ext uri="{FF2B5EF4-FFF2-40B4-BE49-F238E27FC236}">
                <a16:creationId xmlns:a16="http://schemas.microsoft.com/office/drawing/2014/main" id="{6C9C1DD3-C1FC-83B9-C0DF-54BD08499D5A}"/>
              </a:ext>
            </a:extLst>
          </p:cNvPr>
          <p:cNvGraphicFramePr>
            <a:graphicFrameLocks noGrp="1"/>
          </p:cNvGraphicFramePr>
          <p:nvPr>
            <p:extLst>
              <p:ext uri="{D42A27DB-BD31-4B8C-83A1-F6EECF244321}">
                <p14:modId xmlns:p14="http://schemas.microsoft.com/office/powerpoint/2010/main" val="4276388970"/>
              </p:ext>
            </p:extLst>
          </p:nvPr>
        </p:nvGraphicFramePr>
        <p:xfrm>
          <a:off x="609600" y="2527300"/>
          <a:ext cx="10972800" cy="2755900"/>
        </p:xfrm>
        <a:graphic>
          <a:graphicData uri="http://schemas.openxmlformats.org/drawingml/2006/table">
            <a:tbl>
              <a:tblPr firstRow="1" bandRow="1">
                <a:tableStyleId>{5C22544A-7EE6-4342-B048-85BDC9FD1C3A}</a:tableStyleId>
              </a:tblPr>
              <a:tblGrid>
                <a:gridCol w="1917700">
                  <a:extLst>
                    <a:ext uri="{9D8B030D-6E8A-4147-A177-3AD203B41FA5}">
                      <a16:colId xmlns:a16="http://schemas.microsoft.com/office/drawing/2014/main" val="1045841180"/>
                    </a:ext>
                  </a:extLst>
                </a:gridCol>
                <a:gridCol w="3365500">
                  <a:extLst>
                    <a:ext uri="{9D8B030D-6E8A-4147-A177-3AD203B41FA5}">
                      <a16:colId xmlns:a16="http://schemas.microsoft.com/office/drawing/2014/main" val="475960765"/>
                    </a:ext>
                  </a:extLst>
                </a:gridCol>
                <a:gridCol w="5689600">
                  <a:extLst>
                    <a:ext uri="{9D8B030D-6E8A-4147-A177-3AD203B41FA5}">
                      <a16:colId xmlns:a16="http://schemas.microsoft.com/office/drawing/2014/main" val="916488319"/>
                    </a:ext>
                  </a:extLst>
                </a:gridCol>
              </a:tblGrid>
              <a:tr h="688975">
                <a:tc>
                  <a:txBody>
                    <a:bodyPr/>
                    <a:lstStyle/>
                    <a:p>
                      <a:r>
                        <a:rPr lang="en-ID" sz="1700" b="1">
                          <a:solidFill>
                            <a:srgbClr val="FFFFFF"/>
                          </a:solidFill>
                          <a:latin typeface="Aptos" panose="020B0004020202020204" pitchFamily="34" charset="0"/>
                        </a:rPr>
                        <a:t>Waktu</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700" b="1">
                          <a:solidFill>
                            <a:srgbClr val="FFFFFF"/>
                          </a:solidFill>
                          <a:latin typeface="Aptos" panose="020B0004020202020204" pitchFamily="34" charset="0"/>
                        </a:rPr>
                        <a:t>Pemeriksaan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a:lstStyle/>
                    <a:p>
                      <a:r>
                        <a:rPr lang="en-ID" sz="1700" b="1">
                          <a:solidFill>
                            <a:srgbClr val="FFFFFF"/>
                          </a:solidFill>
                          <a:latin typeface="Aptos" panose="020B0004020202020204" pitchFamily="34" charset="0"/>
                        </a:rPr>
                        <a:t>Perintah dari root proyek</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1804476158"/>
                  </a:ext>
                </a:extLst>
              </a:tr>
              <a:tr h="688975">
                <a:tc>
                  <a:txBody>
                    <a:bodyPr/>
                    <a:lstStyle/>
                    <a:p>
                      <a:r>
                        <a:rPr lang="en-ID" sz="1700" b="0">
                          <a:solidFill>
                            <a:srgbClr val="162338"/>
                          </a:solidFill>
                          <a:latin typeface="Aptos" panose="020B0004020202020204" pitchFamily="34" charset="0"/>
                        </a:rPr>
                        <a:t>07:00–07:30</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700" b="0">
                          <a:solidFill>
                            <a:srgbClr val="162338"/>
                          </a:solidFill>
                          <a:latin typeface="Aptos" panose="020B0004020202020204" pitchFamily="34" charset="0"/>
                        </a:rPr>
                        <a:t>Ingestion dan storage</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700" b="0">
                          <a:solidFill>
                            <a:srgbClr val="162338"/>
                          </a:solidFill>
                          <a:latin typeface="Aptos" panose="020B0004020202020204" pitchFamily="34" charset="0"/>
                        </a:rPr>
                        <a:t>python demo_assignment1.py --section ingestion</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699882181"/>
                  </a:ext>
                </a:extLst>
              </a:tr>
              <a:tr h="688975">
                <a:tc>
                  <a:txBody>
                    <a:bodyPr/>
                    <a:lstStyle/>
                    <a:p>
                      <a:r>
                        <a:rPr lang="en-ID" sz="1700" b="0">
                          <a:solidFill>
                            <a:srgbClr val="162338"/>
                          </a:solidFill>
                          <a:latin typeface="Aptos" panose="020B0004020202020204" pitchFamily="34" charset="0"/>
                        </a:rPr>
                        <a:t>07:30–08:20</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700" b="0">
                          <a:solidFill>
                            <a:srgbClr val="162338"/>
                          </a:solidFill>
                          <a:latin typeface="Aptos" panose="020B0004020202020204" pitchFamily="34" charset="0"/>
                        </a:rPr>
                        <a:t>Ambang dan metrik test</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US" sz="1700" b="0">
                          <a:solidFill>
                            <a:srgbClr val="162338"/>
                          </a:solidFill>
                          <a:latin typeface="Aptos" panose="020B0004020202020204" pitchFamily="34" charset="0"/>
                        </a:rPr>
                        <a:t>python demo_assignment1.py --section model</a:t>
                      </a:r>
                      <a:endParaRPr lang="en-ID" sz="17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216513159"/>
                  </a:ext>
                </a:extLst>
              </a:tr>
              <a:tr h="688975">
                <a:tc>
                  <a:txBody>
                    <a:bodyPr/>
                    <a:lstStyle/>
                    <a:p>
                      <a:r>
                        <a:rPr lang="en-ID" sz="1700" b="0">
                          <a:solidFill>
                            <a:srgbClr val="162338"/>
                          </a:solidFill>
                          <a:latin typeface="Aptos" panose="020B0004020202020204" pitchFamily="34" charset="0"/>
                        </a:rPr>
                        <a:t>08:20–09:00</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nl-NL" sz="1700" b="0">
                          <a:solidFill>
                            <a:srgbClr val="162338"/>
                          </a:solidFill>
                          <a:latin typeface="Aptos" panose="020B0004020202020204" pitchFamily="34" charset="0"/>
                        </a:rPr>
                        <a:t>Populasi graf dan SP–RJ</a:t>
                      </a:r>
                      <a:endParaRPr lang="en-ID" sz="1700" b="0">
                        <a:solidFill>
                          <a:srgbClr val="162338"/>
                        </a:solidFill>
                        <a:latin typeface="Aptos" panose="020B0004020202020204" pitchFamily="34" charset="0"/>
                      </a:endParaRP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a:lstStyle/>
                    <a:p>
                      <a:r>
                        <a:rPr lang="en-ID" sz="1700" b="0">
                          <a:solidFill>
                            <a:srgbClr val="162338"/>
                          </a:solidFill>
                          <a:latin typeface="Aptos" panose="020B0004020202020204" pitchFamily="34" charset="0"/>
                        </a:rPr>
                        <a:t>python demo_assignment1.py --section graph</a:t>
                      </a:r>
                    </a:p>
                  </a:txBody>
                  <a:tcPr marL="152400" marR="152400" marT="101600" marB="88900"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4227446722"/>
                  </a:ext>
                </a:extLst>
              </a:tr>
            </a:tbl>
          </a:graphicData>
        </a:graphic>
      </p:graphicFrame>
      <p:sp>
        <p:nvSpPr>
          <p:cNvPr id="7" name="TextBox 6">
            <a:extLst>
              <a:ext uri="{FF2B5EF4-FFF2-40B4-BE49-F238E27FC236}">
                <a16:creationId xmlns:a16="http://schemas.microsoft.com/office/drawing/2014/main" id="{25A3A2CC-4731-CB4B-3974-7B69A4573437}"/>
              </a:ext>
            </a:extLst>
          </p:cNvPr>
          <p:cNvSpPr txBox="1"/>
          <p:nvPr/>
        </p:nvSpPr>
        <p:spPr>
          <a:xfrm>
            <a:off x="609600" y="5588000"/>
            <a:ext cx="10972800" cy="276999"/>
          </a:xfrm>
          <a:prstGeom prst="rect">
            <a:avLst/>
          </a:prstGeom>
          <a:noFill/>
        </p:spPr>
        <p:txBody>
          <a:bodyPr vert="horz" wrap="square" lIns="0" tIns="0" rIns="0" bIns="0" rtlCol="0">
            <a:noAutofit/>
          </a:bodyPr>
          <a:lstStyle/>
          <a:p>
            <a:pPr>
              <a:spcAft>
                <a:spcPts val="700"/>
              </a:spcAft>
            </a:pPr>
            <a:r>
              <a:rPr lang="en-ID" sz="2100">
                <a:solidFill>
                  <a:srgbClr val="5D6675"/>
                </a:solidFill>
                <a:latin typeface="Aptos" panose="020B0004020202020204" pitchFamily="34" charset="0"/>
              </a:rPr>
              <a:t>Pemeriksaan read-only atas laporan tersimpan.</a:t>
            </a:r>
          </a:p>
          <a:p>
            <a:pPr>
              <a:spcAft>
                <a:spcPts val="700"/>
              </a:spcAft>
            </a:pPr>
            <a:r>
              <a:rPr lang="en-ID" sz="2100">
                <a:solidFill>
                  <a:srgbClr val="5D6675"/>
                </a:solidFill>
                <a:latin typeface="Aptos" panose="020B0004020202020204" pitchFamily="34" charset="0"/>
              </a:rPr>
              <a:t>Pipeline penuh telah dijalankan sebelumnya.</a:t>
            </a:r>
          </a:p>
        </p:txBody>
      </p:sp>
    </p:spTree>
    <p:extLst>
      <p:ext uri="{BB962C8B-B14F-4D97-AF65-F5344CB8AC3E}">
        <p14:creationId xmlns:p14="http://schemas.microsoft.com/office/powerpoint/2010/main" val="1329228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2074</Words>
  <Application>Microsoft Office PowerPoint</Application>
  <PresentationFormat>Custom</PresentationFormat>
  <Paragraphs>207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Yanlis Alim Sang Putra Lase</dc:creator>
  <cp:lastModifiedBy>Yanlis Alim Sang Putra Lase</cp:lastModifiedBy>
  <cp:revision>1</cp:revision>
  <dcterms:created xsi:type="dcterms:W3CDTF">2026-09-28T09:39:41Z</dcterms:created>
  <dcterms:modified xsi:type="dcterms:W3CDTF">2026-09-28T09:39:41Z</dcterms:modified>
</cp:coreProperties>
</file>