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00A3F7-9C9B-4365-BF1C-04E274B9F51D}" type="datetimeFigureOut">
              <a:rPr lang="en-ID" smtClean="0"/>
              <a:t>29/09/2026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90F9F-22B3-49BC-BB75-1A03D2176C3A}" type="slidenum">
              <a:rPr lang="en-ID" smtClean="0"/>
              <a:t>‹#›</a:t>
            </a:fld>
            <a:endParaRPr lang="en-ID"/>
          </a:p>
        </p:txBody>
      </p:sp>
    </p:spTree>
    <p:extLst>
      <p:ext uri="{BB962C8B-B14F-4D97-AF65-F5344CB8AC3E}">
        <p14:creationId xmlns:p14="http://schemas.microsoft.com/office/powerpoint/2010/main" val="3318161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Halo, saya Yanlis Alim Sang Putra Lase. Kali ini saya akan menjelaskan proyek analitik keterlambatan pengiriman menggunakan data Olist.</a:t>
            </a:r>
          </a:p>
          <a:p/>
          <a:p>
            <a:r>
              <a:t>Alurnya dimulai dari masalah yang ingin saya pahami, cara saya menyiapkan datanya, lalu hasil analisisnya. Jadi, selain menunjukkan angka, saya juga akan menjelaskan kenapa saya memilih cara kerja dan teknologi tersebut.</a:t>
            </a:r>
          </a:p>
          <a:p/>
          <a:p>
            <a:r>
              <a:t>------------------------------</a:t>
            </a:r>
          </a:p>
          <a:p>
            <a:r>
              <a:t>Referensi (tidak perlu dibacakan):</a:t>
            </a:r>
          </a:p>
          <a:p>
            <a:r>
              <a:t>COMP8035041, Assignment I. Dataset Olist 2016–2018.</a:t>
            </a:r>
          </a:p>
          <a:p/>
          <a:p>
            <a:r>
              <a:t>Target waktu: 00:00–00:25</a:t>
            </a:r>
          </a:p>
        </p:txBody>
      </p:sp>
      <p:sp>
        <p:nvSpPr>
          <p:cNvPr id="4" name="Slide Number Placeholder 3"/>
          <p:cNvSpPr>
            <a:spLocks noGrp="1"/>
          </p:cNvSpPr>
          <p:nvPr>
            <p:ph type="sldNum" sz="quarter" idx="5"/>
          </p:nvPr>
        </p:nvSpPr>
        <p:spPr/>
        <p:txBody>
          <a:bodyPr/>
          <a:lstStyle/>
          <a:p>
            <a:fld id="{11890F9F-22B3-49BC-BB75-1A03D2176C3A}" type="slidenum">
              <a:rPr lang="en-ID" smtClean="0"/>
              <a:t>1</a:t>
            </a:fld>
            <a:endParaRPr lang="en-ID"/>
          </a:p>
        </p:txBody>
      </p:sp>
    </p:spTree>
    <p:extLst>
      <p:ext uri="{BB962C8B-B14F-4D97-AF65-F5344CB8AC3E}">
        <p14:creationId xmlns:p14="http://schemas.microsoft.com/office/powerpoint/2010/main" val="3153179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Saya mulai dari datanya dulu. Olist merupakan data transaksi e-commerce di Brasil, dengan periode transaksi tahun 2016 sampai 2018. Informasinya tersebar di sembilan tabel. Misalnya, data pesanan ada di tabel order, rincian barang ada di tabel item, dan penilaian pelanggan ada di tabel review.</a:t>
            </a:r>
          </a:p>
          <a:p/>
          <a:p>
            <a:r>
              <a:t>Masalah yang saya fokuskan adalah pengiriman terlambat. Di sini, terlambat berarti waktu penerimaan aktual melewati waktu estimasi. Jadi, saya memakai perbandingan timestamp, bukan sekadar selisih hari.</a:t>
            </a:r>
          </a:p>
          <a:p/>
          <a:p>
            <a:r>
              <a:t>Dari sekitar 96 ribu order dengan tanggal yang valid, ada 7.826 order terlambat, atau 8,11 persen. Rata-rata review kelompok tepat waktu sekitar 4,29, sedangkan kelompok terlambat sekitar 2,57.</a:t>
            </a:r>
          </a:p>
          <a:p/>
          <a:p>
            <a:r>
              <a:t>Angka ini menjadi titik awal atau baseline saya. Ada hubungan yang perlu diperhatikan, tetapi belum bisa disimpulkan bahwa keterlambatan merupakan satu-satunya penyebab review rendah.</a:t>
            </a:r>
          </a:p>
          <a:p/>
          <a:p>
            <a:r>
              <a:t>------------------------------</a:t>
            </a:r>
          </a:p>
          <a:p>
            <a:r>
              <a:t>Referensi (tidak perlu dibacakan):</a:t>
            </a:r>
          </a:p>
          <a:p>
            <a:r>
              <a:t>Laporan Bab 1; outputs_ml_graph/feature_preparation_audit.json; notebook 02 untuk review per order.</a:t>
            </a:r>
          </a:p>
          <a:p/>
          <a:p>
            <a:r>
              <a:t>Target waktu: 00:25–01:20</a:t>
            </a:r>
          </a:p>
        </p:txBody>
      </p:sp>
      <p:sp>
        <p:nvSpPr>
          <p:cNvPr id="4" name="Slide Number Placeholder 3"/>
          <p:cNvSpPr>
            <a:spLocks noGrp="1"/>
          </p:cNvSpPr>
          <p:nvPr>
            <p:ph type="sldNum" sz="quarter" idx="5"/>
          </p:nvPr>
        </p:nvSpPr>
        <p:spPr/>
        <p:txBody>
          <a:bodyPr/>
          <a:lstStyle/>
          <a:p>
            <a:fld id="{11890F9F-22B3-49BC-BB75-1A03D2176C3A}" type="slidenum">
              <a:rPr lang="en-ID" smtClean="0"/>
              <a:t>2</a:t>
            </a:fld>
            <a:endParaRPr lang="en-ID"/>
          </a:p>
        </p:txBody>
      </p:sp>
    </p:spTree>
    <p:extLst>
      <p:ext uri="{BB962C8B-B14F-4D97-AF65-F5344CB8AC3E}">
        <p14:creationId xmlns:p14="http://schemas.microsoft.com/office/powerpoint/2010/main" val="1507344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Dari masalah tadi, saya ingin membuat data transaksi ini lebih mudah dipakai untuk meninjau keterlambatan. Jadi, pekerjaan saya bukan berhenti pada menghitung berapa order yang terlambat, tetapi juga menyiapkan dasar untuk menentukan bagian mana yang perlu diperiksa.</a:t>
            </a:r>
          </a:p>
          <a:p/>
          <a:p>
            <a:r>
              <a:t>Contohnya, tim Logistics bisa melihat rute dengan keterlambatan tinggi. Tim Merchant Performance bisa meninjau order yang ditandai berisiko setelah approval. Sementara itu, manajemen bisa memakai ringkasan hasil untuk memantau kondisi keseluruhan.</a:t>
            </a:r>
          </a:p>
          <a:p/>
          <a:p>
            <a:r>
              <a:t>Untuk Assignment I, fokus utamanya adalah rancangan solusi dan persiapan data. Model dan graf menjadi eksplorasi tambahan. Jadi, hasil saat ini membantu menyusun prioritas investigasi. Penurunan keterlambatan yang sebenarnya baru bisa dibuktikan setelah ada tindakan dan evaluasi dampaknya.</a:t>
            </a:r>
          </a:p>
          <a:p/>
          <a:p>
            <a:r>
              <a:t>------------------------------</a:t>
            </a:r>
          </a:p>
          <a:p>
            <a:r>
              <a:t>Referensi (tidak perlu dibacakan):</a:t>
            </a:r>
          </a:p>
          <a:p>
            <a:r>
              <a:t>Laporan Bab 1 dan 2; lingkup Assignment I pada instruksi tugas lokal.</a:t>
            </a:r>
          </a:p>
          <a:p/>
          <a:p>
            <a:r>
              <a:t>Target waktu: 01:20–02:05</a:t>
            </a:r>
          </a:p>
        </p:txBody>
      </p:sp>
      <p:sp>
        <p:nvSpPr>
          <p:cNvPr id="4" name="Slide Number Placeholder 3"/>
          <p:cNvSpPr>
            <a:spLocks noGrp="1"/>
          </p:cNvSpPr>
          <p:nvPr>
            <p:ph type="sldNum" sz="quarter" idx="5"/>
          </p:nvPr>
        </p:nvSpPr>
        <p:spPr/>
        <p:txBody>
          <a:bodyPr/>
          <a:lstStyle/>
          <a:p>
            <a:fld id="{11890F9F-22B3-49BC-BB75-1A03D2176C3A}" type="slidenum">
              <a:rPr lang="en-ID" smtClean="0"/>
              <a:t>3</a:t>
            </a:fld>
            <a:endParaRPr lang="en-ID"/>
          </a:p>
        </p:txBody>
      </p:sp>
    </p:spTree>
    <p:extLst>
      <p:ext uri="{BB962C8B-B14F-4D97-AF65-F5344CB8AC3E}">
        <p14:creationId xmlns:p14="http://schemas.microsoft.com/office/powerpoint/2010/main" val="2125288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 sini saya ingin memperjelas dari mana angka keterlambatan tadi berasal. Grafik kiri mencakup semua 99.441 order; sebagian besar, yaitu 96.478, berstatus delivered. Sumbu jumlah memakai skala log agar status yang jumlahnya kecil masih terlihat. Status lain seperti canceled dan shipped tetap ada di data, tetapi tidak ikut dihitung dalam delay rate.</a:t>
            </a:r>
          </a:p>
          <a:p/>
          <a:p>
            <a:r>
              <a:t>Ada delapan order delivered tanpa tanggal penerimaan aktual. Setelah delapan itu dikeluarkan, tersisa 96.470 order yang bisa dibandingkan dengan tanggal estimasi. Dari populasi inilah 7.826 order, atau 8,11 persen, tercatat terlambat. Jadi, dua grafik ini memakai denominator berbeda. Saya perlu menyebutkannya supaya angka 8,11 persen tidak disalahartikan sebagai persentase dari seluruh order.</a:t>
            </a:r>
          </a:p>
          <a:p/>
          <a:p>
            <a:r>
              <a:t>------------------------------</a:t>
            </a:r>
          </a:p>
          <a:p>
            <a:r>
              <a:t>Referensi (tidak perlu dibacakan):</a:t>
            </a:r>
          </a:p>
          <a:p>
            <a:r>
              <a:t>outputs_ml_graph/eda_order_status.csv; outputs_ml_graph/eda_quality_profile.json; laporan Tabel 4.5.</a:t>
            </a:r>
          </a:p>
          <a:p/>
          <a:p>
            <a:r>
              <a:t>Target waktu: 02:05–02:50</a:t>
            </a:r>
          </a:p>
        </p:txBody>
      </p:sp>
      <p:sp>
        <p:nvSpPr>
          <p:cNvPr id="4" name="Slide Number Placeholder 3"/>
          <p:cNvSpPr>
            <a:spLocks noGrp="1"/>
          </p:cNvSpPr>
          <p:nvPr>
            <p:ph type="sldNum" sz="quarter" idx="5"/>
          </p:nvPr>
        </p:nvSpPr>
        <p:spPr/>
        <p:txBody>
          <a:bodyPr/>
          <a:lstStyle/>
          <a:p>
            <a:fld id="{11890F9F-22B3-49BC-BB75-1A03D2176C3A}" type="slidenum">
              <a:rPr lang="en-ID" smtClean="0"/>
              <a:t>4</a:t>
            </a:fld>
            <a:endParaRPr lang="en-ID"/>
          </a:p>
        </p:txBody>
      </p:sp>
    </p:spTree>
    <p:extLst>
      <p:ext uri="{BB962C8B-B14F-4D97-AF65-F5344CB8AC3E}">
        <p14:creationId xmlns:p14="http://schemas.microsoft.com/office/powerpoint/2010/main" val="2573701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Untuk mengerjakan proyek ini, saya memakai Python, dengan VS Code sebagai editor. Jupyter Notebook membantu saya menyusun proses per langkah, sehingga kode dan hasilnya bisa dilihat bersama.</a:t>
            </a:r>
          </a:p>
          <a:p/>
          <a:p>
            <a:r>
              <a:t>Pengolahan tabel menggunakan PySpark. Java 17 dibutuhkan agar Spark dapat berjalan. Alasan saya memakai Spark adalah pembelajaran sekaligus menyatukan pengolahan data dan model dalam satu framework. Untuk ukuran data sekitar 120 MiB, pandas sebenarnya masih cukup. Spark saya jalankan di satu komputer, jadi skalabilitas cluster belum saya uji.</a:t>
            </a:r>
          </a:p>
          <a:p/>
          <a:p>
            <a:r>
              <a:t>Hasil tabel disimpan sebagai Parquet dengan kompresi Snappy. Parquet menyimpan data per kolom dan mempertahankan tipe data, sedangkan Snappy membantu mengecilkan ukuran file.</a:t>
            </a:r>
          </a:p>
          <a:p/>
          <a:p>
            <a:r>
              <a:t>Untuk model, saya memakai Random Forest dari MLlib, yaitu gabungan banyak pohon keputusan. Untuk graf, saya memakai pandas dan NetworkX karena jaringan state ini masih kecil. NumPy dan SciPy membantu perhitungan evaluasi numerik.</a:t>
            </a:r>
          </a:p>
          <a:p/>
          <a:p>
            <a:r>
              <a:t>Git dan GitHub mencatat versi kode, laporan, serta ringkasan hasil. Jadi, kalau melanjutkan pekerjaan di perangkat lain, saya punya versi proyek yang jelas.</a:t>
            </a:r>
          </a:p>
          <a:p/>
          <a:p>
            <a:r>
              <a:t>------------------------------</a:t>
            </a:r>
          </a:p>
          <a:p>
            <a:r>
              <a:t>Referensi (tidak perlu dibacakan):</a:t>
            </a:r>
          </a:p>
          <a:p>
            <a:r>
              <a:t>requirements.txt; notebooks/README.md; docs/runtime-prerequisites.md; laporan bagian 2.4.</a:t>
            </a:r>
          </a:p>
          <a:p/>
          <a:p>
            <a:r>
              <a:t>Target waktu: 02:50–04:00</a:t>
            </a:r>
          </a:p>
        </p:txBody>
      </p:sp>
      <p:sp>
        <p:nvSpPr>
          <p:cNvPr id="4" name="Slide Number Placeholder 3"/>
          <p:cNvSpPr>
            <a:spLocks noGrp="1"/>
          </p:cNvSpPr>
          <p:nvPr>
            <p:ph type="sldNum" sz="quarter" idx="5"/>
          </p:nvPr>
        </p:nvSpPr>
        <p:spPr/>
        <p:txBody>
          <a:bodyPr/>
          <a:lstStyle/>
          <a:p>
            <a:fld id="{11890F9F-22B3-49BC-BB75-1A03D2176C3A}" type="slidenum">
              <a:rPr lang="en-ID" smtClean="0"/>
              <a:t>5</a:t>
            </a:fld>
            <a:endParaRPr lang="en-ID"/>
          </a:p>
        </p:txBody>
      </p:sp>
    </p:spTree>
    <p:extLst>
      <p:ext uri="{BB962C8B-B14F-4D97-AF65-F5344CB8AC3E}">
        <p14:creationId xmlns:p14="http://schemas.microsoft.com/office/powerpoint/2010/main" val="2530265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Diagram ini membedakan sistem yang sudah saya jalankan dari rancangan pengembangannya. Pada prototipe, sembilan CSV dibaca Spark dengan skema dan mode FAILFAST, divalidasi, lalu disimpan sebagai Parquet Snappy lokal. Skrip EDA dan notebook berikutnya membaca tabel tersebut. Semua ini berjalan di satu komputer dengan Spark local[4].</a:t>
            </a:r>
          </a:p>
          <a:p/>
          <a:p>
            <a:r>
              <a:t>Untuk skala enterprise, saya mengusulkan zona raw dan curated pada S3 atau HDFS, lalu pemrosesan pada cluster Spark. Tiga worker pada diagram hanya contoh titik awal, bukan kebutuhan kapasitas yang sudah terbukti. Jumlah worker, partisi waktu, biaya, dan kinerja masih harus diuji.</a:t>
            </a:r>
          </a:p>
          <a:p/>
          <a:p>
            <a:r>
              <a:t>Sebelum membuat fitur satu baris per order, saya juga merangkum item dan payment per order. Langkah itu mencegah angka terlipat akibat join pada dua tabel yang sama-sama punya banyak baris per order. Warehouse, NoSQL, dan graph database fisik belum dibangun.</a:t>
            </a:r>
          </a:p>
          <a:p/>
          <a:p>
            <a:r>
              <a:t>------------------------------</a:t>
            </a:r>
          </a:p>
          <a:p>
            <a:r>
              <a:t>Referensi (tidak perlu dibacakan):</a:t>
            </a:r>
          </a:p>
          <a:p>
            <a:r>
              <a:t>laporan Bab 2 dan 4; figures/fig0_enterprise_architecture.png; notebook 01–03.</a:t>
            </a:r>
          </a:p>
          <a:p/>
          <a:p>
            <a:r>
              <a:t>Target waktu: 04:00–05:00</a:t>
            </a:r>
          </a:p>
        </p:txBody>
      </p:sp>
      <p:sp>
        <p:nvSpPr>
          <p:cNvPr id="4" name="Slide Number Placeholder 3"/>
          <p:cNvSpPr>
            <a:spLocks noGrp="1"/>
          </p:cNvSpPr>
          <p:nvPr>
            <p:ph type="sldNum" sz="quarter" idx="5"/>
          </p:nvPr>
        </p:nvSpPr>
        <p:spPr/>
        <p:txBody>
          <a:bodyPr/>
          <a:lstStyle/>
          <a:p>
            <a:fld id="{11890F9F-22B3-49BC-BB75-1A03D2176C3A}" type="slidenum">
              <a:rPr lang="en-ID" smtClean="0"/>
              <a:t>6</a:t>
            </a:fld>
            <a:endParaRPr lang="en-ID"/>
          </a:p>
        </p:txBody>
      </p:sp>
    </p:spTree>
    <p:extLst>
      <p:ext uri="{BB962C8B-B14F-4D97-AF65-F5344CB8AC3E}">
        <p14:creationId xmlns:p14="http://schemas.microsoft.com/office/powerpoint/2010/main" val="135615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Sekarang masuk ke hasil ingestion. Dari pemeriksaan yang sudah saya jalankan, sembilan tabel menghasilkan PASS. Pada ringkasan, status round-trip semuanya True. Artinya, hasil pengecekan yang dicatat notebook, termasuk jumlah baris dan profil nilai kosong setelah proses baca-tulis, sudah sesuai.</a:t>
            </a:r>
          </a:p>
          <a:p/>
          <a:p>
            <a:r>
              <a:t>Ukuran seluruh CSV sekitar 120,34 MiB. Setelah menjadi Parquet, ukurannya sekitar 54,24 MiB. Jadi, penghematan storage mencapai 54,93 persen. Ini penghematan ruang penyimpanan; kecepatan kueri belum saya ukur.</a:t>
            </a:r>
          </a:p>
          <a:p/>
          <a:p>
            <a:r>
              <a:t>Data raw tetap saya simpan agar sumber awal bisa diperiksa lagi. Nilai kosong pada review dan duplikasi geolocation saya catat dalam profil kualitas data.</a:t>
            </a:r>
          </a:p>
          <a:p/>
          <a:p>
            <a:r>
              <a:t>Perlu dibedakan juga: demo membaca ringkasan hasil tersimpan. Pemeriksaan pembacaan dan konversi lengkap sudah dilakukan lewat notebook pertama sebelumnya.</a:t>
            </a:r>
          </a:p>
          <a:p/>
          <a:p>
            <a:r>
              <a:t>------------------------------</a:t>
            </a:r>
          </a:p>
          <a:p>
            <a:r>
              <a:t>Referensi (tidak perlu dibacakan):</a:t>
            </a:r>
          </a:p>
          <a:p>
            <a:r>
              <a:t>Hasil demo pengguna, bagian ingestion; outputs_ml_graph/ingestion_summary_report.csv dan ingestion_null_profile.json.</a:t>
            </a:r>
          </a:p>
          <a:p/>
          <a:p>
            <a:r>
              <a:t>Target waktu: 05:00–05:50</a:t>
            </a:r>
          </a:p>
        </p:txBody>
      </p:sp>
      <p:sp>
        <p:nvSpPr>
          <p:cNvPr id="4" name="Slide Number Placeholder 3"/>
          <p:cNvSpPr>
            <a:spLocks noGrp="1"/>
          </p:cNvSpPr>
          <p:nvPr>
            <p:ph type="sldNum" sz="quarter" idx="5"/>
          </p:nvPr>
        </p:nvSpPr>
        <p:spPr/>
        <p:txBody>
          <a:bodyPr/>
          <a:lstStyle/>
          <a:p>
            <a:fld id="{11890F9F-22B3-49BC-BB75-1A03D2176C3A}" type="slidenum">
              <a:rPr lang="en-ID" smtClean="0"/>
              <a:t>7</a:t>
            </a:fld>
            <a:endParaRPr lang="en-ID"/>
          </a:p>
        </p:txBody>
      </p:sp>
    </p:spTree>
    <p:extLst>
      <p:ext uri="{BB962C8B-B14F-4D97-AF65-F5344CB8AC3E}">
        <p14:creationId xmlns:p14="http://schemas.microsoft.com/office/powerpoint/2010/main" val="629175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Grafik ini menunjukkan bahwa nilai kosong paling banyak ada pada judul dan teks ulasan: masing-masing sekitar 88 dan 59 persen. Keduanya bersifat opsional, jadi saya tidak menghapus record hanya karena teks review tidak diisi. Sebaliknya, kolom kunci yang penting untuk perhitungan diuji null-nya, dan empat relasi order–customer, item–order, item–seller, serta item–product yang saya periksa tidak menghasilkan orphan.</a:t>
            </a:r>
          </a:p>
          <a:p/>
          <a:p>
            <a:r>
              <a:t>Untuk privasi, skrip EDA memakai token seller SHA-256 bersalt sementara di memori Spark, lalu hanya mengeluarkan agregat per state. Itu membantu membatasi ID pada output, tetapi bukan berarti dataset sudah anonim atau siap memenuhi seluruh kewajiban LGPD. Akses sesuai peran, retensi, enkripsi, dan pemeriksaan teks pribadi masih bagian dari rancangan deployment.</a:t>
            </a:r>
          </a:p>
          <a:p/>
          <a:p>
            <a:r>
              <a:t>------------------------------</a:t>
            </a:r>
          </a:p>
          <a:p>
            <a:r>
              <a:t>Referensi (tidak perlu dibacakan):</a:t>
            </a:r>
          </a:p>
          <a:p>
            <a:r>
              <a:t>outputs_ml_graph/eda_quality_profile.json; eda_assignment1.py; figures/fig4_null_profile_heatmap.png; laporan Bab 3–4.</a:t>
            </a:r>
          </a:p>
          <a:p/>
          <a:p>
            <a:r>
              <a:t>Target waktu: 05:50–06:35</a:t>
            </a:r>
          </a:p>
        </p:txBody>
      </p:sp>
      <p:sp>
        <p:nvSpPr>
          <p:cNvPr id="4" name="Slide Number Placeholder 3"/>
          <p:cNvSpPr>
            <a:spLocks noGrp="1"/>
          </p:cNvSpPr>
          <p:nvPr>
            <p:ph type="sldNum" sz="quarter" idx="5"/>
          </p:nvPr>
        </p:nvSpPr>
        <p:spPr/>
        <p:txBody>
          <a:bodyPr/>
          <a:lstStyle/>
          <a:p>
            <a:fld id="{11890F9F-22B3-49BC-BB75-1A03D2176C3A}" type="slidenum">
              <a:rPr lang="en-ID" smtClean="0"/>
              <a:t>8</a:t>
            </a:fld>
            <a:endParaRPr lang="en-ID"/>
          </a:p>
        </p:txBody>
      </p:sp>
    </p:spTree>
    <p:extLst>
      <p:ext uri="{BB962C8B-B14F-4D97-AF65-F5344CB8AC3E}">
        <p14:creationId xmlns:p14="http://schemas.microsoft.com/office/powerpoint/2010/main" val="3463055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Untuk model, tantangan utamanya adalah jumlah order terlambat jauh lebih sedikit. Kalau model selalu menjawab tepat waktu, accuracy bisa terlihat tinggi, tetapi tidak membantu menemukan keterlambatan.</a:t>
            </a:r>
          </a:p>
          <a:p/>
          <a:p>
            <a:r>
              <a:t>Saya membandingkan Random Forest tanpa bobot dengan versi yang memberi bobot lebih besar pada kelas terlambat. Data train dipakai untuk belajar, validation untuk memilih kandidat dan ambang, lalu test untuk evaluasi akhir. Jadi, test tidak dipakai untuk menentukan pilihan.</a:t>
            </a:r>
          </a:p>
          <a:p/>
          <a:p>
            <a:r>
              <a:t>Ambang adalah batas skor untuk menandai order berisiko. Berdasarkan F1 validation, kandidat tanpa bobot dipilih dengan ambang sekitar 0,10. Nilai tepatnya ada di slide. F1 menyeimbangkan precision dan recall.</a:t>
            </a:r>
          </a:p>
          <a:p/>
          <a:p>
            <a:r>
              <a:t>Pada test yang sama, recall naik dari nol menjadi 45,41 persen. Artinya, sekitar 45 dari 100 kasus terlambat berhasil ditemukan. Tetapi precision hanya 14,47 persen: dari 100 order yang ditandai, sekitar 14 benar-benar terlambat.</a:t>
            </a:r>
          </a:p>
          <a:p/>
          <a:p>
            <a:r>
              <a:t>Ada 4.186 false positive, yaitu order tepat waktu yang ikut ditandai. Jadi, hasil ini masih untuk peninjauan. Ambang tersebut berasal dari skor model yang belum dikalibrasi sebagai probabilitas.</a:t>
            </a:r>
          </a:p>
          <a:p/>
          <a:p>
            <a:r>
              <a:t>------------------------------</a:t>
            </a:r>
          </a:p>
          <a:p>
            <a:r>
              <a:t>Referensi (tidak perlu dibacakan):</a:t>
            </a:r>
          </a:p>
          <a:p>
            <a:r>
              <a:t>Hasil demo pengguna, bagian model; model_evaluation_report.json; model_validation_comparison.csv; model_confusion_matrix.csv.</a:t>
            </a:r>
          </a:p>
          <a:p/>
          <a:p>
            <a:r>
              <a:t>Target waktu: 06:35–07:55</a:t>
            </a:r>
          </a:p>
        </p:txBody>
      </p:sp>
      <p:sp>
        <p:nvSpPr>
          <p:cNvPr id="4" name="Slide Number Placeholder 3"/>
          <p:cNvSpPr>
            <a:spLocks noGrp="1"/>
          </p:cNvSpPr>
          <p:nvPr>
            <p:ph type="sldNum" sz="quarter" idx="5"/>
          </p:nvPr>
        </p:nvSpPr>
        <p:spPr/>
        <p:txBody>
          <a:bodyPr/>
          <a:lstStyle/>
          <a:p>
            <a:fld id="{11890F9F-22B3-49BC-BB75-1A03D2176C3A}" type="slidenum">
              <a:rPr lang="en-ID" smtClean="0"/>
              <a:t>9</a:t>
            </a:fld>
            <a:endParaRPr lang="en-ID"/>
          </a:p>
        </p:txBody>
      </p:sp>
    </p:spTree>
    <p:extLst>
      <p:ext uri="{BB962C8B-B14F-4D97-AF65-F5344CB8AC3E}">
        <p14:creationId xmlns:p14="http://schemas.microsoft.com/office/powerpoint/2010/main" val="519264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Grafik di kiri mengurutkan state tujuan customer berdasarkan delay rate. AL terlihat paling tinggi, 23,93 persen dari 397 order. Karena volumenya jauh lebih kecil daripada beberapa state lain, saya tidak boleh memilih prioritas hanya dari persentase itu.</a:t>
            </a:r>
          </a:p>
          <a:p/>
          <a:p>
            <a:r>
              <a:t>Analisis graf melihat hal yang berbeda: state asal primary seller menuju state tujuan customer. Dari agregat ini terbentuk 27 node dan 409 rute. Rute SP ke RJ memuat 8.158 order, dengan 15,49 persen terlambat, sehingga layak diperiksa karena persentase dan volumenya sama-sama berarti. Delay nasional untuk populasi berlabel adalah 8,11 persen.</a:t>
            </a:r>
          </a:p>
          <a:p/>
          <a:p>
            <a:r>
              <a:t>Graf ini hanya mencatat asal dan tujuan. Tidak ada informasi titik transit atau lokasi hub, jadi saya tidak mengklaim sudah menemukan penyebab fisik keterlambatan. Angka per state customer dan angka per rute juga punya grain berbeda; keduanya tidak dijumlahkan.</a:t>
            </a:r>
          </a:p>
          <a:p/>
          <a:p>
            <a:r>
              <a:t>------------------------------</a:t>
            </a:r>
          </a:p>
          <a:p>
            <a:r>
              <a:t>Referensi (tidak perlu dibacakan):</a:t>
            </a:r>
          </a:p>
          <a:p>
            <a:r>
              <a:t>outputs_ml_graph/eda_state_delay.csv; figures/fig3_top10_state_delay_rate.png; graph_preparation_audit.json; seller_customer_routes_report.csv.</a:t>
            </a:r>
          </a:p>
          <a:p/>
          <a:p>
            <a:r>
              <a:t>Target waktu: 07:55–08:50</a:t>
            </a:r>
          </a:p>
        </p:txBody>
      </p:sp>
      <p:sp>
        <p:nvSpPr>
          <p:cNvPr id="4" name="Slide Number Placeholder 3"/>
          <p:cNvSpPr>
            <a:spLocks noGrp="1"/>
          </p:cNvSpPr>
          <p:nvPr>
            <p:ph type="sldNum" sz="quarter" idx="5"/>
          </p:nvPr>
        </p:nvSpPr>
        <p:spPr/>
        <p:txBody>
          <a:bodyPr/>
          <a:lstStyle/>
          <a:p>
            <a:fld id="{11890F9F-22B3-49BC-BB75-1A03D2176C3A}" type="slidenum">
              <a:rPr lang="en-ID" smtClean="0"/>
              <a:t>10</a:t>
            </a:fld>
            <a:endParaRPr lang="en-ID"/>
          </a:p>
        </p:txBody>
      </p:sp>
    </p:spTree>
    <p:extLst>
      <p:ext uri="{BB962C8B-B14F-4D97-AF65-F5344CB8AC3E}">
        <p14:creationId xmlns:p14="http://schemas.microsoft.com/office/powerpoint/2010/main" val="69335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Dari seluruh proses tadi, ketiga pemeriksaan sudah berhasil: ingestion, model, dan graf. PASS di sini berarti hasil yang diperiksa konsisten, bukan berarti masalah keterlambatan sudah selesai.</a:t>
            </a:r>
          </a:p>
          <a:p/>
          <a:p>
            <a:r>
              <a:t>Hasil demo saya tampilkan sebagai pemeriksaan yang sudah dijalankan sebelumnya. Jadi, presentasi ini bisa dijelaskan sepenuhnya lewat PowerPoint.</a:t>
            </a:r>
          </a:p>
          <a:p/>
          <a:p>
            <a:r>
              <a:t>Kesimpulannya, proyek ini sudah menyediakan baseline, data bertipe yang bisa diaudit, dan rancangan analisis untuk meninjau risiko keterlambatan. Berikutnya, model perlu diuji pada periode berbeda dan dibandingkan dengan biaya intervensi. Kebutuhan dashboard juga perlu dibahas bersama pengguna.</a:t>
            </a:r>
          </a:p>
          <a:p/>
          <a:p>
            <a:r>
              <a:t>Dengan langkah itu, analisis bisa berkembang menjadi keputusan yang manfaatnya dapat diukur. Terima kasih.</a:t>
            </a:r>
          </a:p>
          <a:p/>
          <a:p>
            <a:r>
              <a:t>------------------------------</a:t>
            </a:r>
          </a:p>
          <a:p>
            <a:r>
              <a:t>Referensi (tidak perlu dibacakan):</a:t>
            </a:r>
          </a:p>
          <a:p>
            <a:r>
              <a:t>Hasil tiga perintah demo yang dibagikan pengguna; demo_assignment1.py; laporan batas implementasi.</a:t>
            </a:r>
          </a:p>
          <a:p/>
          <a:p>
            <a:r>
              <a:t>Target waktu: 08:50–09:30</a:t>
            </a:r>
          </a:p>
        </p:txBody>
      </p:sp>
      <p:sp>
        <p:nvSpPr>
          <p:cNvPr id="4" name="Slide Number Placeholder 3"/>
          <p:cNvSpPr>
            <a:spLocks noGrp="1"/>
          </p:cNvSpPr>
          <p:nvPr>
            <p:ph type="sldNum" sz="quarter" idx="5"/>
          </p:nvPr>
        </p:nvSpPr>
        <p:spPr/>
        <p:txBody>
          <a:bodyPr/>
          <a:lstStyle/>
          <a:p>
            <a:fld id="{11890F9F-22B3-49BC-BB75-1A03D2176C3A}" type="slidenum">
              <a:rPr lang="en-ID" smtClean="0"/>
              <a:t>11</a:t>
            </a:fld>
            <a:endParaRPr lang="en-ID"/>
          </a:p>
        </p:txBody>
      </p:sp>
    </p:spTree>
    <p:extLst>
      <p:ext uri="{BB962C8B-B14F-4D97-AF65-F5344CB8AC3E}">
        <p14:creationId xmlns:p14="http://schemas.microsoft.com/office/powerpoint/2010/main" val="1179775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835AE-FDCC-E110-795E-2B2E6ED3BAF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942161E2-A423-1F9B-BB00-D6F2007521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2067A864-631B-9478-C4CB-EAA812E748C6}"/>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5" name="Footer Placeholder 4">
            <a:extLst>
              <a:ext uri="{FF2B5EF4-FFF2-40B4-BE49-F238E27FC236}">
                <a16:creationId xmlns:a16="http://schemas.microsoft.com/office/drawing/2014/main" id="{F5045303-6C9D-1698-1B30-9510BB0F080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C6CDC1E-D4C7-B91E-DE8B-AD6B3DE5AC81}"/>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721419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B7B33-9B63-D649-6999-8E0DBD64741A}"/>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DFCEDE40-981B-C9E4-A493-6E994D6E03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5B403DA6-FFF6-1819-AA04-5172210C1596}"/>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5" name="Footer Placeholder 4">
            <a:extLst>
              <a:ext uri="{FF2B5EF4-FFF2-40B4-BE49-F238E27FC236}">
                <a16:creationId xmlns:a16="http://schemas.microsoft.com/office/drawing/2014/main" id="{AA8881DD-E3B7-D694-9AA9-D7DD94DC07FF}"/>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1C3B56E4-B633-CA28-CD62-85F43364504F}"/>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1380531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76C75-C1D2-E38E-95F3-E883C9AF97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7ABCDAB9-1296-C830-9E15-37CDE8BB09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2F4BBF-3F2B-7AD3-D6B6-1B48BB38016D}"/>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5" name="Footer Placeholder 4">
            <a:extLst>
              <a:ext uri="{FF2B5EF4-FFF2-40B4-BE49-F238E27FC236}">
                <a16:creationId xmlns:a16="http://schemas.microsoft.com/office/drawing/2014/main" id="{6F3CCAEA-2A76-EF4C-8BC3-F77A06B072A2}"/>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D1C913D9-EFCF-4B6A-CB43-5A1AFFDA3156}"/>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4075457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C2A25-A98E-CCE0-4598-DB21B669EB51}"/>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82E8B1BB-FB99-2B7B-8FA4-CE6E929DC7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5CA74168-8EE7-F272-4E46-5E796392B5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40AC5372-8101-F952-3FF1-2C9333C2C9FF}"/>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6" name="Footer Placeholder 5">
            <a:extLst>
              <a:ext uri="{FF2B5EF4-FFF2-40B4-BE49-F238E27FC236}">
                <a16:creationId xmlns:a16="http://schemas.microsoft.com/office/drawing/2014/main" id="{DC77B63E-6B59-6BBB-CBBD-A70E1BC9D33D}"/>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53764FB9-994E-43EC-E30A-BA2535EC44F5}"/>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1266982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70F0C-8129-8AE1-E2CB-34F603D96A0E}"/>
              </a:ext>
            </a:extLst>
          </p:cNvPr>
          <p:cNvSpPr>
            <a:spLocks noGrp="1"/>
          </p:cNvSpPr>
          <p:nvPr>
            <p:ph type="title"/>
          </p:nvPr>
        </p:nvSpPr>
        <p:spPr>
          <a:xfrm>
            <a:off x="839788" y="365125"/>
            <a:ext cx="10515600" cy="1325563"/>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2B233615-D61F-7393-DBD3-0ABF3295B2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08650D-528B-1134-F980-20F27B1022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FFA61F3F-E6D8-0EE6-9993-F1B4A7259B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6734CC-F990-0C75-AD1D-20E2ADEC41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0B2F8C20-C38D-A9FE-6439-EC547862B3B7}"/>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8" name="Footer Placeholder 7">
            <a:extLst>
              <a:ext uri="{FF2B5EF4-FFF2-40B4-BE49-F238E27FC236}">
                <a16:creationId xmlns:a16="http://schemas.microsoft.com/office/drawing/2014/main" id="{9CB34732-1260-DFBF-3BFE-782145765782}"/>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6684B939-4511-1F3E-020B-D7F12E3DF97D}"/>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2101165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D355-3D95-B265-DC03-98964B8396EC}"/>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4EAA7B12-CFB8-46F0-C36F-949092D5C767}"/>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4" name="Footer Placeholder 3">
            <a:extLst>
              <a:ext uri="{FF2B5EF4-FFF2-40B4-BE49-F238E27FC236}">
                <a16:creationId xmlns:a16="http://schemas.microsoft.com/office/drawing/2014/main" id="{BEE6AD3F-373E-E4DA-4FE0-F0AAB7C4D42C}"/>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DA6F2CBA-163E-574F-2A7C-EF0D8FF86557}"/>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2041721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FDE25F-064E-72C8-CDFA-5A91BA27D064}"/>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3" name="Footer Placeholder 2">
            <a:extLst>
              <a:ext uri="{FF2B5EF4-FFF2-40B4-BE49-F238E27FC236}">
                <a16:creationId xmlns:a16="http://schemas.microsoft.com/office/drawing/2014/main" id="{EC7B5C46-D0E6-C5F5-B83A-1B5375850881}"/>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7FC33FBE-CD2A-CAC3-86F1-1D0F0776347E}"/>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371206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F6AE7-078B-E9D5-5884-9D15E7D02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2AA081EE-DA78-20C7-81BD-16F785F49E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AEB26A1D-94CE-D1E4-5E22-26CF82732F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47B393-7721-5D4E-E5FB-9353DDECEB3A}"/>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6" name="Footer Placeholder 5">
            <a:extLst>
              <a:ext uri="{FF2B5EF4-FFF2-40B4-BE49-F238E27FC236}">
                <a16:creationId xmlns:a16="http://schemas.microsoft.com/office/drawing/2014/main" id="{F4450758-621D-1BDD-1C21-41CE2A465B9D}"/>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0F745003-BF99-2082-AC19-9D405190964E}"/>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1991842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4BFEC-8567-C00C-0106-D10768E24C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8A5EE4D2-0DBC-42EF-B207-44178BF675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E932F354-5B42-5354-9BB3-BF506542AD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3C44D4-054C-04A2-849C-C6DF11667DCA}"/>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6" name="Footer Placeholder 5">
            <a:extLst>
              <a:ext uri="{FF2B5EF4-FFF2-40B4-BE49-F238E27FC236}">
                <a16:creationId xmlns:a16="http://schemas.microsoft.com/office/drawing/2014/main" id="{EFA765F2-815F-FA9C-BACC-F10FD3A599E2}"/>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DE3EF46D-FA9C-E439-53F3-8331736D3B36}"/>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1888296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B37B5-BB60-664D-29B5-2D3399D66BD8}"/>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96845D71-6152-EE48-C4D7-58AC361330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813A45B4-245F-49D2-B1C4-E782FFD0E521}"/>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5" name="Footer Placeholder 4">
            <a:extLst>
              <a:ext uri="{FF2B5EF4-FFF2-40B4-BE49-F238E27FC236}">
                <a16:creationId xmlns:a16="http://schemas.microsoft.com/office/drawing/2014/main" id="{AA35A338-23DD-F7B1-C69B-05BC9743BD56}"/>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B097BBCD-23D3-CF1D-B05E-52A0968B4C2B}"/>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628300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F0FB2F-912F-CC6C-6A62-55319D2687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49E3FB00-51B7-FDFF-C3DD-36D5E0A122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937FB020-6136-D002-C9E5-42E8738B9E21}"/>
              </a:ext>
            </a:extLst>
          </p:cNvPr>
          <p:cNvSpPr>
            <a:spLocks noGrp="1"/>
          </p:cNvSpPr>
          <p:nvPr>
            <p:ph type="dt" sz="half" idx="10"/>
          </p:nvPr>
        </p:nvSpPr>
        <p:spPr/>
        <p:txBody>
          <a:bodyPr/>
          <a:lstStyle/>
          <a:p>
            <a:fld id="{478BB0F6-D51F-41BE-8A10-01196C97E34B}" type="datetimeFigureOut">
              <a:rPr lang="en-ID" smtClean="0"/>
              <a:t>29/09/2026</a:t>
            </a:fld>
            <a:endParaRPr lang="en-ID"/>
          </a:p>
        </p:txBody>
      </p:sp>
      <p:sp>
        <p:nvSpPr>
          <p:cNvPr id="5" name="Footer Placeholder 4">
            <a:extLst>
              <a:ext uri="{FF2B5EF4-FFF2-40B4-BE49-F238E27FC236}">
                <a16:creationId xmlns:a16="http://schemas.microsoft.com/office/drawing/2014/main" id="{BC8830F7-58B3-0B90-4AE4-AFC31761FEA4}"/>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71D214F7-57D9-B786-B2E6-7B3015606841}"/>
              </a:ext>
            </a:extLst>
          </p:cNvPr>
          <p:cNvSpPr>
            <a:spLocks noGrp="1"/>
          </p:cNvSpPr>
          <p:nvPr>
            <p:ph type="sldNum" sz="quarter" idx="12"/>
          </p:nvPr>
        </p:nvSpPr>
        <p:spPr/>
        <p:txBody>
          <a:bodyPr/>
          <a:lstStyle/>
          <a:p>
            <a:fld id="{422B7D8C-842F-4215-80E7-35CA3AFEFC77}" type="slidenum">
              <a:rPr lang="en-ID" smtClean="0"/>
              <a:t>‹#›</a:t>
            </a:fld>
            <a:endParaRPr lang="en-ID"/>
          </a:p>
        </p:txBody>
      </p:sp>
    </p:spTree>
    <p:extLst>
      <p:ext uri="{BB962C8B-B14F-4D97-AF65-F5344CB8AC3E}">
        <p14:creationId xmlns:p14="http://schemas.microsoft.com/office/powerpoint/2010/main" val="21626713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7955C2-0124-C853-A515-E55BFF07E9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0F2ED048-78C0-E1F4-B6B1-9E22F84E58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DF82F83-7DC3-0B4A-C52E-E91E0BC3C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8BB0F6-D51F-41BE-8A10-01196C97E34B}" type="datetimeFigureOut">
              <a:rPr lang="en-ID" smtClean="0"/>
              <a:t>29/09/2026</a:t>
            </a:fld>
            <a:endParaRPr lang="en-ID"/>
          </a:p>
        </p:txBody>
      </p:sp>
      <p:sp>
        <p:nvSpPr>
          <p:cNvPr id="5" name="Footer Placeholder 4">
            <a:extLst>
              <a:ext uri="{FF2B5EF4-FFF2-40B4-BE49-F238E27FC236}">
                <a16:creationId xmlns:a16="http://schemas.microsoft.com/office/drawing/2014/main" id="{2CB9C03A-6964-E5F6-97C5-92E42A96A6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D"/>
          </a:p>
        </p:txBody>
      </p:sp>
      <p:sp>
        <p:nvSpPr>
          <p:cNvPr id="6" name="Slide Number Placeholder 5">
            <a:extLst>
              <a:ext uri="{FF2B5EF4-FFF2-40B4-BE49-F238E27FC236}">
                <a16:creationId xmlns:a16="http://schemas.microsoft.com/office/drawing/2014/main" id="{F8FC8094-5796-5533-D60D-EECF6CC2D9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2B7D8C-842F-4215-80E7-35CA3AFEFC77}" type="slidenum">
              <a:rPr lang="en-ID" smtClean="0"/>
              <a:t>‹#›</a:t>
            </a:fld>
            <a:endParaRPr lang="en-ID"/>
          </a:p>
        </p:txBody>
      </p:sp>
    </p:spTree>
    <p:extLst>
      <p:ext uri="{BB962C8B-B14F-4D97-AF65-F5344CB8AC3E}">
        <p14:creationId xmlns:p14="http://schemas.microsoft.com/office/powerpoint/2010/main" val="3636828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33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B2E970-DC9A-CD84-D931-8CBC12CED9DD}"/>
              </a:ext>
            </a:extLst>
          </p:cNvPr>
          <p:cNvSpPr txBox="1"/>
          <p:nvPr/>
        </p:nvSpPr>
        <p:spPr>
          <a:xfrm>
            <a:off x="758952" y="1481328"/>
            <a:ext cx="10332720" cy="2011680"/>
          </a:xfrm>
          <a:prstGeom prst="rect">
            <a:avLst/>
          </a:prstGeom>
          <a:noFill/>
        </p:spPr>
        <p:txBody>
          <a:bodyPr vert="horz" wrap="square" lIns="9144" tIns="9144" rIns="9144" bIns="9144" rtlCol="0">
            <a:noAutofit/>
          </a:bodyPr>
          <a:lstStyle/>
          <a:p>
            <a:r>
              <a:rPr sz="4600" b="1">
                <a:solidFill>
                  <a:srgbClr val="FFFFFF"/>
                </a:solidFill>
                <a:latin typeface="Aptos Display"/>
              </a:rPr>
              <a:t>Analitik keterlambatan</a:t>
            </a:r>
          </a:p>
          <a:p>
            <a:r>
              <a:rPr sz="4600" b="1">
                <a:solidFill>
                  <a:srgbClr val="FFFFFF"/>
                </a:solidFill>
                <a:latin typeface="Aptos Display"/>
              </a:rPr>
              <a:t>pengiriman Olist</a:t>
            </a:r>
          </a:p>
        </p:txBody>
      </p:sp>
      <p:sp>
        <p:nvSpPr>
          <p:cNvPr id="3" name="TextBox 2">
            <a:extLst>
              <a:ext uri="{FF2B5EF4-FFF2-40B4-BE49-F238E27FC236}">
                <a16:creationId xmlns:a16="http://schemas.microsoft.com/office/drawing/2014/main" id="{0FB6BD76-C9D8-11FD-9D78-5F6E41FB09F8}"/>
              </a:ext>
            </a:extLst>
          </p:cNvPr>
          <p:cNvSpPr txBox="1"/>
          <p:nvPr/>
        </p:nvSpPr>
        <p:spPr>
          <a:xfrm>
            <a:off x="768096" y="3858768"/>
            <a:ext cx="9875520" cy="438912"/>
          </a:xfrm>
          <a:prstGeom prst="rect">
            <a:avLst/>
          </a:prstGeom>
          <a:noFill/>
        </p:spPr>
        <p:txBody>
          <a:bodyPr vert="horz" wrap="square" lIns="9144" tIns="9144" rIns="9144" bIns="9144" rtlCol="0">
            <a:noAutofit/>
          </a:bodyPr>
          <a:lstStyle/>
          <a:p>
            <a:r>
              <a:rPr sz="2300" b="0">
                <a:solidFill>
                  <a:srgbClr val="B8DEE3"/>
                </a:solidFill>
                <a:latin typeface="Aptos"/>
              </a:rPr>
              <a:t>Rancangan solusi dan persiapan data</a:t>
            </a:r>
          </a:p>
        </p:txBody>
      </p:sp>
      <p:sp>
        <p:nvSpPr>
          <p:cNvPr id="4" name="TextBox 3">
            <a:extLst>
              <a:ext uri="{FF2B5EF4-FFF2-40B4-BE49-F238E27FC236}">
                <a16:creationId xmlns:a16="http://schemas.microsoft.com/office/drawing/2014/main" id="{E5432571-8DF5-F999-08BF-39701BDB9A55}"/>
              </a:ext>
            </a:extLst>
          </p:cNvPr>
          <p:cNvSpPr txBox="1"/>
          <p:nvPr/>
        </p:nvSpPr>
        <p:spPr>
          <a:xfrm>
            <a:off x="768096" y="4892040"/>
            <a:ext cx="9875520" cy="384048"/>
          </a:xfrm>
          <a:prstGeom prst="rect">
            <a:avLst/>
          </a:prstGeom>
          <a:noFill/>
        </p:spPr>
        <p:txBody>
          <a:bodyPr vert="horz" wrap="square" lIns="9144" tIns="9144" rIns="9144" bIns="9144" rtlCol="0">
            <a:noAutofit/>
          </a:bodyPr>
          <a:lstStyle/>
          <a:p>
            <a:r>
              <a:rPr sz="1900" b="0">
                <a:solidFill>
                  <a:srgbClr val="FFFFFF"/>
                </a:solidFill>
                <a:latin typeface="Aptos"/>
              </a:rPr>
              <a:t>Yanlis Alim Sang Putra Lase  ·  2702751284</a:t>
            </a:r>
          </a:p>
        </p:txBody>
      </p:sp>
      <p:sp>
        <p:nvSpPr>
          <p:cNvPr id="5" name="TextBox 4">
            <a:extLst>
              <a:ext uri="{FF2B5EF4-FFF2-40B4-BE49-F238E27FC236}">
                <a16:creationId xmlns:a16="http://schemas.microsoft.com/office/drawing/2014/main" id="{E2B679EA-9D02-94CC-2D59-803D2F620D99}"/>
              </a:ext>
            </a:extLst>
          </p:cNvPr>
          <p:cNvSpPr txBox="1"/>
          <p:nvPr/>
        </p:nvSpPr>
        <p:spPr>
          <a:xfrm>
            <a:off x="768096" y="658368"/>
            <a:ext cx="9875520" cy="301752"/>
          </a:xfrm>
          <a:prstGeom prst="rect">
            <a:avLst/>
          </a:prstGeom>
          <a:noFill/>
        </p:spPr>
        <p:txBody>
          <a:bodyPr vert="horz" wrap="square" lIns="9144" tIns="9144" rIns="9144" bIns="9144" rtlCol="0">
            <a:noAutofit/>
          </a:bodyPr>
          <a:lstStyle/>
          <a:p>
            <a:r>
              <a:rPr sz="1300" b="1">
                <a:solidFill>
                  <a:srgbClr val="B8DEE3"/>
                </a:solidFill>
                <a:latin typeface="Aptos"/>
              </a:rPr>
              <a:t>COMP8035041  /  ASSIGNMENT I</a:t>
            </a:r>
          </a:p>
        </p:txBody>
      </p:sp>
      <p:sp>
        <p:nvSpPr>
          <p:cNvPr id="6" name="TextBox 5">
            <a:extLst>
              <a:ext uri="{FF2B5EF4-FFF2-40B4-BE49-F238E27FC236}">
                <a16:creationId xmlns:a16="http://schemas.microsoft.com/office/drawing/2014/main" id="{4A4074A6-82EA-2D60-6790-42695CA04B5B}"/>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B8DEE3"/>
                </a:solidFill>
                <a:latin typeface="Aptos" panose="020B0004020202020204" pitchFamily="34" charset="0"/>
              </a:rPr>
              <a:t>01 / 11</a:t>
            </a:r>
          </a:p>
        </p:txBody>
      </p:sp>
    </p:spTree>
    <p:extLst>
      <p:ext uri="{BB962C8B-B14F-4D97-AF65-F5344CB8AC3E}">
        <p14:creationId xmlns:p14="http://schemas.microsoft.com/office/powerpoint/2010/main" val="2264389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A65B32-7483-5895-CB5E-B7FE235DD7DB}"/>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162338"/>
                </a:solidFill>
                <a:latin typeface="Aptos Display" panose="020B0004020202020204" pitchFamily="34" charset="0"/>
              </a:rPr>
              <a:t>Latar belakang masalah</a:t>
            </a:r>
          </a:p>
        </p:txBody>
      </p:sp>
      <p:sp>
        <p:nvSpPr>
          <p:cNvPr id="3" name="TextBox 2">
            <a:extLst>
              <a:ext uri="{FF2B5EF4-FFF2-40B4-BE49-F238E27FC236}">
                <a16:creationId xmlns:a16="http://schemas.microsoft.com/office/drawing/2014/main" id="{1BAF0E78-4B99-1882-B2EC-5F06D4BA785F}"/>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667386"/>
                </a:solidFill>
                <a:latin typeface="Aptos" panose="020B0004020202020204" pitchFamily="34" charset="0"/>
              </a:rPr>
              <a:t>Laporan Bab 1, audit label dan notebook 02. Review hanya pada order dengan review.</a:t>
            </a:r>
          </a:p>
        </p:txBody>
      </p:sp>
      <p:sp>
        <p:nvSpPr>
          <p:cNvPr id="9" name="TextBox 8">
            <a:extLst>
              <a:ext uri="{FF2B5EF4-FFF2-40B4-BE49-F238E27FC236}">
                <a16:creationId xmlns:a16="http://schemas.microsoft.com/office/drawing/2014/main" id="{1B0A10F3-3F09-F166-D94E-3DE704A703CE}"/>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007E96"/>
                </a:solidFill>
                <a:latin typeface="Aptos" panose="020B0004020202020204" pitchFamily="34" charset="0"/>
              </a:rPr>
              <a:t>02 / 11</a:t>
            </a:r>
          </a:p>
        </p:txBody>
      </p:sp>
      <p:sp>
        <p:nvSpPr>
          <p:cNvPr id="10" name="TextBox 9"/>
          <p:cNvSpPr txBox="1"/>
          <p:nvPr/>
        </p:nvSpPr>
        <p:spPr>
          <a:xfrm>
            <a:off x="640080" y="1298448"/>
            <a:ext cx="4937760" cy="384048"/>
          </a:xfrm>
          <a:prstGeom prst="rect">
            <a:avLst/>
          </a:prstGeom>
          <a:noFill/>
        </p:spPr>
        <p:txBody>
          <a:bodyPr wrap="square" anchor="ctr" lIns="9144" rIns="9144" tIns="9144" bIns="9144">
            <a:spAutoFit/>
          </a:bodyPr>
          <a:lstStyle/>
          <a:p>
            <a:pPr algn="l"/>
            <a:r>
              <a:rPr sz="1500" b="1">
                <a:solidFill>
                  <a:srgbClr val="007E96"/>
                </a:solidFill>
                <a:latin typeface="Aptos"/>
              </a:rPr>
              <a:t>BASELINE KETERLAMBATAN</a:t>
            </a:r>
          </a:p>
        </p:txBody>
      </p:sp>
      <p:sp>
        <p:nvSpPr>
          <p:cNvPr id="11" name="TextBox 10"/>
          <p:cNvSpPr txBox="1"/>
          <p:nvPr/>
        </p:nvSpPr>
        <p:spPr>
          <a:xfrm>
            <a:off x="603504" y="1645920"/>
            <a:ext cx="4983480" cy="932688"/>
          </a:xfrm>
          <a:prstGeom prst="rect">
            <a:avLst/>
          </a:prstGeom>
          <a:noFill/>
        </p:spPr>
        <p:txBody>
          <a:bodyPr wrap="square" anchor="ctr" lIns="9144" rIns="9144" tIns="9144" bIns="9144">
            <a:spAutoFit/>
          </a:bodyPr>
          <a:lstStyle/>
          <a:p>
            <a:pPr algn="l"/>
            <a:r>
              <a:rPr sz="6200" b="1">
                <a:solidFill>
                  <a:srgbClr val="007E96"/>
                </a:solidFill>
                <a:latin typeface="Aptos Display"/>
              </a:rPr>
              <a:t>8,11%</a:t>
            </a:r>
          </a:p>
        </p:txBody>
      </p:sp>
      <p:sp>
        <p:nvSpPr>
          <p:cNvPr id="12" name="TextBox 11"/>
          <p:cNvSpPr txBox="1"/>
          <p:nvPr/>
        </p:nvSpPr>
        <p:spPr>
          <a:xfrm>
            <a:off x="658368" y="2788920"/>
            <a:ext cx="5120640" cy="731520"/>
          </a:xfrm>
          <a:prstGeom prst="rect">
            <a:avLst/>
          </a:prstGeom>
          <a:noFill/>
        </p:spPr>
        <p:txBody>
          <a:bodyPr wrap="square" anchor="ctr" lIns="9144" rIns="9144" tIns="9144" bIns="9144">
            <a:spAutoFit/>
          </a:bodyPr>
          <a:lstStyle/>
          <a:p>
            <a:pPr algn="l"/>
            <a:r>
              <a:rPr sz="2200" b="0">
                <a:solidFill>
                  <a:srgbClr val="162338"/>
                </a:solidFill>
                <a:latin typeface="Aptos"/>
              </a:rPr>
              <a:t>7.826 dari 96.470 order delivered berlabel</a:t>
            </a:r>
          </a:p>
        </p:txBody>
      </p:sp>
      <p:sp>
        <p:nvSpPr>
          <p:cNvPr id="13" name="TextBox 12"/>
          <p:cNvSpPr txBox="1"/>
          <p:nvPr/>
        </p:nvSpPr>
        <p:spPr>
          <a:xfrm>
            <a:off x="6053328" y="1298448"/>
            <a:ext cx="5074920" cy="384048"/>
          </a:xfrm>
          <a:prstGeom prst="rect">
            <a:avLst/>
          </a:prstGeom>
          <a:noFill/>
        </p:spPr>
        <p:txBody>
          <a:bodyPr wrap="square" anchor="ctr" lIns="9144" rIns="9144" tIns="9144" bIns="9144">
            <a:spAutoFit/>
          </a:bodyPr>
          <a:lstStyle/>
          <a:p>
            <a:pPr algn="l"/>
            <a:r>
              <a:rPr sz="1500" b="1">
                <a:solidFill>
                  <a:srgbClr val="007E96"/>
                </a:solidFill>
                <a:latin typeface="Aptos"/>
              </a:rPr>
              <a:t>ULASAN PELANGGAN</a:t>
            </a:r>
          </a:p>
        </p:txBody>
      </p:sp>
      <p:sp>
        <p:nvSpPr>
          <p:cNvPr id="14" name="TextBox 13"/>
          <p:cNvSpPr txBox="1"/>
          <p:nvPr/>
        </p:nvSpPr>
        <p:spPr>
          <a:xfrm>
            <a:off x="6025896" y="1719072"/>
            <a:ext cx="5257800" cy="621792"/>
          </a:xfrm>
          <a:prstGeom prst="rect">
            <a:avLst/>
          </a:prstGeom>
          <a:noFill/>
        </p:spPr>
        <p:txBody>
          <a:bodyPr wrap="square" anchor="ctr" lIns="9144" rIns="9144" tIns="9144" bIns="9144">
            <a:spAutoFit/>
          </a:bodyPr>
          <a:lstStyle/>
          <a:p>
            <a:pPr algn="l"/>
            <a:r>
              <a:rPr sz="3500" b="1">
                <a:solidFill>
                  <a:srgbClr val="162338"/>
                </a:solidFill>
                <a:latin typeface="Aptos Display"/>
              </a:rPr>
              <a:t>4,2943  →  2,5665</a:t>
            </a:r>
          </a:p>
        </p:txBody>
      </p:sp>
      <p:sp>
        <p:nvSpPr>
          <p:cNvPr id="15" name="TextBox 14"/>
          <p:cNvSpPr txBox="1"/>
          <p:nvPr/>
        </p:nvSpPr>
        <p:spPr>
          <a:xfrm>
            <a:off x="6080760" y="2578608"/>
            <a:ext cx="5166360" cy="786384"/>
          </a:xfrm>
          <a:prstGeom prst="rect">
            <a:avLst/>
          </a:prstGeom>
          <a:noFill/>
        </p:spPr>
        <p:txBody>
          <a:bodyPr wrap="square" anchor="ctr" lIns="9144" rIns="9144" tIns="9144" bIns="9144">
            <a:spAutoFit/>
          </a:bodyPr>
          <a:lstStyle/>
          <a:p>
            <a:pPr algn="l"/>
            <a:r>
              <a:rPr sz="2000" b="0">
                <a:solidFill>
                  <a:srgbClr val="162338"/>
                </a:solidFill>
                <a:latin typeface="Aptos"/>
              </a:rPr>
              <a:t>Rata-rata review: tepat waktu → terlambat</a:t>
            </a:r>
          </a:p>
        </p:txBody>
      </p:sp>
      <p:sp>
        <p:nvSpPr>
          <p:cNvPr id="16" name="TextBox 15"/>
          <p:cNvSpPr txBox="1"/>
          <p:nvPr/>
        </p:nvSpPr>
        <p:spPr>
          <a:xfrm>
            <a:off x="658368" y="4370832"/>
            <a:ext cx="10607040" cy="512064"/>
          </a:xfrm>
          <a:prstGeom prst="rect">
            <a:avLst/>
          </a:prstGeom>
          <a:noFill/>
        </p:spPr>
        <p:txBody>
          <a:bodyPr wrap="square" anchor="ctr" lIns="9144" rIns="9144" tIns="9144" bIns="9144">
            <a:spAutoFit/>
          </a:bodyPr>
          <a:lstStyle/>
          <a:p>
            <a:pPr algn="l"/>
            <a:r>
              <a:rPr sz="2300" b="1">
                <a:solidFill>
                  <a:srgbClr val="162338"/>
                </a:solidFill>
                <a:latin typeface="Aptos"/>
              </a:rPr>
              <a:t>Sembilan tabel transaksi Olist · 2016–2018</a:t>
            </a:r>
          </a:p>
        </p:txBody>
      </p:sp>
      <p:sp>
        <p:nvSpPr>
          <p:cNvPr id="17" name="TextBox 16"/>
          <p:cNvSpPr txBox="1"/>
          <p:nvPr/>
        </p:nvSpPr>
        <p:spPr>
          <a:xfrm>
            <a:off x="658368" y="5577840"/>
            <a:ext cx="10607040" cy="365760"/>
          </a:xfrm>
          <a:prstGeom prst="rect">
            <a:avLst/>
          </a:prstGeom>
          <a:noFill/>
        </p:spPr>
        <p:txBody>
          <a:bodyPr wrap="square" anchor="ctr" lIns="9144" rIns="9144" tIns="9144" bIns="9144">
            <a:spAutoFit/>
          </a:bodyPr>
          <a:lstStyle/>
          <a:p>
            <a:pPr algn="l"/>
            <a:r>
              <a:rPr sz="1600" b="0">
                <a:solidFill>
                  <a:srgbClr val="667386"/>
                </a:solidFill>
                <a:latin typeface="Aptos"/>
              </a:rPr>
              <a:t>Asosiasi pada order dengan review; bukan bukti sebab-akibat.</a:t>
            </a:r>
          </a:p>
        </p:txBody>
      </p:sp>
    </p:spTree>
    <p:extLst>
      <p:ext uri="{BB962C8B-B14F-4D97-AF65-F5344CB8AC3E}">
        <p14:creationId xmlns:p14="http://schemas.microsoft.com/office/powerpoint/2010/main" val="236331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3AE179-2B31-05F5-87C8-C83B17ABB71F}"/>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s-ES" sz="3200" b="1">
                <a:solidFill>
                  <a:srgbClr val="162338"/>
                </a:solidFill>
                <a:latin typeface="Aptos Display" panose="020B0004020202020204" pitchFamily="34" charset="0"/>
              </a:rPr>
              <a:t>Tujuan proyek dan pengguna hasil</a:t>
            </a:r>
            <a:endParaRPr lang="en-ID" sz="3200" b="1">
              <a:solidFill>
                <a:srgbClr val="162338"/>
              </a:solidFill>
              <a:latin typeface="Aptos" panose="020B0004020202020204" pitchFamily="34" charset="0"/>
            </a:endParaRPr>
          </a:p>
        </p:txBody>
      </p:sp>
      <p:sp>
        <p:nvSpPr>
          <p:cNvPr id="3" name="TextBox 2">
            <a:extLst>
              <a:ext uri="{FF2B5EF4-FFF2-40B4-BE49-F238E27FC236}">
                <a16:creationId xmlns:a16="http://schemas.microsoft.com/office/drawing/2014/main" id="{1AC9A71B-D3B0-7B3D-628D-76CECD9C61DE}"/>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667386"/>
                </a:solidFill>
                <a:latin typeface="Aptos" panose="020B0004020202020204" pitchFamily="34" charset="0"/>
              </a:rPr>
              <a:t>Lingkup Assignment I: masalah bisnis, rancangan solusi dan persiapan data.</a:t>
            </a:r>
          </a:p>
        </p:txBody>
      </p:sp>
      <p:sp>
        <p:nvSpPr>
          <p:cNvPr id="4" name="TextBox 3">
            <a:extLst>
              <a:ext uri="{FF2B5EF4-FFF2-40B4-BE49-F238E27FC236}">
                <a16:creationId xmlns:a16="http://schemas.microsoft.com/office/drawing/2014/main" id="{755DA2F5-2712-D079-1868-C2BF3F10744F}"/>
              </a:ext>
            </a:extLst>
          </p:cNvPr>
          <p:cNvSpPr txBox="1"/>
          <p:nvPr/>
        </p:nvSpPr>
        <p:spPr>
          <a:xfrm>
            <a:off x="609600" y="1574800"/>
            <a:ext cx="10972800" cy="276999"/>
          </a:xfrm>
          <a:prstGeom prst="rect">
            <a:avLst/>
          </a:prstGeom>
          <a:noFill/>
        </p:spPr>
        <p:txBody>
          <a:bodyPr vert="horz" wrap="square" lIns="0" tIns="0" rIns="0" bIns="0" rtlCol="0">
            <a:noAutofit/>
          </a:bodyPr>
          <a:lstStyle/>
          <a:p>
            <a:pPr>
              <a:spcAft>
                <a:spcPts val="700"/>
              </a:spcAft>
            </a:pPr>
            <a:r>
              <a:rPr lang="en-ID" sz="2500" b="1">
                <a:solidFill>
                  <a:srgbClr val="007E96"/>
                </a:solidFill>
                <a:latin typeface="Aptos" panose="020B0004020202020204" pitchFamily="34" charset="0"/>
              </a:rPr>
              <a:t>Data yang konsisten untuk meninjau risiko keterlambatan</a:t>
            </a:r>
          </a:p>
        </p:txBody>
      </p:sp>
      <p:sp>
        <p:nvSpPr>
          <p:cNvPr id="5" name="TextBox 4">
            <a:extLst>
              <a:ext uri="{FF2B5EF4-FFF2-40B4-BE49-F238E27FC236}">
                <a16:creationId xmlns:a16="http://schemas.microsoft.com/office/drawing/2014/main" id="{EB32A14E-A91D-749F-B756-49E5F4121046}"/>
              </a:ext>
            </a:extLst>
          </p:cNvPr>
          <p:cNvSpPr txBox="1"/>
          <p:nvPr/>
        </p:nvSpPr>
        <p:spPr>
          <a:xfrm>
            <a:off x="609600" y="5664200"/>
            <a:ext cx="10972800" cy="276999"/>
          </a:xfrm>
          <a:prstGeom prst="rect">
            <a:avLst/>
          </a:prstGeom>
          <a:noFill/>
        </p:spPr>
        <p:txBody>
          <a:bodyPr vert="horz" wrap="square" lIns="0" tIns="0" rIns="0" bIns="0" rtlCol="0">
            <a:noAutofit/>
          </a:bodyPr>
          <a:lstStyle/>
          <a:p>
            <a:pPr>
              <a:spcAft>
                <a:spcPts val="700"/>
              </a:spcAft>
            </a:pPr>
            <a:r>
              <a:rPr lang="en-ID" sz="1800">
                <a:solidFill>
                  <a:srgbClr val="162338"/>
                </a:solidFill>
                <a:latin typeface="Aptos" panose="020B0004020202020204" pitchFamily="34" charset="0"/>
              </a:rPr>
              <a:t>Target tahap ini: rancangan solusi dan persiapan data yang dapat diaudit.</a:t>
            </a:r>
          </a:p>
        </p:txBody>
      </p:sp>
      <p:graphicFrame>
        <p:nvGraphicFramePr>
          <p:cNvPr id="6" name="Table 5">
            <a:extLst>
              <a:ext uri="{FF2B5EF4-FFF2-40B4-BE49-F238E27FC236}">
                <a16:creationId xmlns:a16="http://schemas.microsoft.com/office/drawing/2014/main" id="{520A76D8-FA4A-AB5E-D523-CF3C857C6780}"/>
              </a:ext>
            </a:extLst>
          </p:cNvPr>
          <p:cNvGraphicFramePr>
            <a:graphicFrameLocks noGrp="1"/>
          </p:cNvGraphicFramePr>
          <p:nvPr>
            <p:extLst>
              <p:ext uri="{D42A27DB-BD31-4B8C-83A1-F6EECF244321}">
                <p14:modId xmlns:p14="http://schemas.microsoft.com/office/powerpoint/2010/main" val="3580002100"/>
              </p:ext>
            </p:extLst>
          </p:nvPr>
        </p:nvGraphicFramePr>
        <p:xfrm>
          <a:off x="609600" y="2743200"/>
          <a:ext cx="10972800" cy="2603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3060921329"/>
                    </a:ext>
                  </a:extLst>
                </a:gridCol>
                <a:gridCol w="7162800">
                  <a:extLst>
                    <a:ext uri="{9D8B030D-6E8A-4147-A177-3AD203B41FA5}">
                      <a16:colId xmlns:a16="http://schemas.microsoft.com/office/drawing/2014/main" val="2605042157"/>
                    </a:ext>
                  </a:extLst>
                </a:gridCol>
              </a:tblGrid>
              <a:tr h="650875">
                <a:tc>
                  <a:txBody>
                    <a:bodyPr wrap="square" anchor="ctr"/>
                    <a:lstStyle/>
                    <a:p>
                      <a:r>
                        <a:rPr lang="en-ID" sz="1850" b="1">
                          <a:solidFill>
                            <a:srgbClr val="FFFFFF"/>
                          </a:solidFill>
                          <a:latin typeface="Aptos" panose="020B0004020202020204" pitchFamily="34" charset="0"/>
                        </a:rPr>
                        <a:t>Pengguna</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wrap="square" anchor="ctr"/>
                    <a:lstStyle/>
                    <a:p>
                      <a:r>
                        <a:rPr lang="en-ID" sz="1850" b="1">
                          <a:solidFill>
                            <a:srgbClr val="FFFFFF"/>
                          </a:solidFill>
                          <a:latin typeface="Aptos" panose="020B0004020202020204" pitchFamily="34" charset="0"/>
                        </a:rPr>
                        <a:t>Keputusan yang didukung</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1825489910"/>
                  </a:ext>
                </a:extLst>
              </a:tr>
              <a:tr h="650875">
                <a:tc>
                  <a:txBody>
                    <a:bodyPr wrap="square" anchor="ctr"/>
                    <a:lstStyle/>
                    <a:p>
                      <a:r>
                        <a:rPr lang="en-ID" sz="1800" b="0">
                          <a:solidFill>
                            <a:srgbClr val="162338"/>
                          </a:solidFill>
                          <a:latin typeface="Aptos" panose="020B0004020202020204" pitchFamily="34" charset="0"/>
                        </a:rPr>
                        <a:t>Logistics</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wrap="square" anchor="ctr"/>
                    <a:lstStyle/>
                    <a:p>
                      <a:r>
                        <a:rPr lang="en-ID" sz="1800" b="0">
                          <a:solidFill>
                            <a:srgbClr val="162338"/>
                          </a:solidFill>
                          <a:latin typeface="Aptos" panose="020B0004020202020204" pitchFamily="34" charset="0"/>
                        </a:rPr>
                        <a:t>Prioritas investigasi rute</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867931712"/>
                  </a:ext>
                </a:extLst>
              </a:tr>
              <a:tr h="650875">
                <a:tc>
                  <a:txBody>
                    <a:bodyPr wrap="square" anchor="ctr"/>
                    <a:lstStyle/>
                    <a:p>
                      <a:r>
                        <a:rPr lang="en-ID" sz="1800" b="0">
                          <a:solidFill>
                            <a:srgbClr val="162338"/>
                          </a:solidFill>
                          <a:latin typeface="Aptos" panose="020B0004020202020204" pitchFamily="34" charset="0"/>
                        </a:rPr>
                        <a:t>Merchant Performance</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tc>
                  <a:txBody>
                    <a:bodyPr wrap="square" anchor="ctr"/>
                    <a:lstStyle/>
                    <a:p>
                      <a:r>
                        <a:rPr lang="en-ID" sz="1800" b="0">
                          <a:solidFill>
                            <a:srgbClr val="162338"/>
                          </a:solidFill>
                          <a:latin typeface="Aptos" panose="020B0004020202020204" pitchFamily="34" charset="0"/>
                        </a:rPr>
                        <a:t>Peninjauan risiko order setelah approval</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extLst>
                  <a:ext uri="{0D108BD9-81ED-4DB2-BD59-A6C34878D82A}">
                    <a16:rowId xmlns:a16="http://schemas.microsoft.com/office/drawing/2014/main" val="1469068655"/>
                  </a:ext>
                </a:extLst>
              </a:tr>
              <a:tr h="650875">
                <a:tc>
                  <a:txBody>
                    <a:bodyPr wrap="square" anchor="ctr"/>
                    <a:lstStyle/>
                    <a:p>
                      <a:r>
                        <a:rPr lang="en-ID" sz="1800" b="0">
                          <a:solidFill>
                            <a:srgbClr val="162338"/>
                          </a:solidFill>
                          <a:latin typeface="Aptos" panose="020B0004020202020204" pitchFamily="34" charset="0"/>
                        </a:rPr>
                        <a:t>Executive Management</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wrap="square" anchor="ctr"/>
                    <a:lstStyle/>
                    <a:p>
                      <a:r>
                        <a:rPr lang="en-ID" sz="1800" b="0">
                          <a:solidFill>
                            <a:srgbClr val="162338"/>
                          </a:solidFill>
                          <a:latin typeface="Aptos" panose="020B0004020202020204" pitchFamily="34" charset="0"/>
                        </a:rPr>
                        <a:t>Pemantauan performa agregat</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1698320966"/>
                  </a:ext>
                </a:extLst>
              </a:tr>
            </a:tbl>
          </a:graphicData>
        </a:graphic>
      </p:graphicFrame>
      <p:sp>
        <p:nvSpPr>
          <p:cNvPr id="7" name="TextBox 6">
            <a:extLst>
              <a:ext uri="{FF2B5EF4-FFF2-40B4-BE49-F238E27FC236}">
                <a16:creationId xmlns:a16="http://schemas.microsoft.com/office/drawing/2014/main" id="{03AE7231-C6F5-7EDF-BAF1-F8DCF96301F4}"/>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007E96"/>
                </a:solidFill>
                <a:latin typeface="Aptos" panose="020B0004020202020204" pitchFamily="34" charset="0"/>
              </a:rPr>
              <a:t>03 / 11</a:t>
            </a:r>
          </a:p>
        </p:txBody>
      </p:sp>
    </p:spTree>
    <p:extLst>
      <p:ext uri="{BB962C8B-B14F-4D97-AF65-F5344CB8AC3E}">
        <p14:creationId xmlns:p14="http://schemas.microsoft.com/office/powerpoint/2010/main" val="2440792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BE8BF8-AB8B-B29A-62D0-A03E8F23D3B8}"/>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162338"/>
                </a:solidFill>
                <a:latin typeface="Aptos Display" panose="020B0004020202020204" pitchFamily="34" charset="0"/>
              </a:rPr>
              <a:t>Distribusi order dan definisi keterlambatan</a:t>
            </a:r>
          </a:p>
        </p:txBody>
      </p:sp>
      <p:sp>
        <p:nvSpPr>
          <p:cNvPr id="3" name="TextBox 2">
            <a:extLst>
              <a:ext uri="{FF2B5EF4-FFF2-40B4-BE49-F238E27FC236}">
                <a16:creationId xmlns:a16="http://schemas.microsoft.com/office/drawing/2014/main" id="{AB1E2BA5-6541-ECA2-FB5E-251194E9F8F1}"/>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667386"/>
                </a:solidFill>
                <a:latin typeface="Aptos" panose="020B0004020202020204" pitchFamily="34" charset="0"/>
              </a:rPr>
              <a:t>Sumber: profil EDA dan laporan Tabel 4.5. Dua populasi berbeda.</a:t>
            </a:r>
          </a:p>
        </p:txBody>
      </p:sp>
      <p:sp>
        <p:nvSpPr>
          <p:cNvPr id="9" name="TextBox 8">
            <a:extLst>
              <a:ext uri="{FF2B5EF4-FFF2-40B4-BE49-F238E27FC236}">
                <a16:creationId xmlns:a16="http://schemas.microsoft.com/office/drawing/2014/main" id="{9B13268F-12D0-3394-B3BF-A67B0748274F}"/>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007E96"/>
                </a:solidFill>
                <a:latin typeface="Aptos" panose="020B0004020202020204" pitchFamily="34" charset="0"/>
              </a:rPr>
              <a:t>04 / 11</a:t>
            </a:r>
          </a:p>
        </p:txBody>
      </p:sp>
      <p:pic>
        <p:nvPicPr>
          <p:cNvPr id="10" name="Picture 9" descr="fig1_order_status_distribution.png"/>
          <p:cNvPicPr>
            <a:picLocks noChangeAspect="1"/>
          </p:cNvPicPr>
          <p:nvPr/>
        </p:nvPicPr>
        <p:blipFill>
          <a:blip r:embed="rId3"/>
          <a:stretch>
            <a:fillRect/>
          </a:stretch>
        </p:blipFill>
        <p:spPr>
          <a:xfrm>
            <a:off x="585216" y="1335024"/>
            <a:ext cx="7059168" cy="3919570"/>
          </a:xfrm>
          <a:prstGeom prst="rect">
            <a:avLst/>
          </a:prstGeom>
        </p:spPr>
      </p:pic>
      <p:pic>
        <p:nvPicPr>
          <p:cNvPr id="11" name="Picture 10" descr="fig2_delivery_delay_ratio.png"/>
          <p:cNvPicPr>
            <a:picLocks noChangeAspect="1"/>
          </p:cNvPicPr>
          <p:nvPr/>
        </p:nvPicPr>
        <p:blipFill>
          <a:blip r:embed="rId4"/>
          <a:stretch>
            <a:fillRect/>
          </a:stretch>
        </p:blipFill>
        <p:spPr>
          <a:xfrm>
            <a:off x="7744968" y="1316736"/>
            <a:ext cx="3822191" cy="3866442"/>
          </a:xfrm>
          <a:prstGeom prst="rect">
            <a:avLst/>
          </a:prstGeom>
        </p:spPr>
      </p:pic>
      <p:sp>
        <p:nvSpPr>
          <p:cNvPr id="12" name="TextBox 11"/>
          <p:cNvSpPr txBox="1"/>
          <p:nvPr/>
        </p:nvSpPr>
        <p:spPr>
          <a:xfrm>
            <a:off x="621792" y="5696712"/>
            <a:ext cx="10881360" cy="347472"/>
          </a:xfrm>
          <a:prstGeom prst="rect">
            <a:avLst/>
          </a:prstGeom>
          <a:noFill/>
        </p:spPr>
        <p:txBody>
          <a:bodyPr wrap="square" lIns="18288" rIns="18288" tIns="18288" bIns="18288">
            <a:spAutoFit/>
          </a:bodyPr>
          <a:lstStyle/>
          <a:p>
            <a:r>
              <a:rPr sz="1700" b="1">
                <a:solidFill>
                  <a:srgbClr val="162338"/>
                </a:solidFill>
                <a:latin typeface="Aptos"/>
              </a:rPr>
              <a:t>99.441 seluruh status  |  96.470 delivered dengan tanggal label valid</a:t>
            </a:r>
          </a:p>
        </p:txBody>
      </p:sp>
    </p:spTree>
    <p:extLst>
      <p:ext uri="{BB962C8B-B14F-4D97-AF65-F5344CB8AC3E}">
        <p14:creationId xmlns:p14="http://schemas.microsoft.com/office/powerpoint/2010/main" val="474038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9A79A-EC2F-CB1B-4AD8-D7136C2167CF}"/>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sv-SE" sz="3200" b="1">
                <a:solidFill>
                  <a:srgbClr val="162338"/>
                </a:solidFill>
                <a:latin typeface="Aptos Display" panose="020B0004020202020204" pitchFamily="34" charset="0"/>
              </a:rPr>
              <a:t>Tech stack dan alasan pemilihan</a:t>
            </a:r>
            <a:endParaRPr lang="en-ID" sz="3200" b="1">
              <a:solidFill>
                <a:srgbClr val="162338"/>
              </a:solidFill>
              <a:latin typeface="Aptos" panose="020B0004020202020204" pitchFamily="34" charset="0"/>
            </a:endParaRPr>
          </a:p>
        </p:txBody>
      </p:sp>
      <p:sp>
        <p:nvSpPr>
          <p:cNvPr id="3" name="TextBox 2">
            <a:extLst>
              <a:ext uri="{FF2B5EF4-FFF2-40B4-BE49-F238E27FC236}">
                <a16:creationId xmlns:a16="http://schemas.microsoft.com/office/drawing/2014/main" id="{0D7F5126-2C02-1F31-9914-8E8396232CBC}"/>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667386"/>
                </a:solidFill>
                <a:latin typeface="Aptos" panose="020B0004020202020204" pitchFamily="34" charset="0"/>
              </a:rPr>
              <a:t>Sumber: requirements.txt, panduan notebook dan laporan bagian 2.4.</a:t>
            </a:r>
          </a:p>
        </p:txBody>
      </p:sp>
      <p:sp>
        <p:nvSpPr>
          <p:cNvPr id="4" name="TextBox 3">
            <a:extLst>
              <a:ext uri="{FF2B5EF4-FFF2-40B4-BE49-F238E27FC236}">
                <a16:creationId xmlns:a16="http://schemas.microsoft.com/office/drawing/2014/main" id="{B6C3B870-D1F4-3399-D638-1F0E7785BA30}"/>
              </a:ext>
            </a:extLst>
          </p:cNvPr>
          <p:cNvSpPr txBox="1"/>
          <p:nvPr/>
        </p:nvSpPr>
        <p:spPr>
          <a:xfrm>
            <a:off x="609600" y="6007100"/>
            <a:ext cx="10972800" cy="276999"/>
          </a:xfrm>
          <a:prstGeom prst="rect">
            <a:avLst/>
          </a:prstGeom>
          <a:noFill/>
        </p:spPr>
        <p:txBody>
          <a:bodyPr vert="horz" wrap="square" lIns="0" tIns="0" rIns="0" bIns="0" rtlCol="0">
            <a:noAutofit/>
          </a:bodyPr>
          <a:lstStyle/>
          <a:p>
            <a:pPr>
              <a:spcAft>
                <a:spcPts val="700"/>
              </a:spcAft>
            </a:pPr>
            <a:r>
              <a:rPr lang="en-ID" sz="1700" b="1">
                <a:solidFill>
                  <a:srgbClr val="007E96"/>
                </a:solidFill>
                <a:latin typeface="Aptos" panose="020B0004020202020204" pitchFamily="34" charset="0"/>
              </a:rPr>
              <a:t>Spark local[4]: satu mesin. Kapasitas cluster belum diuji.</a:t>
            </a:r>
          </a:p>
        </p:txBody>
      </p:sp>
      <p:graphicFrame>
        <p:nvGraphicFramePr>
          <p:cNvPr id="5" name="Table 4">
            <a:extLst>
              <a:ext uri="{FF2B5EF4-FFF2-40B4-BE49-F238E27FC236}">
                <a16:creationId xmlns:a16="http://schemas.microsoft.com/office/drawing/2014/main" id="{390EE1FE-C3F2-6234-20CB-1E2F3029009C}"/>
              </a:ext>
            </a:extLst>
          </p:cNvPr>
          <p:cNvGraphicFramePr>
            <a:graphicFrameLocks noGrp="1"/>
          </p:cNvGraphicFramePr>
          <p:nvPr>
            <p:extLst>
              <p:ext uri="{D42A27DB-BD31-4B8C-83A1-F6EECF244321}">
                <p14:modId xmlns:p14="http://schemas.microsoft.com/office/powerpoint/2010/main" val="2232039345"/>
              </p:ext>
            </p:extLst>
          </p:nvPr>
        </p:nvGraphicFramePr>
        <p:xfrm>
          <a:off x="609600" y="1498600"/>
          <a:ext cx="10972800" cy="403860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1103382542"/>
                    </a:ext>
                  </a:extLst>
                </a:gridCol>
                <a:gridCol w="3302000">
                  <a:extLst>
                    <a:ext uri="{9D8B030D-6E8A-4147-A177-3AD203B41FA5}">
                      <a16:colId xmlns:a16="http://schemas.microsoft.com/office/drawing/2014/main" val="4267655143"/>
                    </a:ext>
                  </a:extLst>
                </a:gridCol>
                <a:gridCol w="4775200">
                  <a:extLst>
                    <a:ext uri="{9D8B030D-6E8A-4147-A177-3AD203B41FA5}">
                      <a16:colId xmlns:a16="http://schemas.microsoft.com/office/drawing/2014/main" val="2058478837"/>
                    </a:ext>
                  </a:extLst>
                </a:gridCol>
              </a:tblGrid>
              <a:tr h="576943">
                <a:tc>
                  <a:txBody>
                    <a:bodyPr wrap="square" anchor="ctr"/>
                    <a:lstStyle/>
                    <a:p>
                      <a:r>
                        <a:rPr lang="en-ID" sz="1600" b="1">
                          <a:solidFill>
                            <a:srgbClr val="FFFFFF"/>
                          </a:solidFill>
                          <a:latin typeface="Aptos" panose="020B0004020202020204" pitchFamily="34" charset="0"/>
                        </a:rPr>
                        <a:t>Teknologi</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wrap="square" anchor="ctr"/>
                    <a:lstStyle/>
                    <a:p>
                      <a:r>
                        <a:rPr lang="en-ID" sz="1600" b="1">
                          <a:solidFill>
                            <a:srgbClr val="FFFFFF"/>
                          </a:solidFill>
                          <a:latin typeface="Aptos" panose="020B0004020202020204" pitchFamily="34" charset="0"/>
                        </a:rPr>
                        <a:t>Peran</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tc>
                  <a:txBody>
                    <a:bodyPr wrap="square" anchor="ctr"/>
                    <a:lstStyle/>
                    <a:p>
                      <a:r>
                        <a:rPr sz="1600" b="1">
                          <a:solidFill>
                            <a:srgbClr val="FFFFFF"/>
                          </a:solidFill>
                          <a:latin typeface="Aptos"/>
                        </a:rPr>
                        <a:t>Mengapa dipakai</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162338"/>
                    </a:solidFill>
                  </a:tcPr>
                </a:tc>
                <a:extLst>
                  <a:ext uri="{0D108BD9-81ED-4DB2-BD59-A6C34878D82A}">
                    <a16:rowId xmlns:a16="http://schemas.microsoft.com/office/drawing/2014/main" val="3851635838"/>
                  </a:ext>
                </a:extLst>
              </a:tr>
              <a:tr h="576943">
                <a:tc>
                  <a:txBody>
                    <a:bodyPr wrap="square" anchor="ctr"/>
                    <a:lstStyle/>
                    <a:p>
                      <a:r>
                        <a:rPr sz="1550" b="0">
                          <a:solidFill>
                            <a:srgbClr val="162338"/>
                          </a:solidFill>
                          <a:latin typeface="Aptos"/>
                        </a:rPr>
                        <a:t>Python 3.11 · VS Code · Jupyter</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wrap="square" anchor="ctr"/>
                    <a:lstStyle/>
                    <a:p>
                      <a:r>
                        <a:rPr lang="en-ID" sz="1550" b="0">
                          <a:solidFill>
                            <a:srgbClr val="162338"/>
                          </a:solidFill>
                          <a:latin typeface="Aptos" panose="020B0004020202020204" pitchFamily="34" charset="0"/>
                        </a:rPr>
                        <a:t>Kode dan notebook</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wrap="square" anchor="ctr"/>
                    <a:lstStyle/>
                    <a:p>
                      <a:r>
                        <a:rPr lang="en-ID" sz="1550" b="0">
                          <a:solidFill>
                            <a:srgbClr val="162338"/>
                          </a:solidFill>
                          <a:latin typeface="Aptos" panose="020B0004020202020204" pitchFamily="34" charset="0"/>
                        </a:rPr>
                        <a:t>Pengembangan dan output per sel</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3309911641"/>
                  </a:ext>
                </a:extLst>
              </a:tr>
              <a:tr h="576943">
                <a:tc>
                  <a:txBody>
                    <a:bodyPr wrap="square" anchor="ctr"/>
                    <a:lstStyle/>
                    <a:p>
                      <a:r>
                        <a:rPr sz="1550" b="0">
                          <a:solidFill>
                            <a:srgbClr val="162338"/>
                          </a:solidFill>
                          <a:latin typeface="Aptos"/>
                        </a:rPr>
                        <a:t>PySpark 4.0.4 · Java 17</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tc>
                  <a:txBody>
                    <a:bodyPr wrap="square" anchor="ctr"/>
                    <a:lstStyle/>
                    <a:p>
                      <a:r>
                        <a:rPr lang="en-ID" sz="1550" b="0">
                          <a:solidFill>
                            <a:srgbClr val="162338"/>
                          </a:solidFill>
                          <a:latin typeface="Aptos" panose="020B0004020202020204" pitchFamily="34" charset="0"/>
                        </a:rPr>
                        <a:t>Transformasi tabel</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tc>
                  <a:txBody>
                    <a:bodyPr wrap="square" anchor="ctr"/>
                    <a:lstStyle/>
                    <a:p>
                      <a:r>
                        <a:rPr lang="en-ID" sz="1550" b="0">
                          <a:solidFill>
                            <a:srgbClr val="162338"/>
                          </a:solidFill>
                          <a:latin typeface="Aptos" panose="020B0004020202020204" pitchFamily="34" charset="0"/>
                        </a:rPr>
                        <a:t>Integrasi DataFrame dan MLlib</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extLst>
                  <a:ext uri="{0D108BD9-81ED-4DB2-BD59-A6C34878D82A}">
                    <a16:rowId xmlns:a16="http://schemas.microsoft.com/office/drawing/2014/main" val="2292406950"/>
                  </a:ext>
                </a:extLst>
              </a:tr>
              <a:tr h="576943">
                <a:tc>
                  <a:txBody>
                    <a:bodyPr wrap="square" anchor="ctr"/>
                    <a:lstStyle/>
                    <a:p>
                      <a:r>
                        <a:rPr sz="1550" b="0">
                          <a:solidFill>
                            <a:srgbClr val="162338"/>
                          </a:solidFill>
                          <a:latin typeface="Aptos"/>
                        </a:rPr>
                        <a:t>Parquet Snappy</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wrap="square" anchor="ctr"/>
                    <a:lstStyle/>
                    <a:p>
                      <a:r>
                        <a:rPr lang="en-ID" sz="1550" b="0">
                          <a:solidFill>
                            <a:srgbClr val="162338"/>
                          </a:solidFill>
                          <a:latin typeface="Aptos" panose="020B0004020202020204" pitchFamily="34" charset="0"/>
                        </a:rPr>
                        <a:t>Penyimpanan bertipe</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wrap="square" anchor="ctr"/>
                    <a:lstStyle/>
                    <a:p>
                      <a:r>
                        <a:rPr lang="en-ID" sz="1550" b="0">
                          <a:solidFill>
                            <a:srgbClr val="162338"/>
                          </a:solidFill>
                          <a:latin typeface="Aptos" panose="020B0004020202020204" pitchFamily="34" charset="0"/>
                        </a:rPr>
                        <a:t>Format columnar dan kompresi</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2322838619"/>
                  </a:ext>
                </a:extLst>
              </a:tr>
              <a:tr h="576943">
                <a:tc>
                  <a:txBody>
                    <a:bodyPr wrap="square" anchor="ctr"/>
                    <a:lstStyle/>
                    <a:p>
                      <a:r>
                        <a:rPr lang="en-ID" sz="1550" b="0">
                          <a:solidFill>
                            <a:srgbClr val="162338"/>
                          </a:solidFill>
                          <a:latin typeface="Aptos" panose="020B0004020202020204" pitchFamily="34" charset="0"/>
                        </a:rPr>
                        <a:t>MLlib Random Forest</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tc>
                  <a:txBody>
                    <a:bodyPr wrap="square" anchor="ctr"/>
                    <a:lstStyle/>
                    <a:p>
                      <a:r>
                        <a:rPr lang="en-ID" sz="1550" b="0">
                          <a:solidFill>
                            <a:srgbClr val="162338"/>
                          </a:solidFill>
                          <a:latin typeface="Aptos" panose="020B0004020202020204" pitchFamily="34" charset="0"/>
                        </a:rPr>
                        <a:t>Eksplorasi risiko delay</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tc>
                  <a:txBody>
                    <a:bodyPr wrap="square" anchor="ctr"/>
                    <a:lstStyle/>
                    <a:p>
                      <a:r>
                        <a:rPr lang="en-ID" sz="1550" b="0">
                          <a:solidFill>
                            <a:srgbClr val="162338"/>
                          </a:solidFill>
                          <a:latin typeface="Aptos" panose="020B0004020202020204" pitchFamily="34" charset="0"/>
                        </a:rPr>
                        <a:t>Model klasifikasi dalam Spark</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extLst>
                  <a:ext uri="{0D108BD9-81ED-4DB2-BD59-A6C34878D82A}">
                    <a16:rowId xmlns:a16="http://schemas.microsoft.com/office/drawing/2014/main" val="4057789871"/>
                  </a:ext>
                </a:extLst>
              </a:tr>
              <a:tr h="576943">
                <a:tc>
                  <a:txBody>
                    <a:bodyPr wrap="square" anchor="ctr"/>
                    <a:lstStyle/>
                    <a:p>
                      <a:r>
                        <a:rPr sz="1550" b="0">
                          <a:solidFill>
                            <a:srgbClr val="162338"/>
                          </a:solidFill>
                          <a:latin typeface="Aptos"/>
                        </a:rPr>
                        <a:t>pandas · NetworkX</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wrap="square" anchor="ctr"/>
                    <a:lstStyle/>
                    <a:p>
                      <a:r>
                        <a:rPr lang="en-ID" sz="1550" b="0">
                          <a:solidFill>
                            <a:srgbClr val="162338"/>
                          </a:solidFill>
                          <a:latin typeface="Aptos" panose="020B0004020202020204" pitchFamily="34" charset="0"/>
                        </a:rPr>
                        <a:t>Analisis jaringan state</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tc>
                  <a:txBody>
                    <a:bodyPr wrap="square" anchor="ctr"/>
                    <a:lstStyle/>
                    <a:p>
                      <a:r>
                        <a:rPr lang="en-ID" sz="1550" b="0">
                          <a:solidFill>
                            <a:srgbClr val="162338"/>
                          </a:solidFill>
                          <a:latin typeface="Aptos" panose="020B0004020202020204" pitchFamily="34" charset="0"/>
                        </a:rPr>
                        <a:t>Graf kecil dalam memori</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FFFFF"/>
                    </a:solidFill>
                  </a:tcPr>
                </a:tc>
                <a:extLst>
                  <a:ext uri="{0D108BD9-81ED-4DB2-BD59-A6C34878D82A}">
                    <a16:rowId xmlns:a16="http://schemas.microsoft.com/office/drawing/2014/main" val="1677890336"/>
                  </a:ext>
                </a:extLst>
              </a:tr>
              <a:tr h="576943">
                <a:tc>
                  <a:txBody>
                    <a:bodyPr wrap="square" anchor="ctr"/>
                    <a:lstStyle/>
                    <a:p>
                      <a:r>
                        <a:rPr lang="en-ID" sz="1550" b="0">
                          <a:solidFill>
                            <a:srgbClr val="162338"/>
                          </a:solidFill>
                          <a:latin typeface="Aptos" panose="020B0004020202020204" pitchFamily="34" charset="0"/>
                        </a:rPr>
                        <a:t>Git + GitHub</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tc>
                  <a:txBody>
                    <a:bodyPr wrap="square" anchor="ctr"/>
                    <a:lstStyle/>
                    <a:p>
                      <a:r>
                        <a:rPr lang="en-ID" sz="1550" b="0">
                          <a:solidFill>
                            <a:srgbClr val="162338"/>
                          </a:solidFill>
                          <a:latin typeface="Aptos" panose="020B0004020202020204" pitchFamily="34" charset="0"/>
                        </a:rPr>
                        <a:t>Versi dan dokumentasi</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tc>
                  <a:txBody>
                    <a:bodyPr wrap="square" anchor="ctr"/>
                    <a:lstStyle/>
                    <a:p>
                      <a:r>
                        <a:rPr lang="en-ID" sz="1550" b="0">
                          <a:solidFill>
                            <a:srgbClr val="162338"/>
                          </a:solidFill>
                          <a:latin typeface="Aptos" panose="020B0004020202020204" pitchFamily="34" charset="0"/>
                        </a:rPr>
                        <a:t>Kelanjutan kerja lintas perangkat</a:t>
                      </a:r>
                    </a:p>
                  </a:txBody>
                  <a:tcPr marL="137160" marR="109728" marT="36576" marB="36576" anchor="ctr">
                    <a:lnL w="6350" cmpd="sng">
                      <a:solidFill>
                        <a:srgbClr val="CBD1D8"/>
                      </a:solidFill>
                    </a:lnL>
                    <a:lnR w="6350" cmpd="sng">
                      <a:solidFill>
                        <a:srgbClr val="CBD1D8"/>
                      </a:solidFill>
                    </a:lnR>
                    <a:lnT w="6350" cmpd="sng">
                      <a:solidFill>
                        <a:srgbClr val="CBD1D8"/>
                      </a:solidFill>
                    </a:lnT>
                    <a:lnB w="6350" cmpd="sng">
                      <a:solidFill>
                        <a:srgbClr val="CBD1D8"/>
                      </a:solidFill>
                    </a:lnB>
                    <a:solidFill>
                      <a:srgbClr val="F3F7F8"/>
                    </a:solidFill>
                  </a:tcPr>
                </a:tc>
                <a:extLst>
                  <a:ext uri="{0D108BD9-81ED-4DB2-BD59-A6C34878D82A}">
                    <a16:rowId xmlns:a16="http://schemas.microsoft.com/office/drawing/2014/main" val="98421551"/>
                  </a:ext>
                </a:extLst>
              </a:tr>
            </a:tbl>
          </a:graphicData>
        </a:graphic>
      </p:graphicFrame>
      <p:sp>
        <p:nvSpPr>
          <p:cNvPr id="6" name="TextBox 5">
            <a:extLst>
              <a:ext uri="{FF2B5EF4-FFF2-40B4-BE49-F238E27FC236}">
                <a16:creationId xmlns:a16="http://schemas.microsoft.com/office/drawing/2014/main" id="{E02C3BFC-35F9-6A8E-AD3E-3B62699E25C3}"/>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007E96"/>
                </a:solidFill>
                <a:latin typeface="Aptos" panose="020B0004020202020204" pitchFamily="34" charset="0"/>
              </a:rPr>
              <a:t>05 / 11</a:t>
            </a:r>
          </a:p>
        </p:txBody>
      </p:sp>
    </p:spTree>
    <p:extLst>
      <p:ext uri="{BB962C8B-B14F-4D97-AF65-F5344CB8AC3E}">
        <p14:creationId xmlns:p14="http://schemas.microsoft.com/office/powerpoint/2010/main" val="3324402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6AA33E-D173-7688-630B-70C85358A0B7}"/>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s-ES" sz="3200" b="1">
                <a:solidFill>
                  <a:srgbClr val="162338"/>
                </a:solidFill>
                <a:latin typeface="Aptos Display" panose="020B0004020202020204" pitchFamily="34" charset="0"/>
              </a:rPr>
              <a:t>Arsitektur data lake dan batas implementasi</a:t>
            </a:r>
            <a:endParaRPr lang="en-ID" sz="3200" b="1">
              <a:solidFill>
                <a:srgbClr val="162338"/>
              </a:solidFill>
              <a:latin typeface="Aptos" panose="020B0004020202020204" pitchFamily="34" charset="0"/>
            </a:endParaRPr>
          </a:p>
        </p:txBody>
      </p:sp>
      <p:sp>
        <p:nvSpPr>
          <p:cNvPr id="3" name="TextBox 2">
            <a:extLst>
              <a:ext uri="{FF2B5EF4-FFF2-40B4-BE49-F238E27FC236}">
                <a16:creationId xmlns:a16="http://schemas.microsoft.com/office/drawing/2014/main" id="{7229F94E-4F12-79A9-0FFF-6F7337EB79D5}"/>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667386"/>
                </a:solidFill>
                <a:latin typeface="Aptos" panose="020B0004020202020204" pitchFamily="34" charset="0"/>
              </a:rPr>
              <a:t>Sumber: laporan Bab 2/4. Cluster dan S3/HDFS adalah rancangan.</a:t>
            </a:r>
          </a:p>
        </p:txBody>
      </p:sp>
      <p:sp>
        <p:nvSpPr>
          <p:cNvPr id="6" name="TextBox 5">
            <a:extLst>
              <a:ext uri="{FF2B5EF4-FFF2-40B4-BE49-F238E27FC236}">
                <a16:creationId xmlns:a16="http://schemas.microsoft.com/office/drawing/2014/main" id="{D7510C63-B259-F3EA-DA99-ABF6F548AD05}"/>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007E96"/>
                </a:solidFill>
                <a:latin typeface="Aptos" panose="020B0004020202020204" pitchFamily="34" charset="0"/>
              </a:rPr>
              <a:t>06 / 11</a:t>
            </a:r>
          </a:p>
        </p:txBody>
      </p:sp>
      <p:pic>
        <p:nvPicPr>
          <p:cNvPr id="7" name="Picture 6" descr="fig0_enterprise_architecture.png"/>
          <p:cNvPicPr>
            <a:picLocks noChangeAspect="1"/>
          </p:cNvPicPr>
          <p:nvPr/>
        </p:nvPicPr>
        <p:blipFill>
          <a:blip r:embed="rId3"/>
          <a:stretch>
            <a:fillRect/>
          </a:stretch>
        </p:blipFill>
        <p:spPr>
          <a:xfrm>
            <a:off x="548640" y="1024128"/>
            <a:ext cx="11018520" cy="5077297"/>
          </a:xfrm>
          <a:prstGeom prst="rect">
            <a:avLst/>
          </a:prstGeom>
        </p:spPr>
      </p:pic>
    </p:spTree>
    <p:extLst>
      <p:ext uri="{BB962C8B-B14F-4D97-AF65-F5344CB8AC3E}">
        <p14:creationId xmlns:p14="http://schemas.microsoft.com/office/powerpoint/2010/main" val="2150509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6EC3D4-8F36-716D-AF0E-843980D9FDCD}"/>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pt-BR" sz="3200" b="1">
                <a:solidFill>
                  <a:srgbClr val="162338"/>
                </a:solidFill>
                <a:latin typeface="Aptos Display" panose="020B0004020202020204" pitchFamily="34" charset="0"/>
              </a:rPr>
              <a:t>Hasil ingestion dan kualitas data</a:t>
            </a:r>
            <a:endParaRPr lang="en-ID" sz="3200" b="1">
              <a:solidFill>
                <a:srgbClr val="162338"/>
              </a:solidFill>
              <a:latin typeface="Aptos" panose="020B0004020202020204" pitchFamily="34" charset="0"/>
            </a:endParaRPr>
          </a:p>
        </p:txBody>
      </p:sp>
      <p:sp>
        <p:nvSpPr>
          <p:cNvPr id="3" name="TextBox 2">
            <a:extLst>
              <a:ext uri="{FF2B5EF4-FFF2-40B4-BE49-F238E27FC236}">
                <a16:creationId xmlns:a16="http://schemas.microsoft.com/office/drawing/2014/main" id="{5460633C-3E99-BD5E-9BBA-35CE772B555E}"/>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667386"/>
                </a:solidFill>
                <a:latin typeface="Aptos" panose="020B0004020202020204" pitchFamily="34" charset="0"/>
              </a:rPr>
              <a:t>Hasil demo ingestion yang telah dijalankan. Sumber: laporan ringkasan ingestion.</a:t>
            </a:r>
          </a:p>
        </p:txBody>
      </p:sp>
      <p:sp>
        <p:nvSpPr>
          <p:cNvPr id="8" name="TextBox 7">
            <a:extLst>
              <a:ext uri="{FF2B5EF4-FFF2-40B4-BE49-F238E27FC236}">
                <a16:creationId xmlns:a16="http://schemas.microsoft.com/office/drawing/2014/main" id="{457E8E42-42CC-4F3D-3AEC-826BD79C8F19}"/>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007E96"/>
                </a:solidFill>
                <a:latin typeface="Aptos" panose="020B0004020202020204" pitchFamily="34" charset="0"/>
              </a:rPr>
              <a:t>07 / 11</a:t>
            </a:r>
          </a:p>
        </p:txBody>
      </p:sp>
      <p:sp>
        <p:nvSpPr>
          <p:cNvPr id="9" name="TextBox 8"/>
          <p:cNvSpPr txBox="1"/>
          <p:nvPr/>
        </p:nvSpPr>
        <p:spPr>
          <a:xfrm>
            <a:off x="640080" y="1307592"/>
            <a:ext cx="4937760" cy="347472"/>
          </a:xfrm>
          <a:prstGeom prst="rect">
            <a:avLst/>
          </a:prstGeom>
          <a:noFill/>
        </p:spPr>
        <p:txBody>
          <a:bodyPr wrap="square" anchor="ctr" lIns="9144" rIns="9144" tIns="9144" bIns="9144">
            <a:spAutoFit/>
          </a:bodyPr>
          <a:lstStyle/>
          <a:p>
            <a:pPr algn="l"/>
            <a:r>
              <a:rPr sz="1500" b="1">
                <a:solidFill>
                  <a:srgbClr val="007E96"/>
                </a:solidFill>
                <a:latin typeface="Aptos"/>
              </a:rPr>
              <a:t>HASIL VALIDASI</a:t>
            </a:r>
          </a:p>
        </p:txBody>
      </p:sp>
      <p:sp>
        <p:nvSpPr>
          <p:cNvPr id="10" name="TextBox 9"/>
          <p:cNvSpPr txBox="1"/>
          <p:nvPr/>
        </p:nvSpPr>
        <p:spPr>
          <a:xfrm>
            <a:off x="630936" y="1700784"/>
            <a:ext cx="5029200" cy="758952"/>
          </a:xfrm>
          <a:prstGeom prst="rect">
            <a:avLst/>
          </a:prstGeom>
          <a:noFill/>
        </p:spPr>
        <p:txBody>
          <a:bodyPr wrap="square" anchor="ctr" lIns="9144" rIns="9144" tIns="9144" bIns="9144">
            <a:spAutoFit/>
          </a:bodyPr>
          <a:lstStyle/>
          <a:p>
            <a:pPr algn="l"/>
            <a:r>
              <a:rPr sz="4700" b="1">
                <a:solidFill>
                  <a:srgbClr val="162338"/>
                </a:solidFill>
                <a:latin typeface="Aptos Display"/>
              </a:rPr>
              <a:t>9 tabel</a:t>
            </a:r>
          </a:p>
        </p:txBody>
      </p:sp>
      <p:sp>
        <p:nvSpPr>
          <p:cNvPr id="11" name="TextBox 10"/>
          <p:cNvSpPr txBox="1"/>
          <p:nvPr/>
        </p:nvSpPr>
        <p:spPr>
          <a:xfrm>
            <a:off x="667512" y="2688336"/>
            <a:ext cx="5166360" cy="530352"/>
          </a:xfrm>
          <a:prstGeom prst="rect">
            <a:avLst/>
          </a:prstGeom>
          <a:noFill/>
        </p:spPr>
        <p:txBody>
          <a:bodyPr wrap="square" anchor="ctr" lIns="9144" rIns="9144" tIns="9144" bIns="9144">
            <a:spAutoFit/>
          </a:bodyPr>
          <a:lstStyle/>
          <a:p>
            <a:pPr algn="l"/>
            <a:r>
              <a:rPr sz="2100" b="0">
                <a:solidFill>
                  <a:srgbClr val="162338"/>
                </a:solidFill>
                <a:latin typeface="Aptos"/>
              </a:rPr>
              <a:t>Round-trip Parquet tervalidasi</a:t>
            </a:r>
          </a:p>
        </p:txBody>
      </p:sp>
      <p:sp>
        <p:nvSpPr>
          <p:cNvPr id="12" name="TextBox 11"/>
          <p:cNvSpPr txBox="1"/>
          <p:nvPr/>
        </p:nvSpPr>
        <p:spPr>
          <a:xfrm>
            <a:off x="6126480" y="1307592"/>
            <a:ext cx="5120640" cy="347472"/>
          </a:xfrm>
          <a:prstGeom prst="rect">
            <a:avLst/>
          </a:prstGeom>
          <a:noFill/>
        </p:spPr>
        <p:txBody>
          <a:bodyPr wrap="square" anchor="ctr" lIns="9144" rIns="9144" tIns="9144" bIns="9144">
            <a:spAutoFit/>
          </a:bodyPr>
          <a:lstStyle/>
          <a:p>
            <a:pPr algn="l"/>
            <a:r>
              <a:rPr sz="1500" b="1">
                <a:solidFill>
                  <a:srgbClr val="007E96"/>
                </a:solidFill>
                <a:latin typeface="Aptos"/>
              </a:rPr>
              <a:t>PENGHEMATAN STORAGE</a:t>
            </a:r>
          </a:p>
        </p:txBody>
      </p:sp>
      <p:sp>
        <p:nvSpPr>
          <p:cNvPr id="13" name="TextBox 12"/>
          <p:cNvSpPr txBox="1"/>
          <p:nvPr/>
        </p:nvSpPr>
        <p:spPr>
          <a:xfrm>
            <a:off x="6099048" y="1673352"/>
            <a:ext cx="5166360" cy="859536"/>
          </a:xfrm>
          <a:prstGeom prst="rect">
            <a:avLst/>
          </a:prstGeom>
          <a:noFill/>
        </p:spPr>
        <p:txBody>
          <a:bodyPr wrap="square" anchor="ctr" lIns="9144" rIns="9144" tIns="9144" bIns="9144">
            <a:spAutoFit/>
          </a:bodyPr>
          <a:lstStyle/>
          <a:p>
            <a:pPr algn="l"/>
            <a:r>
              <a:rPr sz="5400" b="1">
                <a:solidFill>
                  <a:srgbClr val="007E96"/>
                </a:solidFill>
                <a:latin typeface="Aptos Display"/>
              </a:rPr>
              <a:t>54,93%</a:t>
            </a:r>
          </a:p>
        </p:txBody>
      </p:sp>
      <p:sp>
        <p:nvSpPr>
          <p:cNvPr id="14" name="TextBox 13"/>
          <p:cNvSpPr txBox="1"/>
          <p:nvPr/>
        </p:nvSpPr>
        <p:spPr>
          <a:xfrm>
            <a:off x="6144768" y="2715768"/>
            <a:ext cx="5074920" cy="822960"/>
          </a:xfrm>
          <a:prstGeom prst="rect">
            <a:avLst/>
          </a:prstGeom>
          <a:noFill/>
        </p:spPr>
        <p:txBody>
          <a:bodyPr wrap="square" anchor="ctr" lIns="9144" rIns="9144" tIns="9144" bIns="9144">
            <a:spAutoFit/>
          </a:bodyPr>
          <a:lstStyle/>
          <a:p>
            <a:pPr algn="l"/>
            <a:r>
              <a:rPr sz="2100" b="0">
                <a:solidFill>
                  <a:srgbClr val="162338"/>
                </a:solidFill>
                <a:latin typeface="Aptos"/>
              </a:rPr>
              <a:t>120,341 MiB CSV  →  54,236 MiB Parquet</a:t>
            </a:r>
          </a:p>
        </p:txBody>
      </p:sp>
      <p:sp>
        <p:nvSpPr>
          <p:cNvPr id="15" name="TextBox 14"/>
          <p:cNvSpPr txBox="1"/>
          <p:nvPr/>
        </p:nvSpPr>
        <p:spPr>
          <a:xfrm>
            <a:off x="667512" y="4233672"/>
            <a:ext cx="10561320" cy="777240"/>
          </a:xfrm>
          <a:prstGeom prst="rect">
            <a:avLst/>
          </a:prstGeom>
          <a:noFill/>
        </p:spPr>
        <p:txBody>
          <a:bodyPr wrap="square" anchor="ctr" lIns="9144" rIns="9144" tIns="9144" bIns="9144">
            <a:spAutoFit/>
          </a:bodyPr>
          <a:lstStyle/>
          <a:p>
            <a:pPr algn="l"/>
            <a:r>
              <a:rPr sz="2200" b="0">
                <a:solidFill>
                  <a:srgbClr val="162338"/>
                </a:solidFill>
                <a:latin typeface="Aptos"/>
              </a:rPr>
              <a:t>Raw dipertahankan. Tipe, key, jumlah baris, dan null diperiksa.</a:t>
            </a:r>
          </a:p>
        </p:txBody>
      </p:sp>
      <p:sp>
        <p:nvSpPr>
          <p:cNvPr id="16" name="TextBox 15"/>
          <p:cNvSpPr txBox="1"/>
          <p:nvPr/>
        </p:nvSpPr>
        <p:spPr>
          <a:xfrm>
            <a:off x="667512" y="5550408"/>
            <a:ext cx="10515600" cy="365760"/>
          </a:xfrm>
          <a:prstGeom prst="rect">
            <a:avLst/>
          </a:prstGeom>
          <a:noFill/>
        </p:spPr>
        <p:txBody>
          <a:bodyPr wrap="square" anchor="ctr" lIns="9144" rIns="9144" tIns="9144" bIns="9144">
            <a:spAutoFit/>
          </a:bodyPr>
          <a:lstStyle/>
          <a:p>
            <a:pPr algn="l"/>
            <a:r>
              <a:rPr sz="1600" b="0">
                <a:solidFill>
                  <a:srgbClr val="667386"/>
                </a:solidFill>
                <a:latin typeface="Aptos"/>
              </a:rPr>
              <a:t>Penghematan ruang bukan benchmark kecepatan kueri.</a:t>
            </a:r>
          </a:p>
        </p:txBody>
      </p:sp>
    </p:spTree>
    <p:extLst>
      <p:ext uri="{BB962C8B-B14F-4D97-AF65-F5344CB8AC3E}">
        <p14:creationId xmlns:p14="http://schemas.microsoft.com/office/powerpoint/2010/main" val="3502656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A8648D-7F5B-2C05-F6FF-BE88F5499DA8}"/>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it-IT" sz="3200" b="1">
                <a:solidFill>
                  <a:srgbClr val="162338"/>
                </a:solidFill>
                <a:latin typeface="Aptos Display" panose="020B0004020202020204" pitchFamily="34" charset="0"/>
              </a:rPr>
              <a:t>Profil null dan tata kelola data</a:t>
            </a:r>
            <a:endParaRPr lang="en-ID" sz="3200" b="1">
              <a:solidFill>
                <a:srgbClr val="162338"/>
              </a:solidFill>
              <a:latin typeface="Aptos" panose="020B0004020202020204" pitchFamily="34" charset="0"/>
            </a:endParaRPr>
          </a:p>
        </p:txBody>
      </p:sp>
      <p:sp>
        <p:nvSpPr>
          <p:cNvPr id="3" name="TextBox 2">
            <a:extLst>
              <a:ext uri="{FF2B5EF4-FFF2-40B4-BE49-F238E27FC236}">
                <a16:creationId xmlns:a16="http://schemas.microsoft.com/office/drawing/2014/main" id="{8695B37A-B84A-9D71-0D3D-772C450A471F}"/>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667386"/>
                </a:solidFill>
                <a:latin typeface="Aptos" panose="020B0004020202020204" pitchFamily="34" charset="0"/>
              </a:rPr>
              <a:t>Sumber: profil EDA dan laporan Bab 3/4. Kontrol enterprise belum diuji.</a:t>
            </a:r>
          </a:p>
        </p:txBody>
      </p:sp>
      <p:sp>
        <p:nvSpPr>
          <p:cNvPr id="6" name="TextBox 5">
            <a:extLst>
              <a:ext uri="{FF2B5EF4-FFF2-40B4-BE49-F238E27FC236}">
                <a16:creationId xmlns:a16="http://schemas.microsoft.com/office/drawing/2014/main" id="{7305FDCA-349B-0C24-367C-586951541648}"/>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007E96"/>
                </a:solidFill>
                <a:latin typeface="Aptos" panose="020B0004020202020204" pitchFamily="34" charset="0"/>
              </a:rPr>
              <a:t>08 / 11</a:t>
            </a:r>
          </a:p>
        </p:txBody>
      </p:sp>
      <p:pic>
        <p:nvPicPr>
          <p:cNvPr id="7" name="Picture 6" descr="fig4_null_profile_heatmap.png"/>
          <p:cNvPicPr>
            <a:picLocks noChangeAspect="1"/>
          </p:cNvPicPr>
          <p:nvPr/>
        </p:nvPicPr>
        <p:blipFill>
          <a:blip r:embed="rId3"/>
          <a:stretch>
            <a:fillRect/>
          </a:stretch>
        </p:blipFill>
        <p:spPr>
          <a:xfrm>
            <a:off x="457200" y="1271016"/>
            <a:ext cx="7900416" cy="4867802"/>
          </a:xfrm>
          <a:prstGeom prst="rect">
            <a:avLst/>
          </a:prstGeom>
        </p:spPr>
      </p:pic>
      <p:sp>
        <p:nvSpPr>
          <p:cNvPr id="8" name="TextBox 7"/>
          <p:cNvSpPr txBox="1"/>
          <p:nvPr/>
        </p:nvSpPr>
        <p:spPr>
          <a:xfrm>
            <a:off x="8577072" y="1508760"/>
            <a:ext cx="2926080" cy="822960"/>
          </a:xfrm>
          <a:prstGeom prst="rect">
            <a:avLst/>
          </a:prstGeom>
          <a:noFill/>
        </p:spPr>
        <p:txBody>
          <a:bodyPr wrap="square" lIns="18288" rIns="18288" tIns="18288" bIns="18288">
            <a:spAutoFit/>
          </a:bodyPr>
          <a:lstStyle/>
          <a:p>
            <a:r>
              <a:rPr sz="2100" b="1">
                <a:solidFill>
                  <a:srgbClr val="007E96"/>
                </a:solidFill>
                <a:latin typeface="Aptos"/>
              </a:rPr>
              <a:t>Kunci kritis:</a:t>
            </a:r>
          </a:p>
          <a:p>
            <a:r>
              <a:rPr sz="2100" b="1">
                <a:solidFill>
                  <a:srgbClr val="007E96"/>
                </a:solidFill>
                <a:latin typeface="Aptos"/>
              </a:rPr>
              <a:t>null = 0</a:t>
            </a:r>
          </a:p>
        </p:txBody>
      </p:sp>
      <p:sp>
        <p:nvSpPr>
          <p:cNvPr id="9" name="TextBox 8"/>
          <p:cNvSpPr txBox="1"/>
          <p:nvPr/>
        </p:nvSpPr>
        <p:spPr>
          <a:xfrm>
            <a:off x="8577072" y="2761488"/>
            <a:ext cx="2926080" cy="822960"/>
          </a:xfrm>
          <a:prstGeom prst="rect">
            <a:avLst/>
          </a:prstGeom>
          <a:noFill/>
        </p:spPr>
        <p:txBody>
          <a:bodyPr wrap="square" lIns="18288" rIns="18288" tIns="18288" bIns="18288">
            <a:spAutoFit/>
          </a:bodyPr>
          <a:lstStyle/>
          <a:p>
            <a:r>
              <a:rPr sz="2100" b="1">
                <a:solidFill>
                  <a:srgbClr val="007E96"/>
                </a:solidFill>
                <a:latin typeface="Aptos"/>
              </a:rPr>
              <a:t>Empat relasi:</a:t>
            </a:r>
          </a:p>
          <a:p>
            <a:r>
              <a:rPr sz="2100" b="1">
                <a:solidFill>
                  <a:srgbClr val="007E96"/>
                </a:solidFill>
                <a:latin typeface="Aptos"/>
              </a:rPr>
              <a:t>orphan = 0</a:t>
            </a:r>
          </a:p>
        </p:txBody>
      </p:sp>
      <p:sp>
        <p:nvSpPr>
          <p:cNvPr id="10" name="TextBox 9"/>
          <p:cNvSpPr txBox="1"/>
          <p:nvPr/>
        </p:nvSpPr>
        <p:spPr>
          <a:xfrm>
            <a:off x="8577072" y="4105656"/>
            <a:ext cx="2926080" cy="914400"/>
          </a:xfrm>
          <a:prstGeom prst="rect">
            <a:avLst/>
          </a:prstGeom>
          <a:noFill/>
        </p:spPr>
        <p:txBody>
          <a:bodyPr wrap="square" lIns="18288" rIns="18288" tIns="18288" bIns="18288">
            <a:spAutoFit/>
          </a:bodyPr>
          <a:lstStyle/>
          <a:p>
            <a:r>
              <a:rPr sz="1900" b="1">
                <a:solidFill>
                  <a:srgbClr val="162338"/>
                </a:solidFill>
                <a:latin typeface="Aptos"/>
              </a:rPr>
              <a:t>Privasi operasional</a:t>
            </a:r>
          </a:p>
          <a:p>
            <a:r>
              <a:rPr sz="1900" b="1">
                <a:solidFill>
                  <a:srgbClr val="162338"/>
                </a:solidFill>
                <a:latin typeface="Aptos"/>
              </a:rPr>
              <a:t>masih perlu diuji</a:t>
            </a:r>
          </a:p>
        </p:txBody>
      </p:sp>
    </p:spTree>
    <p:extLst>
      <p:ext uri="{BB962C8B-B14F-4D97-AF65-F5344CB8AC3E}">
        <p14:creationId xmlns:p14="http://schemas.microsoft.com/office/powerpoint/2010/main" val="1973563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0B06373-3EFD-87DA-DE7B-DA857DB09C7B}"/>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s-ES" sz="3200" b="1">
                <a:solidFill>
                  <a:srgbClr val="162338"/>
                </a:solidFill>
                <a:latin typeface="Aptos Display" panose="020B0004020202020204" pitchFamily="34" charset="0"/>
              </a:rPr>
              <a:t>Hasil model dan pemilihan ambang</a:t>
            </a:r>
            <a:endParaRPr lang="en-ID" sz="3200" b="1">
              <a:solidFill>
                <a:srgbClr val="162338"/>
              </a:solidFill>
              <a:latin typeface="Aptos" panose="020B0004020202020204" pitchFamily="34" charset="0"/>
            </a:endParaRPr>
          </a:p>
        </p:txBody>
      </p:sp>
      <p:sp>
        <p:nvSpPr>
          <p:cNvPr id="3" name="TextBox 2">
            <a:extLst>
              <a:ext uri="{FF2B5EF4-FFF2-40B4-BE49-F238E27FC236}">
                <a16:creationId xmlns:a16="http://schemas.microsoft.com/office/drawing/2014/main" id="{24858669-D3D0-EEA3-236E-8D43D953BBD5}"/>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667386"/>
                </a:solidFill>
                <a:latin typeface="Aptos" panose="020B0004020202020204" pitchFamily="34" charset="0"/>
              </a:rPr>
              <a:t>Hasil demo model yang telah dijalankan. Sumber: evaluation/comparison/confusion reports.</a:t>
            </a:r>
          </a:p>
        </p:txBody>
      </p:sp>
      <p:sp>
        <p:nvSpPr>
          <p:cNvPr id="8" name="TextBox 7">
            <a:extLst>
              <a:ext uri="{FF2B5EF4-FFF2-40B4-BE49-F238E27FC236}">
                <a16:creationId xmlns:a16="http://schemas.microsoft.com/office/drawing/2014/main" id="{EA8B2693-7440-FC68-B4B8-808A6CF93D1D}"/>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007E96"/>
                </a:solidFill>
                <a:latin typeface="Aptos" panose="020B0004020202020204" pitchFamily="34" charset="0"/>
              </a:rPr>
              <a:t>09 / 11</a:t>
            </a:r>
          </a:p>
        </p:txBody>
      </p:sp>
      <p:sp>
        <p:nvSpPr>
          <p:cNvPr id="9" name="TextBox 8"/>
          <p:cNvSpPr txBox="1"/>
          <p:nvPr/>
        </p:nvSpPr>
        <p:spPr>
          <a:xfrm>
            <a:off x="649224" y="1335024"/>
            <a:ext cx="5029200" cy="347472"/>
          </a:xfrm>
          <a:prstGeom prst="rect">
            <a:avLst/>
          </a:prstGeom>
          <a:noFill/>
        </p:spPr>
        <p:txBody>
          <a:bodyPr wrap="square" anchor="ctr" lIns="9144" rIns="9144" tIns="9144" bIns="9144">
            <a:spAutoFit/>
          </a:bodyPr>
          <a:lstStyle/>
          <a:p>
            <a:pPr algn="l"/>
            <a:r>
              <a:rPr sz="1500" b="1">
                <a:solidFill>
                  <a:srgbClr val="007E96"/>
                </a:solidFill>
                <a:latin typeface="Aptos"/>
              </a:rPr>
              <a:t>RECALL DELAY</a:t>
            </a:r>
          </a:p>
        </p:txBody>
      </p:sp>
      <p:sp>
        <p:nvSpPr>
          <p:cNvPr id="10" name="TextBox 9"/>
          <p:cNvSpPr txBox="1"/>
          <p:nvPr/>
        </p:nvSpPr>
        <p:spPr>
          <a:xfrm>
            <a:off x="612648" y="1700784"/>
            <a:ext cx="5257800" cy="914400"/>
          </a:xfrm>
          <a:prstGeom prst="rect">
            <a:avLst/>
          </a:prstGeom>
          <a:noFill/>
        </p:spPr>
        <p:txBody>
          <a:bodyPr wrap="square" anchor="ctr" lIns="9144" rIns="9144" tIns="9144" bIns="9144">
            <a:spAutoFit/>
          </a:bodyPr>
          <a:lstStyle/>
          <a:p>
            <a:pPr algn="l"/>
            <a:r>
              <a:rPr sz="5300" b="1">
                <a:solidFill>
                  <a:srgbClr val="007E96"/>
                </a:solidFill>
                <a:latin typeface="Aptos Display"/>
              </a:rPr>
              <a:t>45,41%</a:t>
            </a:r>
          </a:p>
        </p:txBody>
      </p:sp>
      <p:sp>
        <p:nvSpPr>
          <p:cNvPr id="11" name="TextBox 10"/>
          <p:cNvSpPr txBox="1"/>
          <p:nvPr/>
        </p:nvSpPr>
        <p:spPr>
          <a:xfrm>
            <a:off x="667512" y="2761488"/>
            <a:ext cx="5074920" cy="484632"/>
          </a:xfrm>
          <a:prstGeom prst="rect">
            <a:avLst/>
          </a:prstGeom>
          <a:noFill/>
        </p:spPr>
        <p:txBody>
          <a:bodyPr wrap="square" anchor="ctr" lIns="9144" rIns="9144" tIns="9144" bIns="9144">
            <a:spAutoFit/>
          </a:bodyPr>
          <a:lstStyle/>
          <a:p>
            <a:pPr algn="l"/>
            <a:r>
              <a:rPr sz="2000" b="0">
                <a:solidFill>
                  <a:srgbClr val="162338"/>
                </a:solidFill>
                <a:latin typeface="Aptos"/>
              </a:rPr>
              <a:t>0% pada ambang default 0,5</a:t>
            </a:r>
          </a:p>
        </p:txBody>
      </p:sp>
      <p:sp>
        <p:nvSpPr>
          <p:cNvPr id="12" name="TextBox 11"/>
          <p:cNvSpPr txBox="1"/>
          <p:nvPr/>
        </p:nvSpPr>
        <p:spPr>
          <a:xfrm>
            <a:off x="6144768" y="1335024"/>
            <a:ext cx="5029200" cy="347472"/>
          </a:xfrm>
          <a:prstGeom prst="rect">
            <a:avLst/>
          </a:prstGeom>
          <a:noFill/>
        </p:spPr>
        <p:txBody>
          <a:bodyPr wrap="square" anchor="ctr" lIns="9144" rIns="9144" tIns="9144" bIns="9144">
            <a:spAutoFit/>
          </a:bodyPr>
          <a:lstStyle/>
          <a:p>
            <a:pPr algn="l"/>
            <a:r>
              <a:rPr sz="1500" b="1">
                <a:solidFill>
                  <a:srgbClr val="007E96"/>
                </a:solidFill>
                <a:latin typeface="Aptos"/>
              </a:rPr>
              <a:t>PRECISION DELAY</a:t>
            </a:r>
          </a:p>
        </p:txBody>
      </p:sp>
      <p:sp>
        <p:nvSpPr>
          <p:cNvPr id="13" name="TextBox 12"/>
          <p:cNvSpPr txBox="1"/>
          <p:nvPr/>
        </p:nvSpPr>
        <p:spPr>
          <a:xfrm>
            <a:off x="6099048" y="1700784"/>
            <a:ext cx="5257800" cy="914400"/>
          </a:xfrm>
          <a:prstGeom prst="rect">
            <a:avLst/>
          </a:prstGeom>
          <a:noFill/>
        </p:spPr>
        <p:txBody>
          <a:bodyPr wrap="square" anchor="ctr" lIns="9144" rIns="9144" tIns="9144" bIns="9144">
            <a:spAutoFit/>
          </a:bodyPr>
          <a:lstStyle/>
          <a:p>
            <a:pPr algn="l"/>
            <a:r>
              <a:rPr sz="5300" b="1">
                <a:solidFill>
                  <a:srgbClr val="162338"/>
                </a:solidFill>
                <a:latin typeface="Aptos Display"/>
              </a:rPr>
              <a:t>14,47%</a:t>
            </a:r>
          </a:p>
        </p:txBody>
      </p:sp>
      <p:sp>
        <p:nvSpPr>
          <p:cNvPr id="14" name="TextBox 13"/>
          <p:cNvSpPr txBox="1"/>
          <p:nvPr/>
        </p:nvSpPr>
        <p:spPr>
          <a:xfrm>
            <a:off x="6153912" y="2761488"/>
            <a:ext cx="5074920" cy="484632"/>
          </a:xfrm>
          <a:prstGeom prst="rect">
            <a:avLst/>
          </a:prstGeom>
          <a:noFill/>
        </p:spPr>
        <p:txBody>
          <a:bodyPr wrap="square" anchor="ctr" lIns="9144" rIns="9144" tIns="9144" bIns="9144">
            <a:spAutoFit/>
          </a:bodyPr>
          <a:lstStyle/>
          <a:p>
            <a:pPr algn="l"/>
            <a:r>
              <a:rPr sz="2000" b="0">
                <a:solidFill>
                  <a:srgbClr val="162338"/>
                </a:solidFill>
                <a:latin typeface="Aptos"/>
              </a:rPr>
              <a:t>4.186 false positive</a:t>
            </a:r>
          </a:p>
        </p:txBody>
      </p:sp>
      <p:sp>
        <p:nvSpPr>
          <p:cNvPr id="15" name="TextBox 14"/>
          <p:cNvSpPr txBox="1"/>
          <p:nvPr/>
        </p:nvSpPr>
        <p:spPr>
          <a:xfrm>
            <a:off x="667512" y="4069080"/>
            <a:ext cx="10469880" cy="475488"/>
          </a:xfrm>
          <a:prstGeom prst="rect">
            <a:avLst/>
          </a:prstGeom>
          <a:noFill/>
        </p:spPr>
        <p:txBody>
          <a:bodyPr wrap="square" anchor="ctr" lIns="9144" rIns="9144" tIns="9144" bIns="9144">
            <a:spAutoFit/>
          </a:bodyPr>
          <a:lstStyle/>
          <a:p>
            <a:pPr algn="l"/>
            <a:r>
              <a:rPr sz="2200" b="1">
                <a:solidFill>
                  <a:srgbClr val="162338"/>
                </a:solidFill>
                <a:latin typeface="Aptos"/>
              </a:rPr>
              <a:t>Random Forest tanpa bobot · ambang 0,099536</a:t>
            </a:r>
          </a:p>
        </p:txBody>
      </p:sp>
      <p:sp>
        <p:nvSpPr>
          <p:cNvPr id="16" name="TextBox 15"/>
          <p:cNvSpPr txBox="1"/>
          <p:nvPr/>
        </p:nvSpPr>
        <p:spPr>
          <a:xfrm>
            <a:off x="667512" y="4700016"/>
            <a:ext cx="10469880" cy="438912"/>
          </a:xfrm>
          <a:prstGeom prst="rect">
            <a:avLst/>
          </a:prstGeom>
          <a:noFill/>
        </p:spPr>
        <p:txBody>
          <a:bodyPr wrap="square" anchor="ctr" lIns="9144" rIns="9144" tIns="9144" bIns="9144">
            <a:spAutoFit/>
          </a:bodyPr>
          <a:lstStyle/>
          <a:p>
            <a:pPr algn="l"/>
            <a:r>
              <a:rPr sz="1900" b="0">
                <a:solidFill>
                  <a:srgbClr val="162338"/>
                </a:solidFill>
                <a:latin typeface="Aptos"/>
              </a:rPr>
              <a:t>Validation F1 0,2168. Test dipakai setelah pemilihan.</a:t>
            </a:r>
          </a:p>
        </p:txBody>
      </p:sp>
      <p:sp>
        <p:nvSpPr>
          <p:cNvPr id="17" name="TextBox 16"/>
          <p:cNvSpPr txBox="1"/>
          <p:nvPr/>
        </p:nvSpPr>
        <p:spPr>
          <a:xfrm>
            <a:off x="667512" y="5559552"/>
            <a:ext cx="10469880" cy="365760"/>
          </a:xfrm>
          <a:prstGeom prst="rect">
            <a:avLst/>
          </a:prstGeom>
          <a:noFill/>
        </p:spPr>
        <p:txBody>
          <a:bodyPr wrap="square" anchor="ctr" lIns="9144" rIns="9144" tIns="9144" bIns="9144">
            <a:spAutoFit/>
          </a:bodyPr>
          <a:lstStyle/>
          <a:p>
            <a:pPr algn="l"/>
            <a:r>
              <a:rPr sz="1600" b="0">
                <a:solidFill>
                  <a:srgbClr val="667386"/>
                </a:solidFill>
                <a:latin typeface="Aptos"/>
              </a:rPr>
              <a:t>Sinyal peninjauan; belum untuk keputusan otomatis.</a:t>
            </a:r>
          </a:p>
        </p:txBody>
      </p:sp>
    </p:spTree>
    <p:extLst>
      <p:ext uri="{BB962C8B-B14F-4D97-AF65-F5344CB8AC3E}">
        <p14:creationId xmlns:p14="http://schemas.microsoft.com/office/powerpoint/2010/main" val="3059228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F0FC35-A3E3-D633-4E87-AA6B80D2DF76}"/>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162338"/>
                </a:solidFill>
                <a:latin typeface="Aptos Display" panose="020B0004020202020204" pitchFamily="34" charset="0"/>
              </a:rPr>
              <a:t>Wilayah berisiko dan prioritas rute</a:t>
            </a:r>
          </a:p>
        </p:txBody>
      </p:sp>
      <p:sp>
        <p:nvSpPr>
          <p:cNvPr id="3" name="TextBox 2">
            <a:extLst>
              <a:ext uri="{FF2B5EF4-FFF2-40B4-BE49-F238E27FC236}">
                <a16:creationId xmlns:a16="http://schemas.microsoft.com/office/drawing/2014/main" id="{4D47F7DD-46BF-8F85-B0BC-74571B01D5D4}"/>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667386"/>
                </a:solidFill>
                <a:latin typeface="Aptos" panose="020B0004020202020204" pitchFamily="34" charset="0"/>
              </a:rPr>
              <a:t>Sumber: EDA state customer dan audit graf asal–tujuan seller.</a:t>
            </a:r>
          </a:p>
        </p:txBody>
      </p:sp>
      <p:sp>
        <p:nvSpPr>
          <p:cNvPr id="7" name="TextBox 6">
            <a:extLst>
              <a:ext uri="{FF2B5EF4-FFF2-40B4-BE49-F238E27FC236}">
                <a16:creationId xmlns:a16="http://schemas.microsoft.com/office/drawing/2014/main" id="{5838E6E0-6044-177D-D924-685F5341086E}"/>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007E96"/>
                </a:solidFill>
                <a:latin typeface="Aptos" panose="020B0004020202020204" pitchFamily="34" charset="0"/>
              </a:rPr>
              <a:t>10 / 11</a:t>
            </a:r>
          </a:p>
        </p:txBody>
      </p:sp>
      <p:pic>
        <p:nvPicPr>
          <p:cNvPr id="8" name="Picture 7" descr="fig3_top10_state_delay_rate.png"/>
          <p:cNvPicPr>
            <a:picLocks noChangeAspect="1"/>
          </p:cNvPicPr>
          <p:nvPr/>
        </p:nvPicPr>
        <p:blipFill>
          <a:blip r:embed="rId3"/>
          <a:stretch>
            <a:fillRect/>
          </a:stretch>
        </p:blipFill>
        <p:spPr>
          <a:xfrm>
            <a:off x="539496" y="1261872"/>
            <a:ext cx="7818120" cy="4380490"/>
          </a:xfrm>
          <a:prstGeom prst="rect">
            <a:avLst/>
          </a:prstGeom>
        </p:spPr>
      </p:pic>
      <p:sp>
        <p:nvSpPr>
          <p:cNvPr id="9" name="TextBox 8"/>
          <p:cNvSpPr txBox="1"/>
          <p:nvPr/>
        </p:nvSpPr>
        <p:spPr>
          <a:xfrm>
            <a:off x="8558784" y="1481328"/>
            <a:ext cx="2880360" cy="868680"/>
          </a:xfrm>
          <a:prstGeom prst="rect">
            <a:avLst/>
          </a:prstGeom>
          <a:noFill/>
        </p:spPr>
        <p:txBody>
          <a:bodyPr wrap="square" lIns="18288" rIns="18288" tIns="18288" bIns="18288">
            <a:spAutoFit/>
          </a:bodyPr>
          <a:lstStyle/>
          <a:p>
            <a:r>
              <a:rPr sz="2100" b="1">
                <a:solidFill>
                  <a:srgbClr val="162338"/>
                </a:solidFill>
                <a:latin typeface="Aptos"/>
              </a:rPr>
              <a:t>Graf asal → tujuan</a:t>
            </a:r>
          </a:p>
          <a:p>
            <a:r>
              <a:rPr sz="2100" b="1">
                <a:solidFill>
                  <a:srgbClr val="162338"/>
                </a:solidFill>
                <a:latin typeface="Aptos"/>
              </a:rPr>
              <a:t>27 node · 409 rute</a:t>
            </a:r>
          </a:p>
        </p:txBody>
      </p:sp>
      <p:sp>
        <p:nvSpPr>
          <p:cNvPr id="10" name="TextBox 9"/>
          <p:cNvSpPr txBox="1"/>
          <p:nvPr/>
        </p:nvSpPr>
        <p:spPr>
          <a:xfrm>
            <a:off x="8558784" y="2816352"/>
            <a:ext cx="2880360" cy="1508760"/>
          </a:xfrm>
          <a:prstGeom prst="rect">
            <a:avLst/>
          </a:prstGeom>
          <a:noFill/>
        </p:spPr>
        <p:txBody>
          <a:bodyPr wrap="square" lIns="18288" rIns="18288" tIns="18288" bIns="18288">
            <a:spAutoFit/>
          </a:bodyPr>
          <a:lstStyle/>
          <a:p>
            <a:r>
              <a:rPr sz="2100" b="1">
                <a:solidFill>
                  <a:srgbClr val="007E96"/>
                </a:solidFill>
                <a:latin typeface="Aptos"/>
              </a:rPr>
              <a:t>SP → RJ</a:t>
            </a:r>
          </a:p>
          <a:p>
            <a:r>
              <a:rPr sz="2100" b="1">
                <a:solidFill>
                  <a:srgbClr val="007E96"/>
                </a:solidFill>
                <a:latin typeface="Aptos"/>
              </a:rPr>
              <a:t>8.158 order</a:t>
            </a:r>
          </a:p>
          <a:p>
            <a:r>
              <a:rPr sz="2100" b="1">
                <a:solidFill>
                  <a:srgbClr val="007E96"/>
                </a:solidFill>
                <a:latin typeface="Aptos"/>
              </a:rPr>
              <a:t>15,49% terlambat</a:t>
            </a:r>
          </a:p>
        </p:txBody>
      </p:sp>
      <p:sp>
        <p:nvSpPr>
          <p:cNvPr id="11" name="TextBox 10"/>
          <p:cNvSpPr txBox="1"/>
          <p:nvPr/>
        </p:nvSpPr>
        <p:spPr>
          <a:xfrm>
            <a:off x="621792" y="5641848"/>
            <a:ext cx="10835640" cy="448056"/>
          </a:xfrm>
          <a:prstGeom prst="rect">
            <a:avLst/>
          </a:prstGeom>
          <a:noFill/>
        </p:spPr>
        <p:txBody>
          <a:bodyPr wrap="square" lIns="18288" rIns="18288" tIns="18288" bIns="18288">
            <a:spAutoFit/>
          </a:bodyPr>
          <a:lstStyle/>
          <a:p>
            <a:r>
              <a:rPr sz="1700" b="1">
                <a:solidFill>
                  <a:srgbClr val="162338"/>
                </a:solidFill>
                <a:latin typeface="Aptos"/>
              </a:rPr>
              <a:t>State customer ≠ rute seller–customer; transit tidak diamati.</a:t>
            </a:r>
          </a:p>
        </p:txBody>
      </p:sp>
    </p:spTree>
    <p:extLst>
      <p:ext uri="{BB962C8B-B14F-4D97-AF65-F5344CB8AC3E}">
        <p14:creationId xmlns:p14="http://schemas.microsoft.com/office/powerpoint/2010/main" val="4293327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6233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F6422B-0E9F-6B9C-77DC-CE65EE38341A}"/>
              </a:ext>
            </a:extLst>
          </p:cNvPr>
          <p:cNvSpPr txBox="1"/>
          <p:nvPr/>
        </p:nvSpPr>
        <p:spPr>
          <a:xfrm>
            <a:off x="609600" y="444500"/>
            <a:ext cx="10972800" cy="276999"/>
          </a:xfrm>
          <a:prstGeom prst="rect">
            <a:avLst/>
          </a:prstGeom>
          <a:noFill/>
        </p:spPr>
        <p:txBody>
          <a:bodyPr vert="horz" wrap="square" lIns="0" tIns="0" rIns="0" bIns="0" rtlCol="0">
            <a:noAutofit/>
          </a:bodyPr>
          <a:lstStyle/>
          <a:p>
            <a:pPr>
              <a:spcAft>
                <a:spcPts val="700"/>
              </a:spcAft>
            </a:pPr>
            <a:r>
              <a:rPr lang="en-ID" sz="3200" b="1">
                <a:solidFill>
                  <a:srgbClr val="FFFFFF"/>
                </a:solidFill>
                <a:latin typeface="Aptos Display" panose="020B0004020202020204" pitchFamily="34" charset="0"/>
              </a:rPr>
              <a:t>Ringkasan validasi dan langkah berikutnya</a:t>
            </a:r>
          </a:p>
        </p:txBody>
      </p:sp>
      <p:sp>
        <p:nvSpPr>
          <p:cNvPr id="3" name="TextBox 2">
            <a:extLst>
              <a:ext uri="{FF2B5EF4-FFF2-40B4-BE49-F238E27FC236}">
                <a16:creationId xmlns:a16="http://schemas.microsoft.com/office/drawing/2014/main" id="{2C03C8C6-1F47-DAE4-7FB9-24FAFB5259EA}"/>
              </a:ext>
            </a:extLst>
          </p:cNvPr>
          <p:cNvSpPr txBox="1"/>
          <p:nvPr/>
        </p:nvSpPr>
        <p:spPr>
          <a:xfrm>
            <a:off x="609600" y="6337300"/>
            <a:ext cx="10160000" cy="276999"/>
          </a:xfrm>
          <a:prstGeom prst="rect">
            <a:avLst/>
          </a:prstGeom>
          <a:noFill/>
        </p:spPr>
        <p:txBody>
          <a:bodyPr vert="horz" wrap="square" lIns="0" tIns="0" rIns="0" bIns="0" rtlCol="0">
            <a:noAutofit/>
          </a:bodyPr>
          <a:lstStyle/>
          <a:p>
            <a:pPr>
              <a:spcAft>
                <a:spcPts val="700"/>
              </a:spcAft>
            </a:pPr>
            <a:r>
              <a:rPr lang="en-ID" sz="1050">
                <a:solidFill>
                  <a:srgbClr val="B8DEE3"/>
                </a:solidFill>
                <a:latin typeface="Aptos" panose="020B0004020202020204" pitchFamily="34" charset="0"/>
              </a:rPr>
              <a:t>Pemeriksaan atas hasil tersimpan, bukan eksekusi live pada saat presentasi.</a:t>
            </a:r>
          </a:p>
        </p:txBody>
      </p:sp>
      <p:sp>
        <p:nvSpPr>
          <p:cNvPr id="7" name="TextBox 6">
            <a:extLst>
              <a:ext uri="{FF2B5EF4-FFF2-40B4-BE49-F238E27FC236}">
                <a16:creationId xmlns:a16="http://schemas.microsoft.com/office/drawing/2014/main" id="{DFD5155E-D06D-7A9F-98A7-0AF292BAC1DA}"/>
              </a:ext>
            </a:extLst>
          </p:cNvPr>
          <p:cNvSpPr txBox="1"/>
          <p:nvPr/>
        </p:nvSpPr>
        <p:spPr>
          <a:xfrm>
            <a:off x="10909300" y="6337300"/>
            <a:ext cx="762000" cy="276999"/>
          </a:xfrm>
          <a:prstGeom prst="rect">
            <a:avLst/>
          </a:prstGeom>
          <a:noFill/>
        </p:spPr>
        <p:txBody>
          <a:bodyPr vert="horz" wrap="square" lIns="0" tIns="0" rIns="0" bIns="0" rtlCol="0">
            <a:noAutofit/>
          </a:bodyPr>
          <a:lstStyle/>
          <a:p>
            <a:pPr>
              <a:spcAft>
                <a:spcPts val="700"/>
              </a:spcAft>
            </a:pPr>
            <a:r>
              <a:rPr lang="en-ID" sz="1100" b="1">
                <a:solidFill>
                  <a:srgbClr val="B8DEE3"/>
                </a:solidFill>
                <a:latin typeface="Aptos" panose="020B0004020202020204" pitchFamily="34" charset="0"/>
              </a:rPr>
              <a:t>11 / 11</a:t>
            </a:r>
          </a:p>
        </p:txBody>
      </p:sp>
      <p:sp>
        <p:nvSpPr>
          <p:cNvPr id="8" name="TextBox 7"/>
          <p:cNvSpPr txBox="1"/>
          <p:nvPr/>
        </p:nvSpPr>
        <p:spPr>
          <a:xfrm>
            <a:off x="649224" y="1344168"/>
            <a:ext cx="10698480" cy="603504"/>
          </a:xfrm>
          <a:prstGeom prst="rect">
            <a:avLst/>
          </a:prstGeom>
          <a:noFill/>
        </p:spPr>
        <p:txBody>
          <a:bodyPr wrap="square" anchor="ctr" lIns="9144" rIns="9144" tIns="9144" bIns="9144">
            <a:spAutoFit/>
          </a:bodyPr>
          <a:lstStyle/>
          <a:p>
            <a:pPr algn="l"/>
            <a:r>
              <a:rPr sz="3500" b="1">
                <a:solidFill>
                  <a:srgbClr val="B8DEE3"/>
                </a:solidFill>
                <a:latin typeface="Aptos Display"/>
              </a:rPr>
              <a:t>3 pemeriksaan konsisten</a:t>
            </a:r>
          </a:p>
        </p:txBody>
      </p:sp>
      <p:sp>
        <p:nvSpPr>
          <p:cNvPr id="9" name="TextBox 8"/>
          <p:cNvSpPr txBox="1"/>
          <p:nvPr/>
        </p:nvSpPr>
        <p:spPr>
          <a:xfrm>
            <a:off x="676656" y="2286000"/>
            <a:ext cx="658368" cy="493776"/>
          </a:xfrm>
          <a:prstGeom prst="rect">
            <a:avLst/>
          </a:prstGeom>
          <a:noFill/>
        </p:spPr>
        <p:txBody>
          <a:bodyPr wrap="square" anchor="ctr" lIns="9144" rIns="9144" tIns="9144" bIns="9144">
            <a:spAutoFit/>
          </a:bodyPr>
          <a:lstStyle/>
          <a:p>
            <a:pPr algn="l"/>
            <a:r>
              <a:rPr sz="2000" b="1">
                <a:solidFill>
                  <a:srgbClr val="B8DEE3"/>
                </a:solidFill>
                <a:latin typeface="Aptos"/>
              </a:rPr>
              <a:t>01</a:t>
            </a:r>
          </a:p>
        </p:txBody>
      </p:sp>
      <p:sp>
        <p:nvSpPr>
          <p:cNvPr id="10" name="TextBox 9"/>
          <p:cNvSpPr txBox="1"/>
          <p:nvPr/>
        </p:nvSpPr>
        <p:spPr>
          <a:xfrm>
            <a:off x="1508760" y="2258568"/>
            <a:ext cx="2148840" cy="548640"/>
          </a:xfrm>
          <a:prstGeom prst="rect">
            <a:avLst/>
          </a:prstGeom>
          <a:noFill/>
        </p:spPr>
        <p:txBody>
          <a:bodyPr wrap="square" anchor="ctr" lIns="9144" rIns="9144" tIns="9144" bIns="9144">
            <a:spAutoFit/>
          </a:bodyPr>
          <a:lstStyle/>
          <a:p>
            <a:pPr algn="l"/>
            <a:r>
              <a:rPr sz="2400" b="1">
                <a:solidFill>
                  <a:srgbClr val="FFFFFF"/>
                </a:solidFill>
                <a:latin typeface="Aptos"/>
              </a:rPr>
              <a:t>Ingestion</a:t>
            </a:r>
          </a:p>
        </p:txBody>
      </p:sp>
      <p:sp>
        <p:nvSpPr>
          <p:cNvPr id="11" name="TextBox 10"/>
          <p:cNvSpPr txBox="1"/>
          <p:nvPr/>
        </p:nvSpPr>
        <p:spPr>
          <a:xfrm>
            <a:off x="3749039" y="2267712"/>
            <a:ext cx="6309360" cy="548640"/>
          </a:xfrm>
          <a:prstGeom prst="rect">
            <a:avLst/>
          </a:prstGeom>
          <a:noFill/>
        </p:spPr>
        <p:txBody>
          <a:bodyPr wrap="square" anchor="ctr" lIns="9144" rIns="9144" tIns="9144" bIns="9144">
            <a:spAutoFit/>
          </a:bodyPr>
          <a:lstStyle/>
          <a:p>
            <a:pPr algn="l"/>
            <a:r>
              <a:rPr sz="2200" b="0">
                <a:solidFill>
                  <a:srgbClr val="FFFFFF"/>
                </a:solidFill>
                <a:latin typeface="Aptos"/>
              </a:rPr>
              <a:t>9 tabel · Parquet tervalidasi</a:t>
            </a:r>
          </a:p>
        </p:txBody>
      </p:sp>
      <p:sp>
        <p:nvSpPr>
          <p:cNvPr id="12" name="TextBox 11"/>
          <p:cNvSpPr txBox="1"/>
          <p:nvPr/>
        </p:nvSpPr>
        <p:spPr>
          <a:xfrm>
            <a:off x="676656" y="3127248"/>
            <a:ext cx="658368" cy="493776"/>
          </a:xfrm>
          <a:prstGeom prst="rect">
            <a:avLst/>
          </a:prstGeom>
          <a:noFill/>
        </p:spPr>
        <p:txBody>
          <a:bodyPr wrap="square" anchor="ctr" lIns="9144" rIns="9144" tIns="9144" bIns="9144">
            <a:spAutoFit/>
          </a:bodyPr>
          <a:lstStyle/>
          <a:p>
            <a:pPr algn="l"/>
            <a:r>
              <a:rPr sz="2000" b="1">
                <a:solidFill>
                  <a:srgbClr val="B8DEE3"/>
                </a:solidFill>
                <a:latin typeface="Aptos"/>
              </a:rPr>
              <a:t>02</a:t>
            </a:r>
          </a:p>
        </p:txBody>
      </p:sp>
      <p:sp>
        <p:nvSpPr>
          <p:cNvPr id="13" name="TextBox 12"/>
          <p:cNvSpPr txBox="1"/>
          <p:nvPr/>
        </p:nvSpPr>
        <p:spPr>
          <a:xfrm>
            <a:off x="1508760" y="3099816"/>
            <a:ext cx="2148840" cy="548640"/>
          </a:xfrm>
          <a:prstGeom prst="rect">
            <a:avLst/>
          </a:prstGeom>
          <a:noFill/>
        </p:spPr>
        <p:txBody>
          <a:bodyPr wrap="square" anchor="ctr" lIns="9144" rIns="9144" tIns="9144" bIns="9144">
            <a:spAutoFit/>
          </a:bodyPr>
          <a:lstStyle/>
          <a:p>
            <a:pPr algn="l"/>
            <a:r>
              <a:rPr sz="2400" b="1">
                <a:solidFill>
                  <a:srgbClr val="FFFFFF"/>
                </a:solidFill>
                <a:latin typeface="Aptos"/>
              </a:rPr>
              <a:t>Model</a:t>
            </a:r>
          </a:p>
        </p:txBody>
      </p:sp>
      <p:sp>
        <p:nvSpPr>
          <p:cNvPr id="14" name="TextBox 13"/>
          <p:cNvSpPr txBox="1"/>
          <p:nvPr/>
        </p:nvSpPr>
        <p:spPr>
          <a:xfrm>
            <a:off x="3749039" y="3108960"/>
            <a:ext cx="6309360" cy="548640"/>
          </a:xfrm>
          <a:prstGeom prst="rect">
            <a:avLst/>
          </a:prstGeom>
          <a:noFill/>
        </p:spPr>
        <p:txBody>
          <a:bodyPr wrap="square" anchor="ctr" lIns="9144" rIns="9144" tIns="9144" bIns="9144">
            <a:spAutoFit/>
          </a:bodyPr>
          <a:lstStyle/>
          <a:p>
            <a:pPr algn="l"/>
            <a:r>
              <a:rPr sz="2200" b="0">
                <a:solidFill>
                  <a:srgbClr val="FFFFFF"/>
                </a:solidFill>
                <a:latin typeface="Aptos"/>
              </a:rPr>
              <a:t>ambang dipilih di validation</a:t>
            </a:r>
          </a:p>
        </p:txBody>
      </p:sp>
      <p:sp>
        <p:nvSpPr>
          <p:cNvPr id="15" name="TextBox 14"/>
          <p:cNvSpPr txBox="1"/>
          <p:nvPr/>
        </p:nvSpPr>
        <p:spPr>
          <a:xfrm>
            <a:off x="676656" y="3968496"/>
            <a:ext cx="658368" cy="493776"/>
          </a:xfrm>
          <a:prstGeom prst="rect">
            <a:avLst/>
          </a:prstGeom>
          <a:noFill/>
        </p:spPr>
        <p:txBody>
          <a:bodyPr wrap="square" anchor="ctr" lIns="9144" rIns="9144" tIns="9144" bIns="9144">
            <a:spAutoFit/>
          </a:bodyPr>
          <a:lstStyle/>
          <a:p>
            <a:pPr algn="l"/>
            <a:r>
              <a:rPr sz="2000" b="1">
                <a:solidFill>
                  <a:srgbClr val="B8DEE3"/>
                </a:solidFill>
                <a:latin typeface="Aptos"/>
              </a:rPr>
              <a:t>03</a:t>
            </a:r>
          </a:p>
        </p:txBody>
      </p:sp>
      <p:sp>
        <p:nvSpPr>
          <p:cNvPr id="16" name="TextBox 15"/>
          <p:cNvSpPr txBox="1"/>
          <p:nvPr/>
        </p:nvSpPr>
        <p:spPr>
          <a:xfrm>
            <a:off x="1508760" y="3941063"/>
            <a:ext cx="2148840" cy="548640"/>
          </a:xfrm>
          <a:prstGeom prst="rect">
            <a:avLst/>
          </a:prstGeom>
          <a:noFill/>
        </p:spPr>
        <p:txBody>
          <a:bodyPr wrap="square" anchor="ctr" lIns="9144" rIns="9144" tIns="9144" bIns="9144">
            <a:spAutoFit/>
          </a:bodyPr>
          <a:lstStyle/>
          <a:p>
            <a:pPr algn="l"/>
            <a:r>
              <a:rPr sz="2400" b="1">
                <a:solidFill>
                  <a:srgbClr val="FFFFFF"/>
                </a:solidFill>
                <a:latin typeface="Aptos"/>
              </a:rPr>
              <a:t>Graf</a:t>
            </a:r>
          </a:p>
        </p:txBody>
      </p:sp>
      <p:sp>
        <p:nvSpPr>
          <p:cNvPr id="17" name="TextBox 16"/>
          <p:cNvSpPr txBox="1"/>
          <p:nvPr/>
        </p:nvSpPr>
        <p:spPr>
          <a:xfrm>
            <a:off x="3749039" y="3950208"/>
            <a:ext cx="6309360" cy="548640"/>
          </a:xfrm>
          <a:prstGeom prst="rect">
            <a:avLst/>
          </a:prstGeom>
          <a:noFill/>
        </p:spPr>
        <p:txBody>
          <a:bodyPr wrap="square" anchor="ctr" lIns="9144" rIns="9144" tIns="9144" bIns="9144">
            <a:spAutoFit/>
          </a:bodyPr>
          <a:lstStyle/>
          <a:p>
            <a:pPr algn="l"/>
            <a:r>
              <a:rPr sz="2200" b="0">
                <a:solidFill>
                  <a:srgbClr val="FFFFFF"/>
                </a:solidFill>
                <a:latin typeface="Aptos"/>
              </a:rPr>
              <a:t>27 node · 409 rute</a:t>
            </a:r>
          </a:p>
        </p:txBody>
      </p:sp>
      <p:sp>
        <p:nvSpPr>
          <p:cNvPr id="18" name="TextBox 17"/>
          <p:cNvSpPr txBox="1"/>
          <p:nvPr/>
        </p:nvSpPr>
        <p:spPr>
          <a:xfrm>
            <a:off x="667512" y="5266944"/>
            <a:ext cx="10561320" cy="594360"/>
          </a:xfrm>
          <a:prstGeom prst="rect">
            <a:avLst/>
          </a:prstGeom>
          <a:noFill/>
        </p:spPr>
        <p:txBody>
          <a:bodyPr wrap="square" anchor="ctr" lIns="9144" rIns="9144" tIns="9144" bIns="9144">
            <a:spAutoFit/>
          </a:bodyPr>
          <a:lstStyle/>
          <a:p>
            <a:pPr algn="l"/>
            <a:r>
              <a:rPr sz="1900" b="0">
                <a:solidFill>
                  <a:srgbClr val="B8DEE3"/>
                </a:solidFill>
                <a:latin typeface="Aptos"/>
              </a:rPr>
              <a:t>Berikutnya: validasi temporal · biaya intervensi · kebutuhan dashboard</a:t>
            </a:r>
          </a:p>
        </p:txBody>
      </p:sp>
    </p:spTree>
    <p:extLst>
      <p:ext uri="{BB962C8B-B14F-4D97-AF65-F5344CB8AC3E}">
        <p14:creationId xmlns:p14="http://schemas.microsoft.com/office/powerpoint/2010/main" val="3260926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2548</Words>
  <Application>Microsoft Office PowerPoint</Application>
  <PresentationFormat>Widescreen</PresentationFormat>
  <Paragraphs>302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Yanlis Alim Sang Putra Lase</dc:creator>
  <cp:lastModifiedBy>Yanlis Alim Sang Putra Lase</cp:lastModifiedBy>
  <cp:revision>2</cp:revision>
  <dcterms:created xsi:type="dcterms:W3CDTF">2026-09-28T10:06:42Z</dcterms:created>
  <dcterms:modified xsi:type="dcterms:W3CDTF">2026-09-29T03:49:58Z</dcterms:modified>
</cp:coreProperties>
</file>